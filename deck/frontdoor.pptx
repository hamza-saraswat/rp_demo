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Hamza. You asked for something built with AI that helps RealPage scale. I built this in one day from your public website. But the build is the small part. What I want to show you is how I work, and the foundation I've spent the last year building, because that is what I would bring.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work. I ship a small first version fast, I put it in front of the team that will use it, and I let them break it. Then I fix what they hit. There is no point building for problems nobody has. And I measure honestly, because a number I can't reproduce is worth nothing. Hold onto this loop: you'll see it again in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FieldPulse I spent the past year building a foundation. At the bottom are connectors into the company's systems: the data warehouse through the Metabase API, Slack history that I backfilled so years of tribal knowledge is searchable, Jira and Linear tickets, the wiki, the help center. On top of that sits one universal knowledge layer: one search source, every answer cited. On top of that, one agent harness: a single agent core, where each team gets its own tools, its own prompt, and its own evals. And then the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the foundation matters. Once it exists, adding a team is small: a connector and a prompt, not a new project. That is how one Slack bot became fourteen tools across eight departments since January. The Slack assistant has answered over twenty-two hundred product questions, ninety-four percent without pulling in product or engineering. The email agent triages over two hundred support emails a week. The onboarding app has taken a hundred and eighty-three customers through setup in a median of nine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RealPage. I'm on the outside, so I only used what is public. Over fifty companies acquired in two decades. Sixty-four products and agents on your own website menu, in ten families. Forty-two thousand customers. And the public support page splits by who you are, not by which product you're asking about. So every question has to find its owner. I don't know how you handle that internally. But it's the same shape of problem I've been solving.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built the same foundation in miniature. Same four layers. The connector reads two hundred and twenty-one public pages. The knowledge layer is a company map: a hundred and sixty-six markdown files, plus thirteen hundred searchable passages. The agent core decides, finds, writes, and checks. And two team profiles run on that one core. On day one inside RealPage, the only layer that changes is the bottom one: swap public pages for internal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Watch four things. One: the routing runs while I'm still typing. Two: an answer, where every sentence is checked against its source. Three: a question it should not answer, so it hands off and passes along what it knows. Four: I switch teams, and the same core answers differently. [Switch to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I built it this way. Three jobs, three owners. Code owns the rules and the lookups: if you type OneSite, I don't need a model to notice. Jev makes every judgment: which family, which product, does this passage hold evidence, does this sentence match its source. It comes back in about a quarter of a second with a probability, so code can decide what to do with it. Claude only writes, and only from passages that passed. I write Jev's questions from real misses, and I set the cutoffs from my own data. And it fails closed: a sentence with no source gets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choice: retrieval. Your job description mentions vector databases, and I use them in production. Here I didn't, on purpose. There's a ladder. Keyword search. Then query rewriting. Then hybrid with embeddings. Then embedding on the fly, hot and cold tiers, and full pre-embedding in a vector database. Each one fits a real situation. For two hundred pages, keyword search plus an evidence check found the right page every time a search ran. I set the trigger to move up before I ran anything. It never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choice: where the company map lives. You asked for a knowledge graph. This is one, but it's not a graph database. It's a hundred and sixty-six markdown files in git. The links between files are the graph. A person can open one, read it, and fix it. If I had a pile of mixed material and wanted to discover structure, I'd generate a graph. If I needed multi-hop queries across millions of relationships, I'd use a graph database. And with many live internal sources with permissions, I'd use a managed platform, which is what I run in production. One more thing: the structure is never guessed. It comes from your own site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 wrote thirty questions and tuned against them. First run, twenty-eight of thirty. I read the misses, made fixes, got twenty-nine. One of my fixes had broken something. I fixed that and got thirty. That's the loop from my first slide. But a tuning score flatters, so I wrote ten fresh questions, committed them, and ran them once. Nine of ten. The one it missed, it sent to a person when it could have answered. And across every question that needed a person, it never answered when it shouldn't have. I know what I'd change to catch that miss. I haven't, because changing it and quoting the same number would make the number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day one. Swap the public pages for internal sources: that's the bottom layer, nothing else changes. Pick one team and ship them a first version that week. Let them break it, and fix what they hit. Measure with their questions, not mine. And after that, the same foundation takes on document workflows: read the document, check it against the requirements, explain every gap at once, and send the unclear ones to a person. That's what I'd bring.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a:t>
            </a:r>
            <a:endParaRPr lang="en-US" sz="900" dirty="0"/>
          </a:p>
        </p:txBody>
      </p:sp>
      <p:sp>
        <p:nvSpPr>
          <p:cNvPr id="5" name="Text 2"/>
          <p:cNvSpPr/>
          <p:nvPr/>
        </p:nvSpPr>
        <p:spPr>
          <a:xfrm>
            <a:off x="640080" y="1828800"/>
            <a:ext cx="7315200" cy="1188720"/>
          </a:xfrm>
          <a:prstGeom prst="rect">
            <a:avLst/>
          </a:prstGeom>
          <a:noFill/>
          <a:ln/>
        </p:spPr>
        <p:txBody>
          <a:bodyPr wrap="square" lIns="0" tIns="0" rIns="0" bIns="0" rtlCol="0" anchor="ctr"/>
          <a:lstStyle/>
          <a:p>
            <a:pPr indent="0" marL="0">
              <a:buNone/>
            </a:pPr>
            <a:r>
              <a:rPr lang="en-US" sz="8000" dirty="0">
                <a:solidFill>
                  <a:srgbClr val="E8EAF2"/>
                </a:solidFill>
                <a:latin typeface="Georgia" pitchFamily="34" charset="0"/>
                <a:ea typeface="Georgia" pitchFamily="34" charset="-122"/>
                <a:cs typeface="Georgia" pitchFamily="34" charset="-120"/>
              </a:rPr>
              <a:t>Frontdoor</a:t>
            </a:r>
            <a:endParaRPr lang="en-US" sz="8000" dirty="0"/>
          </a:p>
        </p:txBody>
      </p:sp>
      <p:sp>
        <p:nvSpPr>
          <p:cNvPr id="6" name="Text 3"/>
          <p:cNvSpPr/>
          <p:nvPr/>
        </p:nvSpPr>
        <p:spPr>
          <a:xfrm>
            <a:off x="640080" y="3063240"/>
            <a:ext cx="8229600" cy="457200"/>
          </a:xfrm>
          <a:prstGeom prst="rect">
            <a:avLst/>
          </a:prstGeom>
          <a:noFill/>
          <a:ln/>
        </p:spPr>
        <p:txBody>
          <a:bodyPr wrap="square" lIns="0" tIns="0" rIns="0" bIns="0" rtlCol="0" anchor="ctr"/>
          <a:lstStyle/>
          <a:p>
            <a:pPr indent="0" marL="0">
              <a:buNone/>
            </a:pPr>
            <a:r>
              <a:rPr lang="en-US" sz="2200" dirty="0">
                <a:solidFill>
                  <a:srgbClr val="9DA1B7"/>
                </a:solidFill>
                <a:latin typeface="Arial" pitchFamily="34" charset="0"/>
                <a:ea typeface="Arial" pitchFamily="34" charset="-122"/>
                <a:cs typeface="Arial" pitchFamily="34" charset="-120"/>
              </a:rPr>
              <a:t>One question in. A cited answer, or the right owner.</a:t>
            </a:r>
            <a:endParaRPr lang="en-US" sz="2200" dirty="0"/>
          </a:p>
        </p:txBody>
      </p:sp>
      <p:sp>
        <p:nvSpPr>
          <p:cNvPr id="7" name="Text 4"/>
          <p:cNvSpPr/>
          <p:nvPr/>
        </p:nvSpPr>
        <p:spPr>
          <a:xfrm>
            <a:off x="640080" y="3611880"/>
            <a:ext cx="8686800" cy="365760"/>
          </a:xfrm>
          <a:prstGeom prst="rect">
            <a:avLst/>
          </a:prstGeom>
          <a:noFill/>
          <a:ln/>
        </p:spPr>
        <p:txBody>
          <a:bodyPr wrap="square" lIns="0" tIns="0" rIns="0" bIns="0" rtlCol="0" anchor="ctr"/>
          <a:lstStyle/>
          <a:p>
            <a:pPr indent="0" marL="0">
              <a:buNone/>
            </a:pPr>
            <a:r>
              <a:rPr lang="en-US" sz="1500" dirty="0">
                <a:solidFill>
                  <a:srgbClr val="6B6F86"/>
                </a:solidFill>
                <a:latin typeface="Arial" pitchFamily="34" charset="0"/>
                <a:ea typeface="Arial" pitchFamily="34" charset="-122"/>
                <a:cs typeface="Arial" pitchFamily="34" charset="-120"/>
              </a:rPr>
              <a:t>A company knowledge layer and assistant, built in one day from RealPage's public pages.</a:t>
            </a:r>
            <a:endParaRPr lang="en-US" sz="1500" dirty="0"/>
          </a:p>
        </p:txBody>
      </p:sp>
      <p:sp>
        <p:nvSpPr>
          <p:cNvPr id="8" name="Shape 5"/>
          <p:cNvSpPr/>
          <p:nvPr/>
        </p:nvSpPr>
        <p:spPr>
          <a:xfrm>
            <a:off x="640080" y="4617720"/>
            <a:ext cx="548640" cy="36576"/>
          </a:xfrm>
          <a:prstGeom prst="rect">
            <a:avLst/>
          </a:prstGeom>
          <a:solidFill>
            <a:srgbClr val="635BFF"/>
          </a:solidFill>
          <a:ln w="12700">
            <a:solidFill>
              <a:srgbClr val="635BFF"/>
            </a:solidFill>
            <a:prstDash val="solid"/>
          </a:ln>
        </p:spPr>
      </p:sp>
      <p:sp>
        <p:nvSpPr>
          <p:cNvPr id="9" name="Text 6"/>
          <p:cNvSpPr/>
          <p:nvPr/>
        </p:nvSpPr>
        <p:spPr>
          <a:xfrm>
            <a:off x="640080" y="4754880"/>
            <a:ext cx="5486400" cy="365760"/>
          </a:xfrm>
          <a:prstGeom prst="rect">
            <a:avLst/>
          </a:prstGeom>
          <a:noFill/>
          <a:ln/>
        </p:spPr>
        <p:txBody>
          <a:bodyPr wrap="square" lIns="0" tIns="0" rIns="0" bIns="0" rtlCol="0" anchor="ctr"/>
          <a:lstStyle/>
          <a:p>
            <a:pPr indent="0" marL="0">
              <a:buNone/>
            </a:pPr>
            <a:r>
              <a:rPr lang="en-US" sz="1800" b="1" dirty="0">
                <a:solidFill>
                  <a:srgbClr val="E8EAF2"/>
                </a:solidFill>
                <a:latin typeface="Arial" pitchFamily="34" charset="0"/>
                <a:ea typeface="Arial" pitchFamily="34" charset="-122"/>
                <a:cs typeface="Arial" pitchFamily="34" charset="-120"/>
              </a:rPr>
              <a:t>Hamza Saraswat</a:t>
            </a:r>
            <a:endParaRPr lang="en-US" sz="1800" dirty="0"/>
          </a:p>
        </p:txBody>
      </p:sp>
      <p:sp>
        <p:nvSpPr>
          <p:cNvPr id="10" name="Text 7"/>
          <p:cNvSpPr/>
          <p:nvPr/>
        </p:nvSpPr>
        <p:spPr>
          <a:xfrm>
            <a:off x="640080" y="5120640"/>
            <a:ext cx="8229600" cy="274320"/>
          </a:xfrm>
          <a:prstGeom prst="rect">
            <a:avLst/>
          </a:prstGeom>
          <a:noFill/>
          <a:ln/>
        </p:spPr>
        <p:txBody>
          <a:bodyPr wrap="square" lIns="0" tIns="0" rIns="0" bIns="0" rtlCol="0" anchor="ctr"/>
          <a:lstStyle/>
          <a:p>
            <a:pPr indent="0" marL="0">
              <a:buNone/>
            </a:pPr>
            <a:r>
              <a:rPr lang="en-US" sz="1100" dirty="0">
                <a:solidFill>
                  <a:srgbClr val="9DA1B7"/>
                </a:solidFill>
                <a:latin typeface="Courier New" pitchFamily="34" charset="0"/>
                <a:ea typeface="Courier New" pitchFamily="34" charset="-122"/>
                <a:cs typeface="Courier New" pitchFamily="34" charset="-120"/>
              </a:rPr>
              <a:t>AI Engineer  ·  hamza-saraswat.com  ·  github.com/Hamza-Saraswat/RP_Demo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HOW I WORK</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Get it in front of the team fast. Fix what they actually hit.</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2</a:t>
            </a:r>
            <a:endParaRPr lang="en-US" sz="900" dirty="0"/>
          </a:p>
        </p:txBody>
      </p:sp>
      <p:sp>
        <p:nvSpPr>
          <p:cNvPr id="7" name="Shape 4"/>
          <p:cNvSpPr/>
          <p:nvPr/>
        </p:nvSpPr>
        <p:spPr>
          <a:xfrm>
            <a:off x="640080" y="1783080"/>
            <a:ext cx="2467280" cy="640080"/>
          </a:xfrm>
          <a:prstGeom prst="roundRect">
            <a:avLst>
              <a:gd name="adj" fmla="val 14286"/>
            </a:avLst>
          </a:prstGeom>
          <a:solidFill>
            <a:srgbClr val="242735"/>
          </a:solidFill>
          <a:ln w="9525">
            <a:solidFill>
              <a:srgbClr val="3A3E52"/>
            </a:solidFill>
            <a:prstDash val="solid"/>
          </a:ln>
        </p:spPr>
      </p:sp>
      <p:sp>
        <p:nvSpPr>
          <p:cNvPr id="8" name="Text 5"/>
          <p:cNvSpPr/>
          <p:nvPr/>
        </p:nvSpPr>
        <p:spPr>
          <a:xfrm>
            <a:off x="640080" y="1783080"/>
            <a:ext cx="2467280" cy="640080"/>
          </a:xfrm>
          <a:prstGeom prst="rect">
            <a:avLst/>
          </a:prstGeom>
          <a:noFill/>
          <a:ln/>
        </p:spPr>
        <p:txBody>
          <a:bodyPr wrap="square" lIns="0" tIns="0" rIns="0" bIns="0" rtlCol="0" anchor="ctr"/>
          <a:lstStyle/>
          <a:p>
            <a:pPr algn="ctr" indent="0" marL="0">
              <a:buNone/>
            </a:pPr>
            <a:r>
              <a:rPr lang="en-US" sz="1500" b="1" dirty="0">
                <a:solidFill>
                  <a:srgbClr val="E8EAF2"/>
                </a:solidFill>
                <a:latin typeface="Arial" pitchFamily="34" charset="0"/>
                <a:ea typeface="Arial" pitchFamily="34" charset="-122"/>
                <a:cs typeface="Arial" pitchFamily="34" charset="-120"/>
              </a:rPr>
              <a:t>Ship small</a:t>
            </a:r>
            <a:endParaRPr lang="en-US" sz="1500" dirty="0"/>
          </a:p>
        </p:txBody>
      </p:sp>
      <p:sp>
        <p:nvSpPr>
          <p:cNvPr id="9" name="Text 6"/>
          <p:cNvSpPr/>
          <p:nvPr/>
        </p:nvSpPr>
        <p:spPr>
          <a:xfrm>
            <a:off x="3107360" y="1783080"/>
            <a:ext cx="347472" cy="64008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10" name="Shape 7"/>
          <p:cNvSpPr/>
          <p:nvPr/>
        </p:nvSpPr>
        <p:spPr>
          <a:xfrm>
            <a:off x="3454832" y="1783080"/>
            <a:ext cx="2467280" cy="640080"/>
          </a:xfrm>
          <a:prstGeom prst="roundRect">
            <a:avLst>
              <a:gd name="adj" fmla="val 14286"/>
            </a:avLst>
          </a:prstGeom>
          <a:solidFill>
            <a:srgbClr val="242735"/>
          </a:solidFill>
          <a:ln w="9525">
            <a:solidFill>
              <a:srgbClr val="3A3E52"/>
            </a:solidFill>
            <a:prstDash val="solid"/>
          </a:ln>
        </p:spPr>
      </p:sp>
      <p:sp>
        <p:nvSpPr>
          <p:cNvPr id="11" name="Text 8"/>
          <p:cNvSpPr/>
          <p:nvPr/>
        </p:nvSpPr>
        <p:spPr>
          <a:xfrm>
            <a:off x="3454832" y="1783080"/>
            <a:ext cx="2467280" cy="640080"/>
          </a:xfrm>
          <a:prstGeom prst="rect">
            <a:avLst/>
          </a:prstGeom>
          <a:noFill/>
          <a:ln/>
        </p:spPr>
        <p:txBody>
          <a:bodyPr wrap="square" lIns="0" tIns="0" rIns="0" bIns="0" rtlCol="0" anchor="ctr"/>
          <a:lstStyle/>
          <a:p>
            <a:pPr algn="ctr" indent="0" marL="0">
              <a:buNone/>
            </a:pPr>
            <a:r>
              <a:rPr lang="en-US" sz="1500" b="1" dirty="0">
                <a:solidFill>
                  <a:srgbClr val="E8EAF2"/>
                </a:solidFill>
                <a:latin typeface="Arial" pitchFamily="34" charset="0"/>
                <a:ea typeface="Arial" pitchFamily="34" charset="-122"/>
                <a:cs typeface="Arial" pitchFamily="34" charset="-120"/>
              </a:rPr>
              <a:t>Team tests it</a:t>
            </a:r>
            <a:endParaRPr lang="en-US" sz="1500" dirty="0"/>
          </a:p>
        </p:txBody>
      </p:sp>
      <p:sp>
        <p:nvSpPr>
          <p:cNvPr id="12" name="Text 9"/>
          <p:cNvSpPr/>
          <p:nvPr/>
        </p:nvSpPr>
        <p:spPr>
          <a:xfrm>
            <a:off x="5922112" y="1783080"/>
            <a:ext cx="347472" cy="64008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13" name="Shape 10"/>
          <p:cNvSpPr/>
          <p:nvPr/>
        </p:nvSpPr>
        <p:spPr>
          <a:xfrm>
            <a:off x="6269584" y="1783080"/>
            <a:ext cx="2467280" cy="640080"/>
          </a:xfrm>
          <a:prstGeom prst="roundRect">
            <a:avLst>
              <a:gd name="adj" fmla="val 14286"/>
            </a:avLst>
          </a:prstGeom>
          <a:solidFill>
            <a:srgbClr val="242735"/>
          </a:solidFill>
          <a:ln w="9525">
            <a:solidFill>
              <a:srgbClr val="3A3E52"/>
            </a:solidFill>
            <a:prstDash val="solid"/>
          </a:ln>
        </p:spPr>
      </p:sp>
      <p:sp>
        <p:nvSpPr>
          <p:cNvPr id="14" name="Text 11"/>
          <p:cNvSpPr/>
          <p:nvPr/>
        </p:nvSpPr>
        <p:spPr>
          <a:xfrm>
            <a:off x="6269584" y="1783080"/>
            <a:ext cx="2467280" cy="640080"/>
          </a:xfrm>
          <a:prstGeom prst="rect">
            <a:avLst/>
          </a:prstGeom>
          <a:noFill/>
          <a:ln/>
        </p:spPr>
        <p:txBody>
          <a:bodyPr wrap="square" lIns="0" tIns="0" rIns="0" bIns="0" rtlCol="0" anchor="ctr"/>
          <a:lstStyle/>
          <a:p>
            <a:pPr algn="ctr" indent="0" marL="0">
              <a:buNone/>
            </a:pPr>
            <a:r>
              <a:rPr lang="en-US" sz="1500" b="1" dirty="0">
                <a:solidFill>
                  <a:srgbClr val="E8EAF2"/>
                </a:solidFill>
                <a:latin typeface="Arial" pitchFamily="34" charset="0"/>
                <a:ea typeface="Arial" pitchFamily="34" charset="-122"/>
                <a:cs typeface="Arial" pitchFamily="34" charset="-120"/>
              </a:rPr>
              <a:t>They tell me what broke</a:t>
            </a:r>
            <a:endParaRPr lang="en-US" sz="1500" dirty="0"/>
          </a:p>
        </p:txBody>
      </p:sp>
      <p:sp>
        <p:nvSpPr>
          <p:cNvPr id="15" name="Text 12"/>
          <p:cNvSpPr/>
          <p:nvPr/>
        </p:nvSpPr>
        <p:spPr>
          <a:xfrm>
            <a:off x="8736863" y="1783080"/>
            <a:ext cx="347472" cy="64008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16" name="Shape 13"/>
          <p:cNvSpPr/>
          <p:nvPr/>
        </p:nvSpPr>
        <p:spPr>
          <a:xfrm>
            <a:off x="9084335" y="1783080"/>
            <a:ext cx="2467280" cy="640080"/>
          </a:xfrm>
          <a:prstGeom prst="roundRect">
            <a:avLst>
              <a:gd name="adj" fmla="val 14286"/>
            </a:avLst>
          </a:prstGeom>
          <a:solidFill>
            <a:srgbClr val="242735"/>
          </a:solidFill>
          <a:ln w="9525">
            <a:solidFill>
              <a:srgbClr val="3A3E52"/>
            </a:solidFill>
            <a:prstDash val="solid"/>
          </a:ln>
        </p:spPr>
      </p:sp>
      <p:sp>
        <p:nvSpPr>
          <p:cNvPr id="17" name="Text 14"/>
          <p:cNvSpPr/>
          <p:nvPr/>
        </p:nvSpPr>
        <p:spPr>
          <a:xfrm>
            <a:off x="9084335" y="1783080"/>
            <a:ext cx="2467280" cy="640080"/>
          </a:xfrm>
          <a:prstGeom prst="rect">
            <a:avLst/>
          </a:prstGeom>
          <a:noFill/>
          <a:ln/>
        </p:spPr>
        <p:txBody>
          <a:bodyPr wrap="square" lIns="0" tIns="0" rIns="0" bIns="0" rtlCol="0" anchor="ctr"/>
          <a:lstStyle/>
          <a:p>
            <a:pPr algn="ctr" indent="0" marL="0">
              <a:buNone/>
            </a:pPr>
            <a:r>
              <a:rPr lang="en-US" sz="1500" b="1" dirty="0">
                <a:solidFill>
                  <a:srgbClr val="E8EAF2"/>
                </a:solidFill>
                <a:latin typeface="Arial" pitchFamily="34" charset="0"/>
                <a:ea typeface="Arial" pitchFamily="34" charset="-122"/>
                <a:cs typeface="Arial" pitchFamily="34" charset="-120"/>
              </a:rPr>
              <a:t>I fix that</a:t>
            </a:r>
            <a:endParaRPr lang="en-US" sz="1500" dirty="0"/>
          </a:p>
        </p:txBody>
      </p:sp>
      <p:sp>
        <p:nvSpPr>
          <p:cNvPr id="18" name="Shape 15"/>
          <p:cNvSpPr/>
          <p:nvPr/>
        </p:nvSpPr>
        <p:spPr>
          <a:xfrm>
            <a:off x="640080" y="2852928"/>
            <a:ext cx="45720" cy="594360"/>
          </a:xfrm>
          <a:prstGeom prst="rect">
            <a:avLst/>
          </a:prstGeom>
          <a:solidFill>
            <a:srgbClr val="635BFF"/>
          </a:solidFill>
          <a:ln w="12700">
            <a:solidFill>
              <a:srgbClr val="635BFF"/>
            </a:solidFill>
            <a:prstDash val="solid"/>
          </a:ln>
        </p:spPr>
      </p:sp>
      <p:sp>
        <p:nvSpPr>
          <p:cNvPr id="19" name="Text 16"/>
          <p:cNvSpPr/>
          <p:nvPr/>
        </p:nvSpPr>
        <p:spPr>
          <a:xfrm>
            <a:off x="841248" y="2788920"/>
            <a:ext cx="10710367" cy="758952"/>
          </a:xfrm>
          <a:prstGeom prst="rect">
            <a:avLst/>
          </a:prstGeom>
          <a:noFill/>
          <a:ln/>
        </p:spPr>
        <p:txBody>
          <a:bodyPr wrap="square" lIns="0" tIns="0" rIns="0" bIns="0" rtlCol="0" anchor="t"/>
          <a:lstStyle/>
          <a:p>
            <a:pPr indent="0" marL="0">
              <a:lnSpc>
                <a:spcPct val="112000"/>
              </a:lnSpc>
              <a:buNone/>
            </a:pPr>
            <a:r>
              <a:rPr lang="en-US" sz="1900" b="1" dirty="0">
                <a:solidFill>
                  <a:srgbClr val="E8EAF2"/>
                </a:solidFill>
                <a:latin typeface="Arial" pitchFamily="34" charset="0"/>
                <a:ea typeface="Arial" pitchFamily="34" charset="-122"/>
                <a:cs typeface="Arial" pitchFamily="34" charset="-120"/>
              </a:rPr>
              <a:t>Ship small.  </a:t>
            </a:r>
            <a:pPr indent="0" marL="0">
              <a:lnSpc>
                <a:spcPct val="112000"/>
              </a:lnSpc>
              <a:buNone/>
            </a:pPr>
            <a:r>
              <a:rPr lang="en-US" sz="1900" dirty="0">
                <a:solidFill>
                  <a:srgbClr val="9DA1B7"/>
                </a:solidFill>
                <a:latin typeface="Arial" pitchFamily="34" charset="0"/>
                <a:ea typeface="Arial" pitchFamily="34" charset="-122"/>
                <a:cs typeface="Arial" pitchFamily="34" charset="-120"/>
              </a:rPr>
              <a:t>The first version reaches the team in days, not months.</a:t>
            </a:r>
            <a:endParaRPr lang="en-US" sz="1900" dirty="0"/>
          </a:p>
        </p:txBody>
      </p:sp>
      <p:sp>
        <p:nvSpPr>
          <p:cNvPr id="20" name="Shape 17"/>
          <p:cNvSpPr/>
          <p:nvPr/>
        </p:nvSpPr>
        <p:spPr>
          <a:xfrm>
            <a:off x="640080" y="3721608"/>
            <a:ext cx="45720" cy="594360"/>
          </a:xfrm>
          <a:prstGeom prst="rect">
            <a:avLst/>
          </a:prstGeom>
          <a:solidFill>
            <a:srgbClr val="635BFF"/>
          </a:solidFill>
          <a:ln w="12700">
            <a:solidFill>
              <a:srgbClr val="635BFF"/>
            </a:solidFill>
            <a:prstDash val="solid"/>
          </a:ln>
        </p:spPr>
      </p:sp>
      <p:sp>
        <p:nvSpPr>
          <p:cNvPr id="21" name="Text 18"/>
          <p:cNvSpPr/>
          <p:nvPr/>
        </p:nvSpPr>
        <p:spPr>
          <a:xfrm>
            <a:off x="841248" y="3657600"/>
            <a:ext cx="10710367" cy="758952"/>
          </a:xfrm>
          <a:prstGeom prst="rect">
            <a:avLst/>
          </a:prstGeom>
          <a:noFill/>
          <a:ln/>
        </p:spPr>
        <p:txBody>
          <a:bodyPr wrap="square" lIns="0" tIns="0" rIns="0" bIns="0" rtlCol="0" anchor="t"/>
          <a:lstStyle/>
          <a:p>
            <a:pPr indent="0" marL="0">
              <a:lnSpc>
                <a:spcPct val="112000"/>
              </a:lnSpc>
              <a:buNone/>
            </a:pPr>
            <a:r>
              <a:rPr lang="en-US" sz="1900" b="1" dirty="0">
                <a:solidFill>
                  <a:srgbClr val="E8EAF2"/>
                </a:solidFill>
                <a:latin typeface="Arial" pitchFamily="34" charset="0"/>
                <a:ea typeface="Arial" pitchFamily="34" charset="-122"/>
                <a:cs typeface="Arial" pitchFamily="34" charset="-120"/>
              </a:rPr>
              <a:t>Let them break it.  </a:t>
            </a:r>
            <a:pPr indent="0" marL="0">
              <a:lnSpc>
                <a:spcPct val="112000"/>
              </a:lnSpc>
              <a:buNone/>
            </a:pPr>
            <a:r>
              <a:rPr lang="en-US" sz="1900" dirty="0">
                <a:solidFill>
                  <a:srgbClr val="9DA1B7"/>
                </a:solidFill>
                <a:latin typeface="Arial" pitchFamily="34" charset="0"/>
                <a:ea typeface="Arial" pitchFamily="34" charset="-122"/>
                <a:cs typeface="Arial" pitchFamily="34" charset="-120"/>
              </a:rPr>
              <a:t>Real questions find problems a spec never will.</a:t>
            </a:r>
            <a:endParaRPr lang="en-US" sz="1900" dirty="0"/>
          </a:p>
        </p:txBody>
      </p:sp>
      <p:sp>
        <p:nvSpPr>
          <p:cNvPr id="22" name="Shape 19"/>
          <p:cNvSpPr/>
          <p:nvPr/>
        </p:nvSpPr>
        <p:spPr>
          <a:xfrm>
            <a:off x="640080" y="4590288"/>
            <a:ext cx="45720" cy="594360"/>
          </a:xfrm>
          <a:prstGeom prst="rect">
            <a:avLst/>
          </a:prstGeom>
          <a:solidFill>
            <a:srgbClr val="635BFF"/>
          </a:solidFill>
          <a:ln w="12700">
            <a:solidFill>
              <a:srgbClr val="635BFF"/>
            </a:solidFill>
            <a:prstDash val="solid"/>
          </a:ln>
        </p:spPr>
      </p:sp>
      <p:sp>
        <p:nvSpPr>
          <p:cNvPr id="23" name="Text 20"/>
          <p:cNvSpPr/>
          <p:nvPr/>
        </p:nvSpPr>
        <p:spPr>
          <a:xfrm>
            <a:off x="841248" y="4526280"/>
            <a:ext cx="10710367" cy="758952"/>
          </a:xfrm>
          <a:prstGeom prst="rect">
            <a:avLst/>
          </a:prstGeom>
          <a:noFill/>
          <a:ln/>
        </p:spPr>
        <p:txBody>
          <a:bodyPr wrap="square" lIns="0" tIns="0" rIns="0" bIns="0" rtlCol="0" anchor="t"/>
          <a:lstStyle/>
          <a:p>
            <a:pPr indent="0" marL="0">
              <a:lnSpc>
                <a:spcPct val="112000"/>
              </a:lnSpc>
              <a:buNone/>
            </a:pPr>
            <a:r>
              <a:rPr lang="en-US" sz="1900" b="1" dirty="0">
                <a:solidFill>
                  <a:srgbClr val="E8EAF2"/>
                </a:solidFill>
                <a:latin typeface="Arial" pitchFamily="34" charset="0"/>
                <a:ea typeface="Arial" pitchFamily="34" charset="-122"/>
                <a:cs typeface="Arial" pitchFamily="34" charset="-120"/>
              </a:rPr>
              <a:t>Fix what they hit.  </a:t>
            </a:r>
            <a:pPr indent="0" marL="0">
              <a:lnSpc>
                <a:spcPct val="112000"/>
              </a:lnSpc>
              <a:buNone/>
            </a:pPr>
            <a:r>
              <a:rPr lang="en-US" sz="1900" dirty="0">
                <a:solidFill>
                  <a:srgbClr val="9DA1B7"/>
                </a:solidFill>
                <a:latin typeface="Arial" pitchFamily="34" charset="0"/>
                <a:ea typeface="Arial" pitchFamily="34" charset="-122"/>
                <a:cs typeface="Arial" pitchFamily="34" charset="-120"/>
              </a:rPr>
              <a:t>I do not build for problems nobody has.</a:t>
            </a:r>
            <a:endParaRPr lang="en-US" sz="1900" dirty="0"/>
          </a:p>
        </p:txBody>
      </p:sp>
      <p:sp>
        <p:nvSpPr>
          <p:cNvPr id="24" name="Shape 21"/>
          <p:cNvSpPr/>
          <p:nvPr/>
        </p:nvSpPr>
        <p:spPr>
          <a:xfrm>
            <a:off x="640080" y="5458968"/>
            <a:ext cx="45720" cy="594360"/>
          </a:xfrm>
          <a:prstGeom prst="rect">
            <a:avLst/>
          </a:prstGeom>
          <a:solidFill>
            <a:srgbClr val="635BFF"/>
          </a:solidFill>
          <a:ln w="12700">
            <a:solidFill>
              <a:srgbClr val="635BFF"/>
            </a:solidFill>
            <a:prstDash val="solid"/>
          </a:ln>
        </p:spPr>
      </p:sp>
      <p:sp>
        <p:nvSpPr>
          <p:cNvPr id="25" name="Text 22"/>
          <p:cNvSpPr/>
          <p:nvPr/>
        </p:nvSpPr>
        <p:spPr>
          <a:xfrm>
            <a:off x="841248" y="5394960"/>
            <a:ext cx="10710367" cy="758952"/>
          </a:xfrm>
          <a:prstGeom prst="rect">
            <a:avLst/>
          </a:prstGeom>
          <a:noFill/>
          <a:ln/>
        </p:spPr>
        <p:txBody>
          <a:bodyPr wrap="square" lIns="0" tIns="0" rIns="0" bIns="0" rtlCol="0" anchor="t"/>
          <a:lstStyle/>
          <a:p>
            <a:pPr indent="0" marL="0">
              <a:lnSpc>
                <a:spcPct val="112000"/>
              </a:lnSpc>
              <a:buNone/>
            </a:pPr>
            <a:r>
              <a:rPr lang="en-US" sz="1900" b="1" dirty="0">
                <a:solidFill>
                  <a:srgbClr val="E8EAF2"/>
                </a:solidFill>
                <a:latin typeface="Arial" pitchFamily="34" charset="0"/>
                <a:ea typeface="Arial" pitchFamily="34" charset="-122"/>
                <a:cs typeface="Arial" pitchFamily="34" charset="-120"/>
              </a:rPr>
              <a:t>Measure honestly.  </a:t>
            </a:r>
            <a:pPr indent="0" marL="0">
              <a:lnSpc>
                <a:spcPct val="112000"/>
              </a:lnSpc>
              <a:buNone/>
            </a:pPr>
            <a:r>
              <a:rPr lang="en-US" sz="1900" dirty="0">
                <a:solidFill>
                  <a:srgbClr val="9DA1B7"/>
                </a:solidFill>
                <a:latin typeface="Arial" pitchFamily="34" charset="0"/>
                <a:ea typeface="Arial" pitchFamily="34" charset="-122"/>
                <a:cs typeface="Arial" pitchFamily="34" charset="-120"/>
              </a:rPr>
              <a:t>Every number comes from a run anyone can repeat.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WHAT I BUILT OVER THE PAST YEAR</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A foundation first. Then one team at a time.</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3</a:t>
            </a:r>
            <a:endParaRPr lang="en-US" sz="900" dirty="0"/>
          </a:p>
        </p:txBody>
      </p:sp>
      <p:sp>
        <p:nvSpPr>
          <p:cNvPr id="7" name="Shape 4"/>
          <p:cNvSpPr/>
          <p:nvPr/>
        </p:nvSpPr>
        <p:spPr>
          <a:xfrm>
            <a:off x="640080" y="1783080"/>
            <a:ext cx="10911535" cy="932688"/>
          </a:xfrm>
          <a:prstGeom prst="roundRect">
            <a:avLst>
              <a:gd name="adj" fmla="val 5882"/>
            </a:avLst>
          </a:prstGeom>
          <a:solidFill>
            <a:srgbClr val="1C1E29"/>
          </a:solidFill>
          <a:ln w="9525">
            <a:solidFill>
              <a:srgbClr val="3A3E52"/>
            </a:solidFill>
            <a:prstDash val="solid"/>
          </a:ln>
        </p:spPr>
      </p:sp>
      <p:sp>
        <p:nvSpPr>
          <p:cNvPr id="8" name="Text 5"/>
          <p:cNvSpPr/>
          <p:nvPr/>
        </p:nvSpPr>
        <p:spPr>
          <a:xfrm>
            <a:off x="868680" y="1911096"/>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TEAMS</a:t>
            </a:r>
            <a:endParaRPr lang="en-US" sz="950" dirty="0"/>
          </a:p>
        </p:txBody>
      </p:sp>
      <p:sp>
        <p:nvSpPr>
          <p:cNvPr id="9" name="Text 6"/>
          <p:cNvSpPr/>
          <p:nvPr/>
        </p:nvSpPr>
        <p:spPr>
          <a:xfrm>
            <a:off x="868680" y="2148840"/>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Who it serves</a:t>
            </a:r>
            <a:endParaRPr lang="en-US" sz="1700" dirty="0"/>
          </a:p>
        </p:txBody>
      </p:sp>
      <p:sp>
        <p:nvSpPr>
          <p:cNvPr id="10" name="Shape 7"/>
          <p:cNvSpPr/>
          <p:nvPr/>
        </p:nvSpPr>
        <p:spPr>
          <a:xfrm>
            <a:off x="3291840" y="1938528"/>
            <a:ext cx="1909496" cy="621792"/>
          </a:xfrm>
          <a:prstGeom prst="roundRect">
            <a:avLst>
              <a:gd name="adj" fmla="val 8824"/>
            </a:avLst>
          </a:prstGeom>
          <a:solidFill>
            <a:srgbClr val="14151C"/>
          </a:solidFill>
          <a:ln w="6350">
            <a:solidFill>
              <a:srgbClr val="3A3E52"/>
            </a:solidFill>
            <a:prstDash val="solid"/>
          </a:ln>
        </p:spPr>
      </p:sp>
      <p:sp>
        <p:nvSpPr>
          <p:cNvPr id="11" name="Text 8"/>
          <p:cNvSpPr/>
          <p:nvPr/>
        </p:nvSpPr>
        <p:spPr>
          <a:xfrm>
            <a:off x="3337560"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IT support</a:t>
            </a:r>
            <a:endParaRPr lang="en-US" sz="1150" dirty="0"/>
          </a:p>
        </p:txBody>
      </p:sp>
      <p:sp>
        <p:nvSpPr>
          <p:cNvPr id="12" name="Shape 9"/>
          <p:cNvSpPr/>
          <p:nvPr/>
        </p:nvSpPr>
        <p:spPr>
          <a:xfrm>
            <a:off x="5311064" y="1938528"/>
            <a:ext cx="1909496" cy="621792"/>
          </a:xfrm>
          <a:prstGeom prst="roundRect">
            <a:avLst>
              <a:gd name="adj" fmla="val 8824"/>
            </a:avLst>
          </a:prstGeom>
          <a:solidFill>
            <a:srgbClr val="14151C"/>
          </a:solidFill>
          <a:ln w="6350">
            <a:solidFill>
              <a:srgbClr val="3A3E52"/>
            </a:solidFill>
            <a:prstDash val="solid"/>
          </a:ln>
        </p:spPr>
      </p:sp>
      <p:sp>
        <p:nvSpPr>
          <p:cNvPr id="13" name="Text 10"/>
          <p:cNvSpPr/>
          <p:nvPr/>
        </p:nvSpPr>
        <p:spPr>
          <a:xfrm>
            <a:off x="5356784"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Customer support</a:t>
            </a:r>
            <a:endParaRPr lang="en-US" sz="1150" dirty="0"/>
          </a:p>
        </p:txBody>
      </p:sp>
      <p:sp>
        <p:nvSpPr>
          <p:cNvPr id="14" name="Shape 11"/>
          <p:cNvSpPr/>
          <p:nvPr/>
        </p:nvSpPr>
        <p:spPr>
          <a:xfrm>
            <a:off x="7330288" y="1938528"/>
            <a:ext cx="1909496" cy="621792"/>
          </a:xfrm>
          <a:prstGeom prst="roundRect">
            <a:avLst>
              <a:gd name="adj" fmla="val 8824"/>
            </a:avLst>
          </a:prstGeom>
          <a:solidFill>
            <a:srgbClr val="14151C"/>
          </a:solidFill>
          <a:ln w="6350">
            <a:solidFill>
              <a:srgbClr val="3A3E52"/>
            </a:solidFill>
            <a:prstDash val="solid"/>
          </a:ln>
        </p:spPr>
      </p:sp>
      <p:sp>
        <p:nvSpPr>
          <p:cNvPr id="15" name="Text 12"/>
          <p:cNvSpPr/>
          <p:nvPr/>
        </p:nvSpPr>
        <p:spPr>
          <a:xfrm>
            <a:off x="7376008"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Customer success</a:t>
            </a:r>
            <a:endParaRPr lang="en-US" sz="1150" dirty="0"/>
          </a:p>
        </p:txBody>
      </p:sp>
      <p:sp>
        <p:nvSpPr>
          <p:cNvPr id="16" name="Shape 13"/>
          <p:cNvSpPr/>
          <p:nvPr/>
        </p:nvSpPr>
        <p:spPr>
          <a:xfrm>
            <a:off x="9349511" y="1938528"/>
            <a:ext cx="1909496" cy="621792"/>
          </a:xfrm>
          <a:prstGeom prst="roundRect">
            <a:avLst>
              <a:gd name="adj" fmla="val 8824"/>
            </a:avLst>
          </a:prstGeom>
          <a:solidFill>
            <a:srgbClr val="14151C"/>
          </a:solidFill>
          <a:ln w="6350">
            <a:solidFill>
              <a:srgbClr val="3A3E52"/>
            </a:solidFill>
            <a:prstDash val="solid"/>
          </a:ln>
        </p:spPr>
      </p:sp>
      <p:sp>
        <p:nvSpPr>
          <p:cNvPr id="17" name="Text 14"/>
          <p:cNvSpPr/>
          <p:nvPr/>
        </p:nvSpPr>
        <p:spPr>
          <a:xfrm>
            <a:off x="9395231"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Sales (next)</a:t>
            </a:r>
            <a:endParaRPr lang="en-US" sz="1150" dirty="0"/>
          </a:p>
        </p:txBody>
      </p:sp>
      <p:sp>
        <p:nvSpPr>
          <p:cNvPr id="18" name="Shape 15"/>
          <p:cNvSpPr/>
          <p:nvPr/>
        </p:nvSpPr>
        <p:spPr>
          <a:xfrm>
            <a:off x="640080" y="2843784"/>
            <a:ext cx="10911535" cy="932688"/>
          </a:xfrm>
          <a:prstGeom prst="roundRect">
            <a:avLst>
              <a:gd name="adj" fmla="val 5882"/>
            </a:avLst>
          </a:prstGeom>
          <a:solidFill>
            <a:srgbClr val="242735"/>
          </a:solidFill>
          <a:ln w="15875">
            <a:solidFill>
              <a:srgbClr val="635BFF"/>
            </a:solidFill>
            <a:prstDash val="solid"/>
          </a:ln>
        </p:spPr>
      </p:sp>
      <p:sp>
        <p:nvSpPr>
          <p:cNvPr id="19" name="Text 16"/>
          <p:cNvSpPr/>
          <p:nvPr/>
        </p:nvSpPr>
        <p:spPr>
          <a:xfrm>
            <a:off x="868680" y="2971800"/>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2</a:t>
            </a:r>
            <a:endParaRPr lang="en-US" sz="950" dirty="0"/>
          </a:p>
        </p:txBody>
      </p:sp>
      <p:sp>
        <p:nvSpPr>
          <p:cNvPr id="20" name="Text 17"/>
          <p:cNvSpPr/>
          <p:nvPr/>
        </p:nvSpPr>
        <p:spPr>
          <a:xfrm>
            <a:off x="868680" y="3209544"/>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Company-wide agent harness</a:t>
            </a:r>
            <a:endParaRPr lang="en-US" sz="1700" dirty="0"/>
          </a:p>
        </p:txBody>
      </p:sp>
      <p:sp>
        <p:nvSpPr>
          <p:cNvPr id="21" name="Shape 18"/>
          <p:cNvSpPr/>
          <p:nvPr/>
        </p:nvSpPr>
        <p:spPr>
          <a:xfrm>
            <a:off x="3291840" y="2999232"/>
            <a:ext cx="1909496" cy="621792"/>
          </a:xfrm>
          <a:prstGeom prst="roundRect">
            <a:avLst>
              <a:gd name="adj" fmla="val 8824"/>
            </a:avLst>
          </a:prstGeom>
          <a:solidFill>
            <a:srgbClr val="14151C"/>
          </a:solidFill>
          <a:ln w="6350">
            <a:solidFill>
              <a:srgbClr val="3A3E52"/>
            </a:solidFill>
            <a:prstDash val="solid"/>
          </a:ln>
        </p:spPr>
      </p:sp>
      <p:sp>
        <p:nvSpPr>
          <p:cNvPr id="22" name="Text 19"/>
          <p:cNvSpPr/>
          <p:nvPr/>
        </p:nvSpPr>
        <p:spPr>
          <a:xfrm>
            <a:off x="3337560"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One agent core</a:t>
            </a:r>
            <a:endParaRPr lang="en-US" sz="1150" dirty="0"/>
          </a:p>
        </p:txBody>
      </p:sp>
      <p:sp>
        <p:nvSpPr>
          <p:cNvPr id="23" name="Shape 20"/>
          <p:cNvSpPr/>
          <p:nvPr/>
        </p:nvSpPr>
        <p:spPr>
          <a:xfrm>
            <a:off x="5311064" y="2999232"/>
            <a:ext cx="1909496" cy="621792"/>
          </a:xfrm>
          <a:prstGeom prst="roundRect">
            <a:avLst>
              <a:gd name="adj" fmla="val 8824"/>
            </a:avLst>
          </a:prstGeom>
          <a:solidFill>
            <a:srgbClr val="14151C"/>
          </a:solidFill>
          <a:ln w="6350">
            <a:solidFill>
              <a:srgbClr val="3A3E52"/>
            </a:solidFill>
            <a:prstDash val="solid"/>
          </a:ln>
        </p:spPr>
      </p:sp>
      <p:sp>
        <p:nvSpPr>
          <p:cNvPr id="24" name="Text 21"/>
          <p:cNvSpPr/>
          <p:nvPr/>
        </p:nvSpPr>
        <p:spPr>
          <a:xfrm>
            <a:off x="5356784"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Per-team tools</a:t>
            </a:r>
            <a:endParaRPr lang="en-US" sz="1150" dirty="0"/>
          </a:p>
        </p:txBody>
      </p:sp>
      <p:sp>
        <p:nvSpPr>
          <p:cNvPr id="25" name="Shape 22"/>
          <p:cNvSpPr/>
          <p:nvPr/>
        </p:nvSpPr>
        <p:spPr>
          <a:xfrm>
            <a:off x="7330288" y="2999232"/>
            <a:ext cx="1909496" cy="621792"/>
          </a:xfrm>
          <a:prstGeom prst="roundRect">
            <a:avLst>
              <a:gd name="adj" fmla="val 8824"/>
            </a:avLst>
          </a:prstGeom>
          <a:solidFill>
            <a:srgbClr val="14151C"/>
          </a:solidFill>
          <a:ln w="6350">
            <a:solidFill>
              <a:srgbClr val="3A3E52"/>
            </a:solidFill>
            <a:prstDash val="solid"/>
          </a:ln>
        </p:spPr>
      </p:sp>
      <p:sp>
        <p:nvSpPr>
          <p:cNvPr id="26" name="Text 23"/>
          <p:cNvSpPr/>
          <p:nvPr/>
        </p:nvSpPr>
        <p:spPr>
          <a:xfrm>
            <a:off x="7376008"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Versioned prompts</a:t>
            </a:r>
            <a:endParaRPr lang="en-US" sz="1150" dirty="0"/>
          </a:p>
        </p:txBody>
      </p:sp>
      <p:sp>
        <p:nvSpPr>
          <p:cNvPr id="27" name="Shape 24"/>
          <p:cNvSpPr/>
          <p:nvPr/>
        </p:nvSpPr>
        <p:spPr>
          <a:xfrm>
            <a:off x="9349511" y="2999232"/>
            <a:ext cx="1909496" cy="621792"/>
          </a:xfrm>
          <a:prstGeom prst="roundRect">
            <a:avLst>
              <a:gd name="adj" fmla="val 8824"/>
            </a:avLst>
          </a:prstGeom>
          <a:solidFill>
            <a:srgbClr val="14151C"/>
          </a:solidFill>
          <a:ln w="6350">
            <a:solidFill>
              <a:srgbClr val="3A3E52"/>
            </a:solidFill>
            <a:prstDash val="solid"/>
          </a:ln>
        </p:spPr>
      </p:sp>
      <p:sp>
        <p:nvSpPr>
          <p:cNvPr id="28" name="Text 25"/>
          <p:cNvSpPr/>
          <p:nvPr/>
        </p:nvSpPr>
        <p:spPr>
          <a:xfrm>
            <a:off x="9395231"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Transcript evals</a:t>
            </a:r>
            <a:endParaRPr lang="en-US" sz="1150" dirty="0"/>
          </a:p>
        </p:txBody>
      </p:sp>
      <p:sp>
        <p:nvSpPr>
          <p:cNvPr id="29" name="Shape 26"/>
          <p:cNvSpPr/>
          <p:nvPr/>
        </p:nvSpPr>
        <p:spPr>
          <a:xfrm>
            <a:off x="640080" y="3904488"/>
            <a:ext cx="10911535" cy="932688"/>
          </a:xfrm>
          <a:prstGeom prst="roundRect">
            <a:avLst>
              <a:gd name="adj" fmla="val 5882"/>
            </a:avLst>
          </a:prstGeom>
          <a:solidFill>
            <a:srgbClr val="242735"/>
          </a:solidFill>
          <a:ln w="15875">
            <a:solidFill>
              <a:srgbClr val="635BFF"/>
            </a:solidFill>
            <a:prstDash val="solid"/>
          </a:ln>
        </p:spPr>
      </p:sp>
      <p:sp>
        <p:nvSpPr>
          <p:cNvPr id="30" name="Text 27"/>
          <p:cNvSpPr/>
          <p:nvPr/>
        </p:nvSpPr>
        <p:spPr>
          <a:xfrm>
            <a:off x="868680" y="4032504"/>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1</a:t>
            </a:r>
            <a:endParaRPr lang="en-US" sz="950" dirty="0"/>
          </a:p>
        </p:txBody>
      </p:sp>
      <p:sp>
        <p:nvSpPr>
          <p:cNvPr id="31" name="Text 28"/>
          <p:cNvSpPr/>
          <p:nvPr/>
        </p:nvSpPr>
        <p:spPr>
          <a:xfrm>
            <a:off x="868680" y="4270248"/>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Universal knowledge layer</a:t>
            </a:r>
            <a:endParaRPr lang="en-US" sz="1700" dirty="0"/>
          </a:p>
        </p:txBody>
      </p:sp>
      <p:sp>
        <p:nvSpPr>
          <p:cNvPr id="32" name="Shape 29"/>
          <p:cNvSpPr/>
          <p:nvPr/>
        </p:nvSpPr>
        <p:spPr>
          <a:xfrm>
            <a:off x="3291840" y="4059936"/>
            <a:ext cx="2582570" cy="621792"/>
          </a:xfrm>
          <a:prstGeom prst="roundRect">
            <a:avLst>
              <a:gd name="adj" fmla="val 8824"/>
            </a:avLst>
          </a:prstGeom>
          <a:solidFill>
            <a:srgbClr val="14151C"/>
          </a:solidFill>
          <a:ln w="6350">
            <a:solidFill>
              <a:srgbClr val="3A3E52"/>
            </a:solidFill>
            <a:prstDash val="solid"/>
          </a:ln>
        </p:spPr>
      </p:sp>
      <p:sp>
        <p:nvSpPr>
          <p:cNvPr id="33" name="Text 30"/>
          <p:cNvSpPr/>
          <p:nvPr/>
        </p:nvSpPr>
        <p:spPr>
          <a:xfrm>
            <a:off x="3337560"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One search source</a:t>
            </a:r>
            <a:endParaRPr lang="en-US" sz="1150" dirty="0"/>
          </a:p>
        </p:txBody>
      </p:sp>
      <p:sp>
        <p:nvSpPr>
          <p:cNvPr id="34" name="Shape 31"/>
          <p:cNvSpPr/>
          <p:nvPr/>
        </p:nvSpPr>
        <p:spPr>
          <a:xfrm>
            <a:off x="5984138" y="4059936"/>
            <a:ext cx="2582570" cy="621792"/>
          </a:xfrm>
          <a:prstGeom prst="roundRect">
            <a:avLst>
              <a:gd name="adj" fmla="val 8824"/>
            </a:avLst>
          </a:prstGeom>
          <a:solidFill>
            <a:srgbClr val="14151C"/>
          </a:solidFill>
          <a:ln w="6350">
            <a:solidFill>
              <a:srgbClr val="3A3E52"/>
            </a:solidFill>
            <a:prstDash val="solid"/>
          </a:ln>
        </p:spPr>
      </p:sp>
      <p:sp>
        <p:nvSpPr>
          <p:cNvPr id="35" name="Text 32"/>
          <p:cNvSpPr/>
          <p:nvPr/>
        </p:nvSpPr>
        <p:spPr>
          <a:xfrm>
            <a:off x="6029858"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Every answer cited</a:t>
            </a:r>
            <a:endParaRPr lang="en-US" sz="1150" dirty="0"/>
          </a:p>
        </p:txBody>
      </p:sp>
      <p:sp>
        <p:nvSpPr>
          <p:cNvPr id="36" name="Shape 33"/>
          <p:cNvSpPr/>
          <p:nvPr/>
        </p:nvSpPr>
        <p:spPr>
          <a:xfrm>
            <a:off x="8676437" y="4059936"/>
            <a:ext cx="2582570" cy="621792"/>
          </a:xfrm>
          <a:prstGeom prst="roundRect">
            <a:avLst>
              <a:gd name="adj" fmla="val 8824"/>
            </a:avLst>
          </a:prstGeom>
          <a:solidFill>
            <a:srgbClr val="14151C"/>
          </a:solidFill>
          <a:ln w="6350">
            <a:solidFill>
              <a:srgbClr val="3A3E52"/>
            </a:solidFill>
            <a:prstDash val="solid"/>
          </a:ln>
        </p:spPr>
      </p:sp>
      <p:sp>
        <p:nvSpPr>
          <p:cNvPr id="37" name="Text 34"/>
          <p:cNvSpPr/>
          <p:nvPr/>
        </p:nvSpPr>
        <p:spPr>
          <a:xfrm>
            <a:off x="8722157"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Verified answers saved</a:t>
            </a:r>
            <a:endParaRPr lang="en-US" sz="1150" dirty="0"/>
          </a:p>
        </p:txBody>
      </p:sp>
      <p:sp>
        <p:nvSpPr>
          <p:cNvPr id="38" name="Shape 35"/>
          <p:cNvSpPr/>
          <p:nvPr/>
        </p:nvSpPr>
        <p:spPr>
          <a:xfrm>
            <a:off x="640080" y="4965192"/>
            <a:ext cx="10911535" cy="932688"/>
          </a:xfrm>
          <a:prstGeom prst="roundRect">
            <a:avLst>
              <a:gd name="adj" fmla="val 5882"/>
            </a:avLst>
          </a:prstGeom>
          <a:solidFill>
            <a:srgbClr val="1C1E29"/>
          </a:solidFill>
          <a:ln w="9525">
            <a:solidFill>
              <a:srgbClr val="3A3E52"/>
            </a:solidFill>
            <a:prstDash val="solid"/>
          </a:ln>
        </p:spPr>
      </p:sp>
      <p:sp>
        <p:nvSpPr>
          <p:cNvPr id="39" name="Text 36"/>
          <p:cNvSpPr/>
          <p:nvPr/>
        </p:nvSpPr>
        <p:spPr>
          <a:xfrm>
            <a:off x="868680" y="5093208"/>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CONNECTORS</a:t>
            </a:r>
            <a:endParaRPr lang="en-US" sz="950" dirty="0"/>
          </a:p>
        </p:txBody>
      </p:sp>
      <p:sp>
        <p:nvSpPr>
          <p:cNvPr id="40" name="Text 37"/>
          <p:cNvSpPr/>
          <p:nvPr/>
        </p:nvSpPr>
        <p:spPr>
          <a:xfrm>
            <a:off x="868680" y="5330952"/>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Into company systems</a:t>
            </a:r>
            <a:endParaRPr lang="en-US" sz="1700" dirty="0"/>
          </a:p>
        </p:txBody>
      </p:sp>
      <p:sp>
        <p:nvSpPr>
          <p:cNvPr id="41" name="Shape 38"/>
          <p:cNvSpPr/>
          <p:nvPr/>
        </p:nvSpPr>
        <p:spPr>
          <a:xfrm>
            <a:off x="3291840" y="5120640"/>
            <a:ext cx="1909496" cy="621792"/>
          </a:xfrm>
          <a:prstGeom prst="roundRect">
            <a:avLst>
              <a:gd name="adj" fmla="val 8824"/>
            </a:avLst>
          </a:prstGeom>
          <a:solidFill>
            <a:srgbClr val="14151C"/>
          </a:solidFill>
          <a:ln w="6350">
            <a:solidFill>
              <a:srgbClr val="3A3E52"/>
            </a:solidFill>
            <a:prstDash val="solid"/>
          </a:ln>
        </p:spPr>
      </p:sp>
      <p:sp>
        <p:nvSpPr>
          <p:cNvPr id="42" name="Text 39"/>
          <p:cNvSpPr/>
          <p:nvPr/>
        </p:nvSpPr>
        <p:spPr>
          <a:xfrm>
            <a:off x="3337560"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Data warehouse (Metabase API)</a:t>
            </a:r>
            <a:endParaRPr lang="en-US" sz="1150" dirty="0"/>
          </a:p>
        </p:txBody>
      </p:sp>
      <p:sp>
        <p:nvSpPr>
          <p:cNvPr id="43" name="Shape 40"/>
          <p:cNvSpPr/>
          <p:nvPr/>
        </p:nvSpPr>
        <p:spPr>
          <a:xfrm>
            <a:off x="5311064" y="5120640"/>
            <a:ext cx="1909496" cy="621792"/>
          </a:xfrm>
          <a:prstGeom prst="roundRect">
            <a:avLst>
              <a:gd name="adj" fmla="val 8824"/>
            </a:avLst>
          </a:prstGeom>
          <a:solidFill>
            <a:srgbClr val="14151C"/>
          </a:solidFill>
          <a:ln w="6350">
            <a:solidFill>
              <a:srgbClr val="3A3E52"/>
            </a:solidFill>
            <a:prstDash val="solid"/>
          </a:ln>
        </p:spPr>
      </p:sp>
      <p:sp>
        <p:nvSpPr>
          <p:cNvPr id="44" name="Text 41"/>
          <p:cNvSpPr/>
          <p:nvPr/>
        </p:nvSpPr>
        <p:spPr>
          <a:xfrm>
            <a:off x="5356784"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Slack history, backfilled</a:t>
            </a:r>
            <a:endParaRPr lang="en-US" sz="1150" dirty="0"/>
          </a:p>
        </p:txBody>
      </p:sp>
      <p:sp>
        <p:nvSpPr>
          <p:cNvPr id="45" name="Shape 42"/>
          <p:cNvSpPr/>
          <p:nvPr/>
        </p:nvSpPr>
        <p:spPr>
          <a:xfrm>
            <a:off x="7330288" y="5120640"/>
            <a:ext cx="1909496" cy="621792"/>
          </a:xfrm>
          <a:prstGeom prst="roundRect">
            <a:avLst>
              <a:gd name="adj" fmla="val 8824"/>
            </a:avLst>
          </a:prstGeom>
          <a:solidFill>
            <a:srgbClr val="14151C"/>
          </a:solidFill>
          <a:ln w="6350">
            <a:solidFill>
              <a:srgbClr val="3A3E52"/>
            </a:solidFill>
            <a:prstDash val="solid"/>
          </a:ln>
        </p:spPr>
      </p:sp>
      <p:sp>
        <p:nvSpPr>
          <p:cNvPr id="46" name="Text 43"/>
          <p:cNvSpPr/>
          <p:nvPr/>
        </p:nvSpPr>
        <p:spPr>
          <a:xfrm>
            <a:off x="7376008"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Jira and Linear tickets</a:t>
            </a:r>
            <a:endParaRPr lang="en-US" sz="1150" dirty="0"/>
          </a:p>
        </p:txBody>
      </p:sp>
      <p:sp>
        <p:nvSpPr>
          <p:cNvPr id="47" name="Shape 44"/>
          <p:cNvSpPr/>
          <p:nvPr/>
        </p:nvSpPr>
        <p:spPr>
          <a:xfrm>
            <a:off x="9349511" y="5120640"/>
            <a:ext cx="1909496" cy="621792"/>
          </a:xfrm>
          <a:prstGeom prst="roundRect">
            <a:avLst>
              <a:gd name="adj" fmla="val 8824"/>
            </a:avLst>
          </a:prstGeom>
          <a:solidFill>
            <a:srgbClr val="14151C"/>
          </a:solidFill>
          <a:ln w="6350">
            <a:solidFill>
              <a:srgbClr val="3A3E52"/>
            </a:solidFill>
            <a:prstDash val="solid"/>
          </a:ln>
        </p:spPr>
      </p:sp>
      <p:sp>
        <p:nvSpPr>
          <p:cNvPr id="48" name="Text 45"/>
          <p:cNvSpPr/>
          <p:nvPr/>
        </p:nvSpPr>
        <p:spPr>
          <a:xfrm>
            <a:off x="9395231"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Wiki and help center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THE FOUNDATION MATTERS</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A new team is a connector and a prompt.</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4</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80E9FF"/>
                </a:solidFill>
                <a:latin typeface="Georgia" pitchFamily="34" charset="0"/>
                <a:ea typeface="Georgia" pitchFamily="34" charset="-122"/>
                <a:cs typeface="Georgia" pitchFamily="34" charset="-120"/>
              </a:rPr>
              <a:t>14</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AI tools in production</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Across eight departments. Up from one Slack bot in January.</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2,200+</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Questions answered</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In Slack, for 110+ employees. 94% without pulling in product or engineering.</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200+</a:t>
            </a:r>
            <a:endParaRPr lang="en-US" sz="40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Support emails a week</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Triaged by the email support agent.</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183</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Customer accounts set up</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Through the onboarding app since June. Median nine minutes.</a:t>
            </a:r>
            <a:endParaRPr lang="en-US" sz="1050" dirty="0"/>
          </a:p>
        </p:txBody>
      </p:sp>
      <p:sp>
        <p:nvSpPr>
          <p:cNvPr id="23" name="Shape 20"/>
          <p:cNvSpPr/>
          <p:nvPr/>
        </p:nvSpPr>
        <p:spPr>
          <a:xfrm>
            <a:off x="640080" y="4041648"/>
            <a:ext cx="45720" cy="438912"/>
          </a:xfrm>
          <a:prstGeom prst="rect">
            <a:avLst/>
          </a:prstGeom>
          <a:solidFill>
            <a:srgbClr val="635BFF"/>
          </a:solidFill>
          <a:ln w="12700">
            <a:solidFill>
              <a:srgbClr val="635BFF"/>
            </a:solidFill>
            <a:prstDash val="solid"/>
          </a:ln>
        </p:spPr>
      </p:sp>
      <p:sp>
        <p:nvSpPr>
          <p:cNvPr id="24" name="Text 21"/>
          <p:cNvSpPr/>
          <p:nvPr/>
        </p:nvSpPr>
        <p:spPr>
          <a:xfrm>
            <a:off x="841248" y="3977640"/>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Shared knowledge.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Every tool starts with the same grounded company knowledge on day one.</a:t>
            </a:r>
            <a:endParaRPr lang="en-US" sz="1500" dirty="0"/>
          </a:p>
        </p:txBody>
      </p:sp>
      <p:sp>
        <p:nvSpPr>
          <p:cNvPr id="25" name="Shape 22"/>
          <p:cNvSpPr/>
          <p:nvPr/>
        </p:nvSpPr>
        <p:spPr>
          <a:xfrm>
            <a:off x="640080" y="4754880"/>
            <a:ext cx="45720" cy="438912"/>
          </a:xfrm>
          <a:prstGeom prst="rect">
            <a:avLst/>
          </a:prstGeom>
          <a:solidFill>
            <a:srgbClr val="635BFF"/>
          </a:solidFill>
          <a:ln w="12700">
            <a:solidFill>
              <a:srgbClr val="635BFF"/>
            </a:solidFill>
            <a:prstDash val="solid"/>
          </a:ln>
        </p:spPr>
      </p:sp>
      <p:sp>
        <p:nvSpPr>
          <p:cNvPr id="26" name="Text 23"/>
          <p:cNvSpPr/>
          <p:nvPr/>
        </p:nvSpPr>
        <p:spPr>
          <a:xfrm>
            <a:off x="841248" y="4690872"/>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Shared rules.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Answers come only from sources, always cited. No team can loosen that.</a:t>
            </a:r>
            <a:endParaRPr lang="en-US" sz="1500" dirty="0"/>
          </a:p>
        </p:txBody>
      </p:sp>
      <p:sp>
        <p:nvSpPr>
          <p:cNvPr id="27" name="Shape 24"/>
          <p:cNvSpPr/>
          <p:nvPr/>
        </p:nvSpPr>
        <p:spPr>
          <a:xfrm>
            <a:off x="640080" y="5468112"/>
            <a:ext cx="45720" cy="438912"/>
          </a:xfrm>
          <a:prstGeom prst="rect">
            <a:avLst/>
          </a:prstGeom>
          <a:solidFill>
            <a:srgbClr val="635BFF"/>
          </a:solidFill>
          <a:ln w="12700">
            <a:solidFill>
              <a:srgbClr val="635BFF"/>
            </a:solidFill>
            <a:prstDash val="solid"/>
          </a:ln>
        </p:spPr>
      </p:sp>
      <p:sp>
        <p:nvSpPr>
          <p:cNvPr id="28" name="Text 25"/>
          <p:cNvSpPr/>
          <p:nvPr/>
        </p:nvSpPr>
        <p:spPr>
          <a:xfrm>
            <a:off x="841248" y="5404104"/>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Real feedback.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Each team's own questions drive what gets built next.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REALPAGE, FROM THE OUTSIDE</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Many products. One front door.</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5</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50+</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Companies acquired</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Over two decades. Multifamily Executive, interview with the CEO.</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64</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Products and agents</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In ten families, counted from the menu on realpage.com.</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42,000</a:t>
            </a:r>
            <a:endParaRPr lang="en-US" sz="40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Customers</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And 24 million units. RealPage press release, Cherre acquisition.</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FFB547"/>
                </a:solidFill>
                <a:latin typeface="Georgia" pitchFamily="34" charset="0"/>
                <a:ea typeface="Georgia" pitchFamily="34" charset="-122"/>
                <a:cs typeface="Georgia" pitchFamily="34" charset="-120"/>
              </a:rPr>
              <a:t>2</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Public support paths</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Split by who is asking, not by product. realpage.com/support.</a:t>
            </a:r>
            <a:endParaRPr lang="en-US" sz="1050" dirty="0"/>
          </a:p>
        </p:txBody>
      </p:sp>
      <p:sp>
        <p:nvSpPr>
          <p:cNvPr id="23" name="Text 20"/>
          <p:cNvSpPr/>
          <p:nvPr/>
        </p:nvSpPr>
        <p:spPr>
          <a:xfrm>
            <a:off x="640080" y="4069080"/>
            <a:ext cx="10911535" cy="548640"/>
          </a:xfrm>
          <a:prstGeom prst="rect">
            <a:avLst/>
          </a:prstGeom>
          <a:noFill/>
          <a:ln/>
        </p:spPr>
        <p:txBody>
          <a:bodyPr wrap="square" lIns="0" tIns="0" rIns="0" bIns="0" rtlCol="0" anchor="ctr"/>
          <a:lstStyle/>
          <a:p>
            <a:pPr indent="0" marL="0">
              <a:buNone/>
            </a:pPr>
            <a:r>
              <a:rPr lang="en-US" sz="2800" dirty="0">
                <a:solidFill>
                  <a:srgbClr val="E8EAF2"/>
                </a:solidFill>
                <a:latin typeface="Georgia" pitchFamily="34" charset="0"/>
                <a:ea typeface="Georgia" pitchFamily="34" charset="-122"/>
                <a:cs typeface="Georgia" pitchFamily="34" charset="-120"/>
              </a:rPr>
              <a:t>So every question has to find its owner.</a:t>
            </a:r>
            <a:endParaRPr lang="en-US" sz="2800" dirty="0"/>
          </a:p>
        </p:txBody>
      </p:sp>
      <p:sp>
        <p:nvSpPr>
          <p:cNvPr id="24" name="Text 21"/>
          <p:cNvSpPr/>
          <p:nvPr/>
        </p:nvSpPr>
        <p:spPr>
          <a:xfrm>
            <a:off x="640080" y="4709160"/>
            <a:ext cx="10911535" cy="365760"/>
          </a:xfrm>
          <a:prstGeom prst="rect">
            <a:avLst/>
          </a:prstGeom>
          <a:noFill/>
          <a:ln/>
        </p:spPr>
        <p:txBody>
          <a:bodyPr wrap="square" lIns="0" tIns="0" rIns="0" bIns="0" rtlCol="0" anchor="ctr"/>
          <a:lstStyle/>
          <a:p>
            <a:pPr indent="0" marL="0">
              <a:buNone/>
            </a:pPr>
            <a:r>
              <a:rPr lang="en-US" sz="1500" dirty="0">
                <a:solidFill>
                  <a:srgbClr val="9DA1B7"/>
                </a:solidFill>
                <a:latin typeface="Arial" pitchFamily="34" charset="0"/>
                <a:ea typeface="Arial" pitchFamily="34" charset="-122"/>
                <a:cs typeface="Arial" pitchFamily="34" charset="-120"/>
              </a:rPr>
              <a:t>I do not know how RealPage handles this internally. Everything here is built from public pages, and says so.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THE SAME APPROACH, FOR REALPAGE</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The same foundation in miniature, built in one day.</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6</a:t>
            </a:r>
            <a:endParaRPr lang="en-US" sz="900" dirty="0"/>
          </a:p>
        </p:txBody>
      </p:sp>
      <p:sp>
        <p:nvSpPr>
          <p:cNvPr id="7" name="Shape 4"/>
          <p:cNvSpPr/>
          <p:nvPr/>
        </p:nvSpPr>
        <p:spPr>
          <a:xfrm>
            <a:off x="640080" y="1783080"/>
            <a:ext cx="10911535" cy="932688"/>
          </a:xfrm>
          <a:prstGeom prst="roundRect">
            <a:avLst>
              <a:gd name="adj" fmla="val 5882"/>
            </a:avLst>
          </a:prstGeom>
          <a:solidFill>
            <a:srgbClr val="1C1E29"/>
          </a:solidFill>
          <a:ln w="9525">
            <a:solidFill>
              <a:srgbClr val="3A3E52"/>
            </a:solidFill>
            <a:prstDash val="solid"/>
          </a:ln>
        </p:spPr>
      </p:sp>
      <p:sp>
        <p:nvSpPr>
          <p:cNvPr id="8" name="Text 5"/>
          <p:cNvSpPr/>
          <p:nvPr/>
        </p:nvSpPr>
        <p:spPr>
          <a:xfrm>
            <a:off x="868680" y="1911096"/>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TEAMS</a:t>
            </a:r>
            <a:endParaRPr lang="en-US" sz="950" dirty="0"/>
          </a:p>
        </p:txBody>
      </p:sp>
      <p:sp>
        <p:nvSpPr>
          <p:cNvPr id="9" name="Text 6"/>
          <p:cNvSpPr/>
          <p:nvPr/>
        </p:nvSpPr>
        <p:spPr>
          <a:xfrm>
            <a:off x="868680" y="2148840"/>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Two profiles, one core</a:t>
            </a:r>
            <a:endParaRPr lang="en-US" sz="1700" dirty="0"/>
          </a:p>
        </p:txBody>
      </p:sp>
      <p:sp>
        <p:nvSpPr>
          <p:cNvPr id="10" name="Shape 7"/>
          <p:cNvSpPr/>
          <p:nvPr/>
        </p:nvSpPr>
        <p:spPr>
          <a:xfrm>
            <a:off x="3291840" y="1938528"/>
            <a:ext cx="2582570" cy="621792"/>
          </a:xfrm>
          <a:prstGeom prst="roundRect">
            <a:avLst>
              <a:gd name="adj" fmla="val 8824"/>
            </a:avLst>
          </a:prstGeom>
          <a:solidFill>
            <a:srgbClr val="14151C"/>
          </a:solidFill>
          <a:ln w="6350">
            <a:solidFill>
              <a:srgbClr val="3A3E52"/>
            </a:solidFill>
            <a:prstDash val="solid"/>
          </a:ln>
        </p:spPr>
      </p:sp>
      <p:sp>
        <p:nvSpPr>
          <p:cNvPr id="11" name="Text 8"/>
          <p:cNvSpPr/>
          <p:nvPr/>
        </p:nvSpPr>
        <p:spPr>
          <a:xfrm>
            <a:off x="3337560"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Support</a:t>
            </a:r>
            <a:endParaRPr lang="en-US" sz="1150" dirty="0"/>
          </a:p>
        </p:txBody>
      </p:sp>
      <p:sp>
        <p:nvSpPr>
          <p:cNvPr id="12" name="Shape 9"/>
          <p:cNvSpPr/>
          <p:nvPr/>
        </p:nvSpPr>
        <p:spPr>
          <a:xfrm>
            <a:off x="5984138" y="1938528"/>
            <a:ext cx="2582570" cy="621792"/>
          </a:xfrm>
          <a:prstGeom prst="roundRect">
            <a:avLst>
              <a:gd name="adj" fmla="val 8824"/>
            </a:avLst>
          </a:prstGeom>
          <a:solidFill>
            <a:srgbClr val="14151C"/>
          </a:solidFill>
          <a:ln w="6350">
            <a:solidFill>
              <a:srgbClr val="3A3E52"/>
            </a:solidFill>
            <a:prstDash val="solid"/>
          </a:ln>
        </p:spPr>
      </p:sp>
      <p:sp>
        <p:nvSpPr>
          <p:cNvPr id="13" name="Text 10"/>
          <p:cNvSpPr/>
          <p:nvPr/>
        </p:nvSpPr>
        <p:spPr>
          <a:xfrm>
            <a:off x="6029858"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Sales</a:t>
            </a:r>
            <a:endParaRPr lang="en-US" sz="1150" dirty="0"/>
          </a:p>
        </p:txBody>
      </p:sp>
      <p:sp>
        <p:nvSpPr>
          <p:cNvPr id="14" name="Shape 11"/>
          <p:cNvSpPr/>
          <p:nvPr/>
        </p:nvSpPr>
        <p:spPr>
          <a:xfrm>
            <a:off x="8676437" y="1938528"/>
            <a:ext cx="2582570" cy="621792"/>
          </a:xfrm>
          <a:prstGeom prst="roundRect">
            <a:avLst>
              <a:gd name="adj" fmla="val 8824"/>
            </a:avLst>
          </a:prstGeom>
          <a:solidFill>
            <a:srgbClr val="14151C"/>
          </a:solidFill>
          <a:ln w="6350">
            <a:solidFill>
              <a:srgbClr val="3A3E52"/>
            </a:solidFill>
            <a:prstDash val="solid"/>
          </a:ln>
        </p:spPr>
      </p:sp>
      <p:sp>
        <p:nvSpPr>
          <p:cNvPr id="15" name="Text 12"/>
          <p:cNvSpPr/>
          <p:nvPr/>
        </p:nvSpPr>
        <p:spPr>
          <a:xfrm>
            <a:off x="8722157"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Adding a team is adding a file</a:t>
            </a:r>
            <a:endParaRPr lang="en-US" sz="1150" dirty="0"/>
          </a:p>
        </p:txBody>
      </p:sp>
      <p:sp>
        <p:nvSpPr>
          <p:cNvPr id="16" name="Shape 13"/>
          <p:cNvSpPr/>
          <p:nvPr/>
        </p:nvSpPr>
        <p:spPr>
          <a:xfrm>
            <a:off x="640080" y="2843784"/>
            <a:ext cx="10911535" cy="932688"/>
          </a:xfrm>
          <a:prstGeom prst="roundRect">
            <a:avLst>
              <a:gd name="adj" fmla="val 5882"/>
            </a:avLst>
          </a:prstGeom>
          <a:solidFill>
            <a:srgbClr val="242735"/>
          </a:solidFill>
          <a:ln w="15875">
            <a:solidFill>
              <a:srgbClr val="635BFF"/>
            </a:solidFill>
            <a:prstDash val="solid"/>
          </a:ln>
        </p:spPr>
      </p:sp>
      <p:sp>
        <p:nvSpPr>
          <p:cNvPr id="17" name="Text 14"/>
          <p:cNvSpPr/>
          <p:nvPr/>
        </p:nvSpPr>
        <p:spPr>
          <a:xfrm>
            <a:off x="868680" y="2971800"/>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2</a:t>
            </a:r>
            <a:endParaRPr lang="en-US" sz="950" dirty="0"/>
          </a:p>
        </p:txBody>
      </p:sp>
      <p:sp>
        <p:nvSpPr>
          <p:cNvPr id="18" name="Text 15"/>
          <p:cNvSpPr/>
          <p:nvPr/>
        </p:nvSpPr>
        <p:spPr>
          <a:xfrm>
            <a:off x="868680" y="3209544"/>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Agent core</a:t>
            </a:r>
            <a:endParaRPr lang="en-US" sz="1700" dirty="0"/>
          </a:p>
        </p:txBody>
      </p:sp>
      <p:sp>
        <p:nvSpPr>
          <p:cNvPr id="19" name="Shape 16"/>
          <p:cNvSpPr/>
          <p:nvPr/>
        </p:nvSpPr>
        <p:spPr>
          <a:xfrm>
            <a:off x="3291840" y="2999232"/>
            <a:ext cx="1909496" cy="621792"/>
          </a:xfrm>
          <a:prstGeom prst="roundRect">
            <a:avLst>
              <a:gd name="adj" fmla="val 8824"/>
            </a:avLst>
          </a:prstGeom>
          <a:solidFill>
            <a:srgbClr val="14151C"/>
          </a:solidFill>
          <a:ln w="6350">
            <a:solidFill>
              <a:srgbClr val="3A3E52"/>
            </a:solidFill>
            <a:prstDash val="solid"/>
          </a:ln>
        </p:spPr>
      </p:sp>
      <p:sp>
        <p:nvSpPr>
          <p:cNvPr id="20" name="Text 17"/>
          <p:cNvSpPr/>
          <p:nvPr/>
        </p:nvSpPr>
        <p:spPr>
          <a:xfrm>
            <a:off x="3337560"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Decide</a:t>
            </a:r>
            <a:endParaRPr lang="en-US" sz="1150" dirty="0"/>
          </a:p>
        </p:txBody>
      </p:sp>
      <p:sp>
        <p:nvSpPr>
          <p:cNvPr id="21" name="Shape 18"/>
          <p:cNvSpPr/>
          <p:nvPr/>
        </p:nvSpPr>
        <p:spPr>
          <a:xfrm>
            <a:off x="5311064" y="2999232"/>
            <a:ext cx="1909496" cy="621792"/>
          </a:xfrm>
          <a:prstGeom prst="roundRect">
            <a:avLst>
              <a:gd name="adj" fmla="val 8824"/>
            </a:avLst>
          </a:prstGeom>
          <a:solidFill>
            <a:srgbClr val="14151C"/>
          </a:solidFill>
          <a:ln w="6350">
            <a:solidFill>
              <a:srgbClr val="3A3E52"/>
            </a:solidFill>
            <a:prstDash val="solid"/>
          </a:ln>
        </p:spPr>
      </p:sp>
      <p:sp>
        <p:nvSpPr>
          <p:cNvPr id="22" name="Text 19"/>
          <p:cNvSpPr/>
          <p:nvPr/>
        </p:nvSpPr>
        <p:spPr>
          <a:xfrm>
            <a:off x="5356784"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Find</a:t>
            </a:r>
            <a:endParaRPr lang="en-US" sz="1150" dirty="0"/>
          </a:p>
        </p:txBody>
      </p:sp>
      <p:sp>
        <p:nvSpPr>
          <p:cNvPr id="23" name="Shape 20"/>
          <p:cNvSpPr/>
          <p:nvPr/>
        </p:nvSpPr>
        <p:spPr>
          <a:xfrm>
            <a:off x="7330288" y="2999232"/>
            <a:ext cx="1909496" cy="621792"/>
          </a:xfrm>
          <a:prstGeom prst="roundRect">
            <a:avLst>
              <a:gd name="adj" fmla="val 8824"/>
            </a:avLst>
          </a:prstGeom>
          <a:solidFill>
            <a:srgbClr val="14151C"/>
          </a:solidFill>
          <a:ln w="6350">
            <a:solidFill>
              <a:srgbClr val="3A3E52"/>
            </a:solidFill>
            <a:prstDash val="solid"/>
          </a:ln>
        </p:spPr>
      </p:sp>
      <p:sp>
        <p:nvSpPr>
          <p:cNvPr id="24" name="Text 21"/>
          <p:cNvSpPr/>
          <p:nvPr/>
        </p:nvSpPr>
        <p:spPr>
          <a:xfrm>
            <a:off x="7376008"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Write</a:t>
            </a:r>
            <a:endParaRPr lang="en-US" sz="1150" dirty="0"/>
          </a:p>
        </p:txBody>
      </p:sp>
      <p:sp>
        <p:nvSpPr>
          <p:cNvPr id="25" name="Shape 22"/>
          <p:cNvSpPr/>
          <p:nvPr/>
        </p:nvSpPr>
        <p:spPr>
          <a:xfrm>
            <a:off x="9349511" y="2999232"/>
            <a:ext cx="1909496" cy="621792"/>
          </a:xfrm>
          <a:prstGeom prst="roundRect">
            <a:avLst>
              <a:gd name="adj" fmla="val 8824"/>
            </a:avLst>
          </a:prstGeom>
          <a:solidFill>
            <a:srgbClr val="14151C"/>
          </a:solidFill>
          <a:ln w="6350">
            <a:solidFill>
              <a:srgbClr val="3A3E52"/>
            </a:solidFill>
            <a:prstDash val="solid"/>
          </a:ln>
        </p:spPr>
      </p:sp>
      <p:sp>
        <p:nvSpPr>
          <p:cNvPr id="26" name="Text 23"/>
          <p:cNvSpPr/>
          <p:nvPr/>
        </p:nvSpPr>
        <p:spPr>
          <a:xfrm>
            <a:off x="9395231"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Check</a:t>
            </a:r>
            <a:endParaRPr lang="en-US" sz="1150" dirty="0"/>
          </a:p>
        </p:txBody>
      </p:sp>
      <p:sp>
        <p:nvSpPr>
          <p:cNvPr id="27" name="Shape 24"/>
          <p:cNvSpPr/>
          <p:nvPr/>
        </p:nvSpPr>
        <p:spPr>
          <a:xfrm>
            <a:off x="640080" y="3904488"/>
            <a:ext cx="10911535" cy="932688"/>
          </a:xfrm>
          <a:prstGeom prst="roundRect">
            <a:avLst>
              <a:gd name="adj" fmla="val 5882"/>
            </a:avLst>
          </a:prstGeom>
          <a:solidFill>
            <a:srgbClr val="242735"/>
          </a:solidFill>
          <a:ln w="15875">
            <a:solidFill>
              <a:srgbClr val="635BFF"/>
            </a:solidFill>
            <a:prstDash val="solid"/>
          </a:ln>
        </p:spPr>
      </p:sp>
      <p:sp>
        <p:nvSpPr>
          <p:cNvPr id="28" name="Text 25"/>
          <p:cNvSpPr/>
          <p:nvPr/>
        </p:nvSpPr>
        <p:spPr>
          <a:xfrm>
            <a:off x="868680" y="4032504"/>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1</a:t>
            </a:r>
            <a:endParaRPr lang="en-US" sz="950" dirty="0"/>
          </a:p>
        </p:txBody>
      </p:sp>
      <p:sp>
        <p:nvSpPr>
          <p:cNvPr id="29" name="Text 26"/>
          <p:cNvSpPr/>
          <p:nvPr/>
        </p:nvSpPr>
        <p:spPr>
          <a:xfrm>
            <a:off x="868680" y="4270248"/>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Knowledge layer</a:t>
            </a:r>
            <a:endParaRPr lang="en-US" sz="1700" dirty="0"/>
          </a:p>
        </p:txBody>
      </p:sp>
      <p:sp>
        <p:nvSpPr>
          <p:cNvPr id="30" name="Shape 27"/>
          <p:cNvSpPr/>
          <p:nvPr/>
        </p:nvSpPr>
        <p:spPr>
          <a:xfrm>
            <a:off x="3291840" y="4059936"/>
            <a:ext cx="2582570" cy="621792"/>
          </a:xfrm>
          <a:prstGeom prst="roundRect">
            <a:avLst>
              <a:gd name="adj" fmla="val 8824"/>
            </a:avLst>
          </a:prstGeom>
          <a:solidFill>
            <a:srgbClr val="14151C"/>
          </a:solidFill>
          <a:ln w="6350">
            <a:solidFill>
              <a:srgbClr val="3A3E52"/>
            </a:solidFill>
            <a:prstDash val="solid"/>
          </a:ln>
        </p:spPr>
      </p:sp>
      <p:sp>
        <p:nvSpPr>
          <p:cNvPr id="31" name="Text 28"/>
          <p:cNvSpPr/>
          <p:nvPr/>
        </p:nvSpPr>
        <p:spPr>
          <a:xfrm>
            <a:off x="3337560"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Company map: 166 markdown files</a:t>
            </a:r>
            <a:endParaRPr lang="en-US" sz="1150" dirty="0"/>
          </a:p>
        </p:txBody>
      </p:sp>
      <p:sp>
        <p:nvSpPr>
          <p:cNvPr id="32" name="Shape 29"/>
          <p:cNvSpPr/>
          <p:nvPr/>
        </p:nvSpPr>
        <p:spPr>
          <a:xfrm>
            <a:off x="5984138" y="4059936"/>
            <a:ext cx="2582570" cy="621792"/>
          </a:xfrm>
          <a:prstGeom prst="roundRect">
            <a:avLst>
              <a:gd name="adj" fmla="val 8824"/>
            </a:avLst>
          </a:prstGeom>
          <a:solidFill>
            <a:srgbClr val="14151C"/>
          </a:solidFill>
          <a:ln w="6350">
            <a:solidFill>
              <a:srgbClr val="3A3E52"/>
            </a:solidFill>
            <a:prstDash val="solid"/>
          </a:ln>
        </p:spPr>
      </p:sp>
      <p:sp>
        <p:nvSpPr>
          <p:cNvPr id="33" name="Text 30"/>
          <p:cNvSpPr/>
          <p:nvPr/>
        </p:nvSpPr>
        <p:spPr>
          <a:xfrm>
            <a:off x="6029858"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1,323 searchable passages</a:t>
            </a:r>
            <a:endParaRPr lang="en-US" sz="1150" dirty="0"/>
          </a:p>
        </p:txBody>
      </p:sp>
      <p:sp>
        <p:nvSpPr>
          <p:cNvPr id="34" name="Shape 31"/>
          <p:cNvSpPr/>
          <p:nvPr/>
        </p:nvSpPr>
        <p:spPr>
          <a:xfrm>
            <a:off x="8676437" y="4059936"/>
            <a:ext cx="2582570" cy="621792"/>
          </a:xfrm>
          <a:prstGeom prst="roundRect">
            <a:avLst>
              <a:gd name="adj" fmla="val 8824"/>
            </a:avLst>
          </a:prstGeom>
          <a:solidFill>
            <a:srgbClr val="14151C"/>
          </a:solidFill>
          <a:ln w="6350">
            <a:solidFill>
              <a:srgbClr val="3A3E52"/>
            </a:solidFill>
            <a:prstDash val="solid"/>
          </a:ln>
        </p:spPr>
      </p:sp>
      <p:sp>
        <p:nvSpPr>
          <p:cNvPr id="35" name="Text 32"/>
          <p:cNvSpPr/>
          <p:nvPr/>
        </p:nvSpPr>
        <p:spPr>
          <a:xfrm>
            <a:off x="8722157"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Every entity has its source</a:t>
            </a:r>
            <a:endParaRPr lang="en-US" sz="1150" dirty="0"/>
          </a:p>
        </p:txBody>
      </p:sp>
      <p:sp>
        <p:nvSpPr>
          <p:cNvPr id="36" name="Shape 33"/>
          <p:cNvSpPr/>
          <p:nvPr/>
        </p:nvSpPr>
        <p:spPr>
          <a:xfrm>
            <a:off x="640080" y="4965192"/>
            <a:ext cx="10911535" cy="932688"/>
          </a:xfrm>
          <a:prstGeom prst="roundRect">
            <a:avLst>
              <a:gd name="adj" fmla="val 5882"/>
            </a:avLst>
          </a:prstGeom>
          <a:solidFill>
            <a:srgbClr val="1C1E29"/>
          </a:solidFill>
          <a:ln w="9525">
            <a:solidFill>
              <a:srgbClr val="3A3E52"/>
            </a:solidFill>
            <a:prstDash val="solid"/>
          </a:ln>
        </p:spPr>
      </p:sp>
      <p:sp>
        <p:nvSpPr>
          <p:cNvPr id="37" name="Text 34"/>
          <p:cNvSpPr/>
          <p:nvPr/>
        </p:nvSpPr>
        <p:spPr>
          <a:xfrm>
            <a:off x="868680" y="5093208"/>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CONNECTOR</a:t>
            </a:r>
            <a:endParaRPr lang="en-US" sz="950" dirty="0"/>
          </a:p>
        </p:txBody>
      </p:sp>
      <p:sp>
        <p:nvSpPr>
          <p:cNvPr id="38" name="Text 35"/>
          <p:cNvSpPr/>
          <p:nvPr/>
        </p:nvSpPr>
        <p:spPr>
          <a:xfrm>
            <a:off x="868680" y="5330952"/>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Public site, today</a:t>
            </a:r>
            <a:endParaRPr lang="en-US" sz="1700" dirty="0"/>
          </a:p>
        </p:txBody>
      </p:sp>
      <p:sp>
        <p:nvSpPr>
          <p:cNvPr id="39" name="Shape 36"/>
          <p:cNvSpPr/>
          <p:nvPr/>
        </p:nvSpPr>
        <p:spPr>
          <a:xfrm>
            <a:off x="3291840" y="5120640"/>
            <a:ext cx="2582570" cy="621792"/>
          </a:xfrm>
          <a:prstGeom prst="roundRect">
            <a:avLst>
              <a:gd name="adj" fmla="val 8824"/>
            </a:avLst>
          </a:prstGeom>
          <a:solidFill>
            <a:srgbClr val="14151C"/>
          </a:solidFill>
          <a:ln w="6350">
            <a:solidFill>
              <a:srgbClr val="3A3E52"/>
            </a:solidFill>
            <a:prstDash val="solid"/>
          </a:ln>
        </p:spPr>
      </p:sp>
      <p:sp>
        <p:nvSpPr>
          <p:cNvPr id="40" name="Text 37"/>
          <p:cNvSpPr/>
          <p:nvPr/>
        </p:nvSpPr>
        <p:spPr>
          <a:xfrm>
            <a:off x="3337560"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221 public pages</a:t>
            </a:r>
            <a:endParaRPr lang="en-US" sz="1150" dirty="0"/>
          </a:p>
        </p:txBody>
      </p:sp>
      <p:sp>
        <p:nvSpPr>
          <p:cNvPr id="41" name="Shape 38"/>
          <p:cNvSpPr/>
          <p:nvPr/>
        </p:nvSpPr>
        <p:spPr>
          <a:xfrm>
            <a:off x="5984138" y="5120640"/>
            <a:ext cx="2582570" cy="621792"/>
          </a:xfrm>
          <a:prstGeom prst="roundRect">
            <a:avLst>
              <a:gd name="adj" fmla="val 8824"/>
            </a:avLst>
          </a:prstGeom>
          <a:solidFill>
            <a:srgbClr val="14151C"/>
          </a:solidFill>
          <a:ln w="6350">
            <a:solidFill>
              <a:srgbClr val="3A3E52"/>
            </a:solidFill>
            <a:prstDash val="solid"/>
          </a:ln>
        </p:spPr>
      </p:sp>
      <p:sp>
        <p:nvSpPr>
          <p:cNvPr id="42" name="Text 39"/>
          <p:cNvSpPr/>
          <p:nvPr/>
        </p:nvSpPr>
        <p:spPr>
          <a:xfrm>
            <a:off x="6029858"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Read from the site's own menu</a:t>
            </a:r>
            <a:endParaRPr lang="en-US" sz="1150" dirty="0"/>
          </a:p>
        </p:txBody>
      </p:sp>
      <p:sp>
        <p:nvSpPr>
          <p:cNvPr id="43" name="Shape 40"/>
          <p:cNvSpPr/>
          <p:nvPr/>
        </p:nvSpPr>
        <p:spPr>
          <a:xfrm>
            <a:off x="8676437" y="5120640"/>
            <a:ext cx="2582570" cy="621792"/>
          </a:xfrm>
          <a:prstGeom prst="roundRect">
            <a:avLst>
              <a:gd name="adj" fmla="val 8824"/>
            </a:avLst>
          </a:prstGeom>
          <a:solidFill>
            <a:srgbClr val="14151C"/>
          </a:solidFill>
          <a:ln w="6350">
            <a:solidFill>
              <a:srgbClr val="3A3E52"/>
            </a:solidFill>
            <a:prstDash val="solid"/>
          </a:ln>
        </p:spPr>
      </p:sp>
      <p:sp>
        <p:nvSpPr>
          <p:cNvPr id="44" name="Text 41"/>
          <p:cNvSpPr/>
          <p:nvPr/>
        </p:nvSpPr>
        <p:spPr>
          <a:xfrm>
            <a:off x="8722157"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Day one: swap in internal sources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DEMO</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Four things to watch.</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7</a:t>
            </a:r>
            <a:endParaRPr lang="en-US" sz="900" dirty="0"/>
          </a:p>
        </p:txBody>
      </p:sp>
      <p:sp>
        <p:nvSpPr>
          <p:cNvPr id="7" name="Shape 4"/>
          <p:cNvSpPr/>
          <p:nvPr/>
        </p:nvSpPr>
        <p:spPr>
          <a:xfrm>
            <a:off x="5047488" y="1664208"/>
            <a:ext cx="6547104" cy="4112514"/>
          </a:xfrm>
          <a:prstGeom prst="rect">
            <a:avLst/>
          </a:prstGeom>
          <a:solidFill>
            <a:srgbClr val="3A3E52"/>
          </a:solidFill>
          <a:ln w="12700">
            <a:solidFill>
              <a:srgbClr val="3A3E52"/>
            </a:solidFill>
            <a:prstDash val="solid"/>
          </a:ln>
        </p:spPr>
      </p:sp>
      <p:pic>
        <p:nvPicPr>
          <p:cNvPr id="8" name="Image 0" descr="/Users/hamzasaraswat/Documents/Projects/RP_Demo/deck/shots/answer-trace.png">    </p:cNvPr>
          <p:cNvPicPr>
            <a:picLocks noChangeAspect="1"/>
          </p:cNvPicPr>
          <p:nvPr/>
        </p:nvPicPr>
        <p:blipFill>
          <a:blip r:embed="rId1"/>
          <a:stretch>
            <a:fillRect/>
          </a:stretch>
        </p:blipFill>
        <p:spPr>
          <a:xfrm>
            <a:off x="5074920" y="1691640"/>
            <a:ext cx="6492240" cy="4057650"/>
          </a:xfrm>
          <a:prstGeom prst="rect">
            <a:avLst/>
          </a:prstGeom>
        </p:spPr>
      </p:pic>
      <p:sp>
        <p:nvSpPr>
          <p:cNvPr id="9" name="Shape 5"/>
          <p:cNvSpPr/>
          <p:nvPr/>
        </p:nvSpPr>
        <p:spPr>
          <a:xfrm>
            <a:off x="640080" y="1847088"/>
            <a:ext cx="45720" cy="713232"/>
          </a:xfrm>
          <a:prstGeom prst="rect">
            <a:avLst/>
          </a:prstGeom>
          <a:solidFill>
            <a:srgbClr val="635BFF"/>
          </a:solidFill>
          <a:ln w="12700">
            <a:solidFill>
              <a:srgbClr val="635BFF"/>
            </a:solidFill>
            <a:prstDash val="solid"/>
          </a:ln>
        </p:spPr>
      </p:sp>
      <p:sp>
        <p:nvSpPr>
          <p:cNvPr id="10" name="Text 6"/>
          <p:cNvSpPr/>
          <p:nvPr/>
        </p:nvSpPr>
        <p:spPr>
          <a:xfrm>
            <a:off x="841248" y="1783080"/>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Routing as I type.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The first decision runs on every pause, before I send.</a:t>
            </a:r>
            <a:endParaRPr lang="en-US" sz="1500" dirty="0"/>
          </a:p>
        </p:txBody>
      </p:sp>
      <p:sp>
        <p:nvSpPr>
          <p:cNvPr id="11" name="Shape 7"/>
          <p:cNvSpPr/>
          <p:nvPr/>
        </p:nvSpPr>
        <p:spPr>
          <a:xfrm>
            <a:off x="640080" y="2834640"/>
            <a:ext cx="45720" cy="713232"/>
          </a:xfrm>
          <a:prstGeom prst="rect">
            <a:avLst/>
          </a:prstGeom>
          <a:solidFill>
            <a:srgbClr val="635BFF"/>
          </a:solidFill>
          <a:ln w="12700">
            <a:solidFill>
              <a:srgbClr val="635BFF"/>
            </a:solidFill>
            <a:prstDash val="solid"/>
          </a:ln>
        </p:spPr>
      </p:sp>
      <p:sp>
        <p:nvSpPr>
          <p:cNvPr id="12" name="Text 8"/>
          <p:cNvSpPr/>
          <p:nvPr/>
        </p:nvSpPr>
        <p:spPr>
          <a:xfrm>
            <a:off x="841248" y="2770632"/>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An answer.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Each sentence is checked against the source it cites.</a:t>
            </a:r>
            <a:endParaRPr lang="en-US" sz="1500" dirty="0"/>
          </a:p>
        </p:txBody>
      </p:sp>
      <p:sp>
        <p:nvSpPr>
          <p:cNvPr id="13" name="Shape 9"/>
          <p:cNvSpPr/>
          <p:nvPr/>
        </p:nvSpPr>
        <p:spPr>
          <a:xfrm>
            <a:off x="640080" y="3822192"/>
            <a:ext cx="45720" cy="713232"/>
          </a:xfrm>
          <a:prstGeom prst="rect">
            <a:avLst/>
          </a:prstGeom>
          <a:solidFill>
            <a:srgbClr val="635BFF"/>
          </a:solidFill>
          <a:ln w="12700">
            <a:solidFill>
              <a:srgbClr val="635BFF"/>
            </a:solidFill>
            <a:prstDash val="solid"/>
          </a:ln>
        </p:spPr>
      </p:sp>
      <p:sp>
        <p:nvSpPr>
          <p:cNvPr id="14" name="Text 10"/>
          <p:cNvSpPr/>
          <p:nvPr/>
        </p:nvSpPr>
        <p:spPr>
          <a:xfrm>
            <a:off x="841248" y="3758184"/>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 handoff.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It says who owns this, and passes along what it found.</a:t>
            </a:r>
            <a:endParaRPr lang="en-US" sz="1500" dirty="0"/>
          </a:p>
        </p:txBody>
      </p:sp>
      <p:sp>
        <p:nvSpPr>
          <p:cNvPr id="15" name="Shape 11"/>
          <p:cNvSpPr/>
          <p:nvPr/>
        </p:nvSpPr>
        <p:spPr>
          <a:xfrm>
            <a:off x="640080" y="4809744"/>
            <a:ext cx="45720" cy="713232"/>
          </a:xfrm>
          <a:prstGeom prst="rect">
            <a:avLst/>
          </a:prstGeom>
          <a:solidFill>
            <a:srgbClr val="635BFF"/>
          </a:solidFill>
          <a:ln w="12700">
            <a:solidFill>
              <a:srgbClr val="635BFF"/>
            </a:solidFill>
            <a:prstDash val="solid"/>
          </a:ln>
        </p:spPr>
      </p:sp>
      <p:sp>
        <p:nvSpPr>
          <p:cNvPr id="16" name="Text 12"/>
          <p:cNvSpPr/>
          <p:nvPr/>
        </p:nvSpPr>
        <p:spPr>
          <a:xfrm>
            <a:off x="841248" y="4745736"/>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 team switch.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Same core. Different sources and guidance.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1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Jev decides. Claude writes. Code owns the rules.</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8</a:t>
            </a:r>
            <a:endParaRPr lang="en-US" sz="900" dirty="0"/>
          </a:p>
        </p:txBody>
      </p:sp>
      <p:sp>
        <p:nvSpPr>
          <p:cNvPr id="7" name="Shape 4"/>
          <p:cNvSpPr/>
          <p:nvPr/>
        </p:nvSpPr>
        <p:spPr>
          <a:xfrm>
            <a:off x="640080" y="1783080"/>
            <a:ext cx="3484778" cy="2514600"/>
          </a:xfrm>
          <a:prstGeom prst="roundRect">
            <a:avLst>
              <a:gd name="adj" fmla="val 2182"/>
            </a:avLst>
          </a:prstGeom>
          <a:solidFill>
            <a:srgbClr val="1C1E29"/>
          </a:solidFill>
          <a:ln w="9525">
            <a:solidFill>
              <a:srgbClr val="3A3E52"/>
            </a:solidFill>
            <a:prstDash val="solid"/>
          </a:ln>
        </p:spPr>
      </p:sp>
      <p:sp>
        <p:nvSpPr>
          <p:cNvPr id="8" name="Text 5"/>
          <p:cNvSpPr/>
          <p:nvPr/>
        </p:nvSpPr>
        <p:spPr>
          <a:xfrm>
            <a:off x="868680" y="1920240"/>
            <a:ext cx="3027578" cy="256032"/>
          </a:xfrm>
          <a:prstGeom prst="rect">
            <a:avLst/>
          </a:prstGeom>
          <a:noFill/>
          <a:ln/>
        </p:spPr>
        <p:txBody>
          <a:bodyPr wrap="square" lIns="0" tIns="0" rIns="0" bIns="0" rtlCol="0" anchor="ctr"/>
          <a:lstStyle/>
          <a:p>
            <a:pPr indent="0" marL="0">
              <a:buNone/>
            </a:pPr>
            <a:r>
              <a:rPr lang="en-US" sz="1100" b="1" spc="300" kern="0" dirty="0">
                <a:solidFill>
                  <a:srgbClr val="9DA1B7"/>
                </a:solidFill>
                <a:latin typeface="Courier New" pitchFamily="34" charset="0"/>
                <a:ea typeface="Courier New" pitchFamily="34" charset="-122"/>
                <a:cs typeface="Courier New" pitchFamily="34" charset="-120"/>
              </a:rPr>
              <a:t>CODE</a:t>
            </a:r>
            <a:endParaRPr lang="en-US" sz="1100" dirty="0"/>
          </a:p>
        </p:txBody>
      </p:sp>
      <p:sp>
        <p:nvSpPr>
          <p:cNvPr id="9" name="Text 6"/>
          <p:cNvSpPr/>
          <p:nvPr/>
        </p:nvSpPr>
        <p:spPr>
          <a:xfrm>
            <a:off x="868680"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Owns the rules</a:t>
            </a:r>
            <a:endParaRPr lang="en-US" sz="2100" dirty="0"/>
          </a:p>
        </p:txBody>
      </p:sp>
      <p:sp>
        <p:nvSpPr>
          <p:cNvPr id="10" name="Text 7"/>
          <p:cNvSpPr/>
          <p:nvPr/>
        </p:nvSpPr>
        <p:spPr>
          <a:xfrm>
            <a:off x="868680"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Notices product names</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Runs the keyword search</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Decides what ships</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Every outcome is unit tested</a:t>
            </a:r>
            <a:endParaRPr lang="en-US" sz="1300" dirty="0"/>
          </a:p>
        </p:txBody>
      </p:sp>
      <p:sp>
        <p:nvSpPr>
          <p:cNvPr id="11" name="Shape 8"/>
          <p:cNvSpPr/>
          <p:nvPr/>
        </p:nvSpPr>
        <p:spPr>
          <a:xfrm>
            <a:off x="4353458" y="1783080"/>
            <a:ext cx="3484778" cy="2514600"/>
          </a:xfrm>
          <a:prstGeom prst="roundRect">
            <a:avLst>
              <a:gd name="adj" fmla="val 2182"/>
            </a:avLst>
          </a:prstGeom>
          <a:solidFill>
            <a:srgbClr val="1C1E29"/>
          </a:solidFill>
          <a:ln w="9525">
            <a:solidFill>
              <a:srgbClr val="3A3E52"/>
            </a:solidFill>
            <a:prstDash val="solid"/>
          </a:ln>
        </p:spPr>
      </p:sp>
      <p:sp>
        <p:nvSpPr>
          <p:cNvPr id="12" name="Text 9"/>
          <p:cNvSpPr/>
          <p:nvPr/>
        </p:nvSpPr>
        <p:spPr>
          <a:xfrm>
            <a:off x="4582058" y="1920240"/>
            <a:ext cx="3027578" cy="256032"/>
          </a:xfrm>
          <a:prstGeom prst="rect">
            <a:avLst/>
          </a:prstGeom>
          <a:noFill/>
          <a:ln/>
        </p:spPr>
        <p:txBody>
          <a:bodyPr wrap="square" lIns="0" tIns="0" rIns="0" bIns="0" rtlCol="0" anchor="ctr"/>
          <a:lstStyle/>
          <a:p>
            <a:pPr indent="0" marL="0">
              <a:buNone/>
            </a:pPr>
            <a:r>
              <a:rPr lang="en-US" sz="1100" b="1" spc="300" kern="0" dirty="0">
                <a:solidFill>
                  <a:srgbClr val="80E9FF"/>
                </a:solidFill>
                <a:latin typeface="Courier New" pitchFamily="34" charset="0"/>
                <a:ea typeface="Courier New" pitchFamily="34" charset="-122"/>
                <a:cs typeface="Courier New" pitchFamily="34" charset="-120"/>
              </a:rPr>
              <a:t>JEV</a:t>
            </a:r>
            <a:endParaRPr lang="en-US" sz="1100" dirty="0"/>
          </a:p>
        </p:txBody>
      </p:sp>
      <p:sp>
        <p:nvSpPr>
          <p:cNvPr id="13" name="Text 10"/>
          <p:cNvSpPr/>
          <p:nvPr/>
        </p:nvSpPr>
        <p:spPr>
          <a:xfrm>
            <a:off x="4582058"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Makes each judgment</a:t>
            </a:r>
            <a:endParaRPr lang="en-US" sz="2100" dirty="0"/>
          </a:p>
        </p:txBody>
      </p:sp>
      <p:sp>
        <p:nvSpPr>
          <p:cNvPr id="14" name="Text 11"/>
          <p:cNvSpPr/>
          <p:nvPr/>
        </p:nvSpPr>
        <p:spPr>
          <a:xfrm>
            <a:off x="4582058"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Which family and product</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Does this passage hold evidence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Does this sentence match its source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Returns a probability, in about 250 ms</a:t>
            </a:r>
            <a:endParaRPr lang="en-US" sz="1300" dirty="0"/>
          </a:p>
        </p:txBody>
      </p:sp>
      <p:sp>
        <p:nvSpPr>
          <p:cNvPr id="15" name="Shape 12"/>
          <p:cNvSpPr/>
          <p:nvPr/>
        </p:nvSpPr>
        <p:spPr>
          <a:xfrm>
            <a:off x="8066837" y="1783080"/>
            <a:ext cx="3484778" cy="2514600"/>
          </a:xfrm>
          <a:prstGeom prst="roundRect">
            <a:avLst>
              <a:gd name="adj" fmla="val 2182"/>
            </a:avLst>
          </a:prstGeom>
          <a:solidFill>
            <a:srgbClr val="1C1E29"/>
          </a:solidFill>
          <a:ln w="9525">
            <a:solidFill>
              <a:srgbClr val="3A3E52"/>
            </a:solidFill>
            <a:prstDash val="solid"/>
          </a:ln>
        </p:spPr>
      </p:sp>
      <p:sp>
        <p:nvSpPr>
          <p:cNvPr id="16" name="Text 13"/>
          <p:cNvSpPr/>
          <p:nvPr/>
        </p:nvSpPr>
        <p:spPr>
          <a:xfrm>
            <a:off x="8295437" y="1920240"/>
            <a:ext cx="3027578" cy="256032"/>
          </a:xfrm>
          <a:prstGeom prst="rect">
            <a:avLst/>
          </a:prstGeom>
          <a:noFill/>
          <a:ln/>
        </p:spPr>
        <p:txBody>
          <a:bodyPr wrap="square" lIns="0" tIns="0" rIns="0" bIns="0" rtlCol="0" anchor="ctr"/>
          <a:lstStyle/>
          <a:p>
            <a:pPr indent="0" marL="0">
              <a:buNone/>
            </a:pPr>
            <a:r>
              <a:rPr lang="en-US" sz="1100" b="1" spc="300" kern="0" dirty="0">
                <a:solidFill>
                  <a:srgbClr val="FFB547"/>
                </a:solidFill>
                <a:latin typeface="Courier New" pitchFamily="34" charset="0"/>
                <a:ea typeface="Courier New" pitchFamily="34" charset="-122"/>
                <a:cs typeface="Courier New" pitchFamily="34" charset="-120"/>
              </a:rPr>
              <a:t>CLAUDE</a:t>
            </a:r>
            <a:endParaRPr lang="en-US" sz="1100" dirty="0"/>
          </a:p>
        </p:txBody>
      </p:sp>
      <p:sp>
        <p:nvSpPr>
          <p:cNvPr id="17" name="Text 14"/>
          <p:cNvSpPr/>
          <p:nvPr/>
        </p:nvSpPr>
        <p:spPr>
          <a:xfrm>
            <a:off x="8295437"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Writes</a:t>
            </a:r>
            <a:endParaRPr lang="en-US" sz="2100" dirty="0"/>
          </a:p>
        </p:txBody>
      </p:sp>
      <p:sp>
        <p:nvSpPr>
          <p:cNvPr id="18" name="Text 15"/>
          <p:cNvSpPr/>
          <p:nvPr/>
        </p:nvSpPr>
        <p:spPr>
          <a:xfrm>
            <a:off x="8295437"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Only from passages that passed</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Cites every sentence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Says what the sources do not cover</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Never decides anything</a:t>
            </a:r>
            <a:endParaRPr lang="en-US" sz="1300" dirty="0"/>
          </a:p>
        </p:txBody>
      </p:sp>
      <p:sp>
        <p:nvSpPr>
          <p:cNvPr id="19" name="Shape 16"/>
          <p:cNvSpPr/>
          <p:nvPr/>
        </p:nvSpPr>
        <p:spPr>
          <a:xfrm>
            <a:off x="640080" y="4636008"/>
            <a:ext cx="45720" cy="438912"/>
          </a:xfrm>
          <a:prstGeom prst="rect">
            <a:avLst/>
          </a:prstGeom>
          <a:solidFill>
            <a:srgbClr val="635BFF"/>
          </a:solidFill>
          <a:ln w="12700">
            <a:solidFill>
              <a:srgbClr val="635BFF"/>
            </a:solidFill>
            <a:prstDash val="solid"/>
          </a:ln>
        </p:spPr>
      </p:sp>
      <p:sp>
        <p:nvSpPr>
          <p:cNvPr id="20" name="Text 17"/>
          <p:cNvSpPr/>
          <p:nvPr/>
        </p:nvSpPr>
        <p:spPr>
          <a:xfrm>
            <a:off x="841248" y="4572000"/>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Questions come from real misses.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I rewrite a check when a real question fools it, not before.</a:t>
            </a:r>
            <a:endParaRPr lang="en-US" sz="1500" dirty="0"/>
          </a:p>
        </p:txBody>
      </p:sp>
      <p:sp>
        <p:nvSpPr>
          <p:cNvPr id="21" name="Shape 18"/>
          <p:cNvSpPr/>
          <p:nvPr/>
        </p:nvSpPr>
        <p:spPr>
          <a:xfrm>
            <a:off x="640080" y="5349240"/>
            <a:ext cx="45720" cy="438912"/>
          </a:xfrm>
          <a:prstGeom prst="rect">
            <a:avLst/>
          </a:prstGeom>
          <a:solidFill>
            <a:srgbClr val="635BFF"/>
          </a:solidFill>
          <a:ln w="12700">
            <a:solidFill>
              <a:srgbClr val="635BFF"/>
            </a:solidFill>
            <a:prstDash val="solid"/>
          </a:ln>
        </p:spPr>
      </p:sp>
      <p:sp>
        <p:nvSpPr>
          <p:cNvPr id="22" name="Text 19"/>
          <p:cNvSpPr/>
          <p:nvPr/>
        </p:nvSpPr>
        <p:spPr>
          <a:xfrm>
            <a:off x="841248" y="5285232"/>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It fails closed.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A sentence with no source is deleted. A check that errors counts as no.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2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Retrieval: I picked the rung the numbers supported.</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3566160"/>
                <a:gridCol w="3566160"/>
                <a:gridCol w="3779215"/>
              </a:tblGrid>
              <a:tr h="512064">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OPTION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WHAT IT ADDS</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USE IT WHEN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1  Keyword search + evidence check</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Nothing to run. Exact names and terms.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People use the words the docs use. Chosen here.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2  Query rewriting</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A model turns a messy question into search terms.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People use different words, or internal jargon.</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3  Hybrid: keyword, then embeddings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Meaning, not only words.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Questions are conceptual and content is stable.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4  Embed on the fly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Always fresh. Slower per query.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Content changes every day.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5  Hot and cold tiers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Pre-embed the popular 20%.</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Large corpus with clear traffic patterns.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6  Full vector database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Fastest at scale. Costly to re-embed.</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Over 10,000 queries a day, stable corpus.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bl>
          </a:graphicData>
        </a:graphic>
      </p:graphicFrame>
      <p:sp>
        <p:nvSpPr>
          <p:cNvPr id="8" name="Text 4"/>
          <p:cNvSpPr/>
          <p:nvPr/>
        </p:nvSpPr>
        <p:spPr>
          <a:xfrm>
            <a:off x="640080" y="5532120"/>
            <a:ext cx="10911535" cy="548640"/>
          </a:xfrm>
          <a:prstGeom prst="rect">
            <a:avLst/>
          </a:prstGeom>
          <a:noFill/>
          <a:ln/>
        </p:spPr>
        <p:txBody>
          <a:bodyPr wrap="square" lIns="0" tIns="0" rIns="0" bIns="0" rtlCol="0" anchor="t"/>
          <a:lstStyle/>
          <a:p>
            <a:pPr indent="0" marL="0">
              <a:buNone/>
            </a:pPr>
            <a:r>
              <a:rPr lang="en-US" sz="1400" b="1" dirty="0">
                <a:solidFill>
                  <a:srgbClr val="E8EAF2"/>
                </a:solidFill>
                <a:latin typeface="Arial" pitchFamily="34" charset="0"/>
                <a:ea typeface="Arial" pitchFamily="34" charset="-122"/>
                <a:cs typeface="Arial" pitchFamily="34" charset="-120"/>
              </a:rPr>
              <a:t>My trigger to move up:  </a:t>
            </a:r>
            <a:pPr indent="0" marL="0">
              <a:buNone/>
            </a:pPr>
            <a:r>
              <a:rPr lang="en-US" sz="1400" dirty="0">
                <a:solidFill>
                  <a:srgbClr val="9DA1B7"/>
                </a:solidFill>
                <a:latin typeface="Arial" pitchFamily="34" charset="0"/>
                <a:ea typeface="Arial" pitchFamily="34" charset="-122"/>
                <a:cs typeface="Arial" pitchFamily="34" charset="-120"/>
              </a:rPr>
              <a:t>the right page missing for more than 15% of answerable questions. Set before the first run. It did not fire.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3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Knowledge store: markdown files a person can read.</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3566160"/>
                <a:gridCol w="7345375"/>
              </a:tblGrid>
              <a:tr h="566928">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OPTION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USE IT WHEN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1  Markdown files, linked</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Hundreds to a few thousand entities that people need to read and correct. Chosen here.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2  Generated graph</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You have mixed material and want to discover structure you do not know yet.</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3  Graph database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You need multi-hop queries across millions of relationships.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4  Managed knowledge platform</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Many live sources with permissions: chat, tickets, wiki. What I run in production.</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bl>
          </a:graphicData>
        </a:graphic>
      </p:graphicFrame>
      <p:sp>
        <p:nvSpPr>
          <p:cNvPr id="8" name="Shape 4"/>
          <p:cNvSpPr/>
          <p:nvPr/>
        </p:nvSpPr>
        <p:spPr>
          <a:xfrm>
            <a:off x="640080" y="5138928"/>
            <a:ext cx="45720" cy="365760"/>
          </a:xfrm>
          <a:prstGeom prst="rect">
            <a:avLst/>
          </a:prstGeom>
          <a:solidFill>
            <a:srgbClr val="635BFF"/>
          </a:solidFill>
          <a:ln w="12700">
            <a:solidFill>
              <a:srgbClr val="635BFF"/>
            </a:solidFill>
            <a:prstDash val="solid"/>
          </a:ln>
        </p:spPr>
      </p:sp>
      <p:sp>
        <p:nvSpPr>
          <p:cNvPr id="9" name="Text 5"/>
          <p:cNvSpPr/>
          <p:nvPr/>
        </p:nvSpPr>
        <p:spPr>
          <a:xfrm>
            <a:off x="841248" y="5074920"/>
            <a:ext cx="10710367" cy="530352"/>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Structure is never guessed.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Families and products come from the site's own menu, read by code.</a:t>
            </a:r>
            <a:endParaRPr lang="en-US" sz="1450" dirty="0"/>
          </a:p>
        </p:txBody>
      </p:sp>
      <p:sp>
        <p:nvSpPr>
          <p:cNvPr id="10" name="Shape 6"/>
          <p:cNvSpPr/>
          <p:nvPr/>
        </p:nvSpPr>
        <p:spPr>
          <a:xfrm>
            <a:off x="640080" y="5779008"/>
            <a:ext cx="45720" cy="365760"/>
          </a:xfrm>
          <a:prstGeom prst="rect">
            <a:avLst/>
          </a:prstGeom>
          <a:solidFill>
            <a:srgbClr val="635BFF"/>
          </a:solidFill>
          <a:ln w="12700">
            <a:solidFill>
              <a:srgbClr val="635BFF"/>
            </a:solidFill>
            <a:prstDash val="solid"/>
          </a:ln>
        </p:spPr>
      </p:sp>
      <p:sp>
        <p:nvSpPr>
          <p:cNvPr id="11" name="Text 7"/>
          <p:cNvSpPr/>
          <p:nvPr/>
        </p:nvSpPr>
        <p:spPr>
          <a:xfrm>
            <a:off x="841248" y="5715000"/>
            <a:ext cx="10710367" cy="530352"/>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Uncertainty is written down.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Where Jev placed a product, its confidence is on the file. Two are flagged for a person.</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RESULTS</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9 of 10 on questions it had never seen.</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11</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00D4AA"/>
                </a:solidFill>
                <a:latin typeface="Georgia" pitchFamily="34" charset="0"/>
                <a:ea typeface="Georgia" pitchFamily="34" charset="-122"/>
                <a:cs typeface="Georgia" pitchFamily="34" charset="-120"/>
              </a:rPr>
              <a:t>9/10</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Held-out questions</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Written after tuning stopped, committed, then run once.</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80E9FF"/>
                </a:solidFill>
                <a:latin typeface="Georgia" pitchFamily="34" charset="0"/>
                <a:ea typeface="Georgia" pitchFamily="34" charset="-122"/>
                <a:cs typeface="Georgia" pitchFamily="34" charset="-120"/>
              </a:rPr>
              <a:t>0</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Wrongly answered</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Across all 16 questions that needed a person.</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3400" dirty="0">
                <a:solidFill>
                  <a:srgbClr val="E8EAF2"/>
                </a:solidFill>
                <a:latin typeface="Georgia" pitchFamily="34" charset="0"/>
                <a:ea typeface="Georgia" pitchFamily="34" charset="-122"/>
                <a:cs typeface="Georgia" pitchFamily="34" charset="-120"/>
              </a:rPr>
              <a:t>28, 29, 30</a:t>
            </a:r>
            <a:endParaRPr lang="en-US" sz="34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Of 30, across three drafts</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Tuning questions. Draft 2 fixed two misses and caused one.</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4.9 s</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Median time to an answer</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About $0.004 per question, all calls included.</a:t>
            </a:r>
            <a:endParaRPr lang="en-US" sz="1050" dirty="0"/>
          </a:p>
        </p:txBody>
      </p:sp>
      <p:sp>
        <p:nvSpPr>
          <p:cNvPr id="23" name="Shape 20"/>
          <p:cNvSpPr/>
          <p:nvPr/>
        </p:nvSpPr>
        <p:spPr>
          <a:xfrm>
            <a:off x="640080" y="3995928"/>
            <a:ext cx="45720" cy="438912"/>
          </a:xfrm>
          <a:prstGeom prst="rect">
            <a:avLst/>
          </a:prstGeom>
          <a:solidFill>
            <a:srgbClr val="635BFF"/>
          </a:solidFill>
          <a:ln w="12700">
            <a:solidFill>
              <a:srgbClr val="635BFF"/>
            </a:solidFill>
            <a:prstDash val="solid"/>
          </a:ln>
        </p:spPr>
      </p:sp>
      <p:sp>
        <p:nvSpPr>
          <p:cNvPr id="24" name="Text 21"/>
          <p:cNvSpPr/>
          <p:nvPr/>
        </p:nvSpPr>
        <p:spPr>
          <a:xfrm>
            <a:off x="841248" y="3931920"/>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The miss.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A question about published customer results went to a person. Safe, but a colleague would have answered it.</a:t>
            </a:r>
            <a:endParaRPr lang="en-US" sz="1450" dirty="0"/>
          </a:p>
        </p:txBody>
      </p:sp>
      <p:sp>
        <p:nvSpPr>
          <p:cNvPr id="25" name="Shape 22"/>
          <p:cNvSpPr/>
          <p:nvPr/>
        </p:nvSpPr>
        <p:spPr>
          <a:xfrm>
            <a:off x="640080" y="4709160"/>
            <a:ext cx="45720" cy="438912"/>
          </a:xfrm>
          <a:prstGeom prst="rect">
            <a:avLst/>
          </a:prstGeom>
          <a:solidFill>
            <a:srgbClr val="635BFF"/>
          </a:solidFill>
          <a:ln w="12700">
            <a:solidFill>
              <a:srgbClr val="635BFF"/>
            </a:solidFill>
            <a:prstDash val="solid"/>
          </a:ln>
        </p:spPr>
      </p:sp>
      <p:sp>
        <p:nvSpPr>
          <p:cNvPr id="26" name="Text 23"/>
          <p:cNvSpPr/>
          <p:nvPr/>
        </p:nvSpPr>
        <p:spPr>
          <a:xfrm>
            <a:off x="841248" y="4645152"/>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What I did not do.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Change the system after seeing that miss and then quote the same score.</a:t>
            </a:r>
            <a:endParaRPr lang="en-US" sz="1450" dirty="0"/>
          </a:p>
        </p:txBody>
      </p:sp>
      <p:sp>
        <p:nvSpPr>
          <p:cNvPr id="27" name="Shape 24"/>
          <p:cNvSpPr/>
          <p:nvPr/>
        </p:nvSpPr>
        <p:spPr>
          <a:xfrm>
            <a:off x="640080" y="5422392"/>
            <a:ext cx="45720" cy="438912"/>
          </a:xfrm>
          <a:prstGeom prst="rect">
            <a:avLst/>
          </a:prstGeom>
          <a:solidFill>
            <a:srgbClr val="635BFF"/>
          </a:solidFill>
          <a:ln w="12700">
            <a:solidFill>
              <a:srgbClr val="635BFF"/>
            </a:solidFill>
            <a:prstDash val="solid"/>
          </a:ln>
        </p:spPr>
      </p:sp>
      <p:sp>
        <p:nvSpPr>
          <p:cNvPr id="28" name="Text 25"/>
          <p:cNvSpPr/>
          <p:nvPr/>
        </p:nvSpPr>
        <p:spPr>
          <a:xfrm>
            <a:off x="841248" y="5358384"/>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What this does not show.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Forty questions is small, and I wrote them. The people who field these questions would write harder ones.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DAY ONE INSIDE REALPAGE</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Swap the sources. Pick one team. Measure.</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12</a:t>
            </a:r>
            <a:endParaRPr lang="en-US" sz="900" dirty="0"/>
          </a:p>
        </p:txBody>
      </p:sp>
      <p:sp>
        <p:nvSpPr>
          <p:cNvPr id="7" name="Shape 4"/>
          <p:cNvSpPr/>
          <p:nvPr/>
        </p:nvSpPr>
        <p:spPr>
          <a:xfrm>
            <a:off x="640080" y="1847088"/>
            <a:ext cx="45720" cy="640080"/>
          </a:xfrm>
          <a:prstGeom prst="rect">
            <a:avLst/>
          </a:prstGeom>
          <a:solidFill>
            <a:srgbClr val="635BFF"/>
          </a:solidFill>
          <a:ln w="12700">
            <a:solidFill>
              <a:srgbClr val="635BFF"/>
            </a:solidFill>
            <a:prstDash val="solid"/>
          </a:ln>
        </p:spPr>
      </p:sp>
      <p:sp>
        <p:nvSpPr>
          <p:cNvPr id="8" name="Text 5"/>
          <p:cNvSpPr/>
          <p:nvPr/>
        </p:nvSpPr>
        <p:spPr>
          <a:xfrm>
            <a:off x="841248" y="17830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Swap the sources.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Replace public pages with internal ones. The other three layers stay as they are.</a:t>
            </a:r>
            <a:endParaRPr lang="en-US" sz="1600" dirty="0"/>
          </a:p>
        </p:txBody>
      </p:sp>
      <p:sp>
        <p:nvSpPr>
          <p:cNvPr id="9" name="Shape 6"/>
          <p:cNvSpPr/>
          <p:nvPr/>
        </p:nvSpPr>
        <p:spPr>
          <a:xfrm>
            <a:off x="640080" y="2761488"/>
            <a:ext cx="45720" cy="640080"/>
          </a:xfrm>
          <a:prstGeom prst="rect">
            <a:avLst/>
          </a:prstGeom>
          <a:solidFill>
            <a:srgbClr val="635BFF"/>
          </a:solidFill>
          <a:ln w="12700">
            <a:solidFill>
              <a:srgbClr val="635BFF"/>
            </a:solidFill>
            <a:prstDash val="solid"/>
          </a:ln>
        </p:spPr>
      </p:sp>
      <p:sp>
        <p:nvSpPr>
          <p:cNvPr id="10" name="Text 7"/>
          <p:cNvSpPr/>
          <p:nvPr/>
        </p:nvSpPr>
        <p:spPr>
          <a:xfrm>
            <a:off x="841248" y="26974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Pick one team.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Ship them a first version that week, and let them break it.</a:t>
            </a:r>
            <a:endParaRPr lang="en-US" sz="1600" dirty="0"/>
          </a:p>
        </p:txBody>
      </p:sp>
      <p:sp>
        <p:nvSpPr>
          <p:cNvPr id="11" name="Shape 8"/>
          <p:cNvSpPr/>
          <p:nvPr/>
        </p:nvSpPr>
        <p:spPr>
          <a:xfrm>
            <a:off x="640080" y="3675888"/>
            <a:ext cx="45720" cy="640080"/>
          </a:xfrm>
          <a:prstGeom prst="rect">
            <a:avLst/>
          </a:prstGeom>
          <a:solidFill>
            <a:srgbClr val="635BFF"/>
          </a:solidFill>
          <a:ln w="12700">
            <a:solidFill>
              <a:srgbClr val="635BFF"/>
            </a:solidFill>
            <a:prstDash val="solid"/>
          </a:ln>
        </p:spPr>
      </p:sp>
      <p:sp>
        <p:nvSpPr>
          <p:cNvPr id="12" name="Text 9"/>
          <p:cNvSpPr/>
          <p:nvPr/>
        </p:nvSpPr>
        <p:spPr>
          <a:xfrm>
            <a:off x="841248" y="36118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Measure with their questions.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A test set written by the people who field them.</a:t>
            </a:r>
            <a:endParaRPr lang="en-US" sz="1600" dirty="0"/>
          </a:p>
        </p:txBody>
      </p:sp>
      <p:sp>
        <p:nvSpPr>
          <p:cNvPr id="13" name="Shape 10"/>
          <p:cNvSpPr/>
          <p:nvPr/>
        </p:nvSpPr>
        <p:spPr>
          <a:xfrm>
            <a:off x="640080" y="4590288"/>
            <a:ext cx="45720" cy="640080"/>
          </a:xfrm>
          <a:prstGeom prst="rect">
            <a:avLst/>
          </a:prstGeom>
          <a:solidFill>
            <a:srgbClr val="635BFF"/>
          </a:solidFill>
          <a:ln w="12700">
            <a:solidFill>
              <a:srgbClr val="635BFF"/>
            </a:solidFill>
            <a:prstDash val="solid"/>
          </a:ln>
        </p:spPr>
      </p:sp>
      <p:sp>
        <p:nvSpPr>
          <p:cNvPr id="14" name="Text 11"/>
          <p:cNvSpPr/>
          <p:nvPr/>
        </p:nvSpPr>
        <p:spPr>
          <a:xfrm>
            <a:off x="841248" y="45262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Then document workflows.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Read, check against requirements, explain every gap at once, send unclear ones to a person.</a:t>
            </a:r>
            <a:endParaRPr lang="en-US" sz="1600" dirty="0"/>
          </a:p>
        </p:txBody>
      </p:sp>
      <p:sp>
        <p:nvSpPr>
          <p:cNvPr id="15" name="Shape 12"/>
          <p:cNvSpPr/>
          <p:nvPr/>
        </p:nvSpPr>
        <p:spPr>
          <a:xfrm>
            <a:off x="7772400" y="1783080"/>
            <a:ext cx="3779215" cy="3520440"/>
          </a:xfrm>
          <a:prstGeom prst="roundRect">
            <a:avLst>
              <a:gd name="adj" fmla="val 1558"/>
            </a:avLst>
          </a:prstGeom>
          <a:solidFill>
            <a:srgbClr val="1C1E29"/>
          </a:solidFill>
          <a:ln w="15875">
            <a:solidFill>
              <a:srgbClr val="635BFF"/>
            </a:solidFill>
            <a:prstDash val="solid"/>
          </a:ln>
        </p:spPr>
      </p:sp>
      <p:sp>
        <p:nvSpPr>
          <p:cNvPr id="16" name="Text 13"/>
          <p:cNvSpPr/>
          <p:nvPr/>
        </p:nvSpPr>
        <p:spPr>
          <a:xfrm>
            <a:off x="8046720" y="2011680"/>
            <a:ext cx="3291840"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HAMZA SARASWAT</a:t>
            </a:r>
            <a:endParaRPr lang="en-US" sz="1100" dirty="0"/>
          </a:p>
        </p:txBody>
      </p:sp>
      <p:sp>
        <p:nvSpPr>
          <p:cNvPr id="17" name="Text 14"/>
          <p:cNvSpPr/>
          <p:nvPr/>
        </p:nvSpPr>
        <p:spPr>
          <a:xfrm>
            <a:off x="8046720" y="2286000"/>
            <a:ext cx="3291840" cy="457200"/>
          </a:xfrm>
          <a:prstGeom prst="rect">
            <a:avLst/>
          </a:prstGeom>
          <a:noFill/>
          <a:ln/>
        </p:spPr>
        <p:txBody>
          <a:bodyPr wrap="square" lIns="0" tIns="0" rIns="0" bIns="0" rtlCol="0" anchor="ctr"/>
          <a:lstStyle/>
          <a:p>
            <a:pPr indent="0" marL="0">
              <a:buNone/>
            </a:pPr>
            <a:r>
              <a:rPr lang="en-US" sz="2600" dirty="0">
                <a:solidFill>
                  <a:srgbClr val="E8EAF2"/>
                </a:solidFill>
                <a:latin typeface="Georgia" pitchFamily="34" charset="0"/>
                <a:ea typeface="Georgia" pitchFamily="34" charset="-122"/>
                <a:cs typeface="Georgia" pitchFamily="34" charset="-120"/>
              </a:rPr>
              <a:t>AI Engineer</a:t>
            </a:r>
            <a:endParaRPr lang="en-US" sz="2600" dirty="0"/>
          </a:p>
        </p:txBody>
      </p:sp>
      <p:sp>
        <p:nvSpPr>
          <p:cNvPr id="18" name="Text 15"/>
          <p:cNvSpPr/>
          <p:nvPr/>
        </p:nvSpPr>
        <p:spPr>
          <a:xfrm>
            <a:off x="8046720" y="2926080"/>
            <a:ext cx="3383280" cy="1097280"/>
          </a:xfrm>
          <a:prstGeom prst="rect">
            <a:avLst/>
          </a:prstGeom>
          <a:noFill/>
          <a:ln/>
        </p:spPr>
        <p:txBody>
          <a:bodyPr wrap="square" lIns="0" tIns="0" rIns="0" bIns="0" rtlCol="0" anchor="t"/>
          <a:lstStyle/>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hamza-saraswat.com</a:t>
            </a:r>
            <a:endParaRPr lang="en-US" sz="1100" dirty="0"/>
          </a:p>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github.com/Hamza-Saraswat/RP_Demo</a:t>
            </a:r>
            <a:endParaRPr lang="en-US" sz="1100" dirty="0"/>
          </a:p>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hamza.saraswat@gmail.com</a:t>
            </a:r>
            <a:endParaRPr lang="en-US" sz="1100" dirty="0"/>
          </a:p>
        </p:txBody>
      </p:sp>
      <p:sp>
        <p:nvSpPr>
          <p:cNvPr id="19" name="Text 16"/>
          <p:cNvSpPr/>
          <p:nvPr/>
        </p:nvSpPr>
        <p:spPr>
          <a:xfrm>
            <a:off x="8046720" y="4206240"/>
            <a:ext cx="3291840" cy="822960"/>
          </a:xfrm>
          <a:prstGeom prst="rect">
            <a:avLst/>
          </a:prstGeom>
          <a:noFill/>
          <a:ln/>
        </p:spPr>
        <p:txBody>
          <a:bodyPr wrap="square" lIns="0" tIns="0" rIns="0" bIns="0" rtlCol="0" anchor="t"/>
          <a:lstStyle/>
          <a:p>
            <a:pPr indent="0" marL="0">
              <a:buNone/>
            </a:pPr>
            <a:r>
              <a:rPr lang="en-US" sz="1300" dirty="0">
                <a:solidFill>
                  <a:srgbClr val="E8EAF2"/>
                </a:solidFill>
                <a:latin typeface="Arial" pitchFamily="34" charset="0"/>
                <a:ea typeface="Arial" pitchFamily="34" charset="-122"/>
                <a:cs typeface="Arial" pitchFamily="34" charset="-120"/>
              </a:rPr>
              <a:t>The code, the test questions, and every eval run are in the repo.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Frontdoor</dc:title>
  <dc:subject>PptxGenJS Presentation</dc:subject>
  <dc:creator>Hamza Saraswat</dc:creator>
  <cp:lastModifiedBy>Hamza Saraswat</cp:lastModifiedBy>
  <cp:revision>1</cp:revision>
  <dcterms:created xsi:type="dcterms:W3CDTF">2026-09-30T01:38:34Z</dcterms:created>
  <dcterms:modified xsi:type="dcterms:W3CDTF">2026-09-30T01:38:34Z</dcterms:modified>
</cp:coreProperties>
</file>