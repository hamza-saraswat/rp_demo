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Hamza. You asked for something built with AI that helps RealPage scale. I built this in one day from your public website. I'll show you what it does, how it works, and why I made each choice. Then I'll show you where the pattern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problem. I'm on the outside, so I used only what is public. Over fifty companies acquired in two decades. Sixty-four products and agents on your own website menu. Forty-two thousand customers. And the public support page splits by who you are, not by which product you're asking about. So every question has to find its owner. I don't know how you handle that internally. That is the problem I picked.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I built. I call it Frontdoor. You ask about any product, and you get a cited answer or you get sent to the right owner. It has four layers. At the bottom, a connector reads two hundred and twenty-one public pages. Above that, a knowledge layer: a company map of a hundred and sixty-six markdown files, plus thirteen hundred searchable passages. Above that, one agent core that decides, finds, writes, and checks. On top, two team profiles on that one core.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Watch four things. One: the routing runs while I'm still typing. Two: an answer, where every sentence is checked against its source. Three: a question it should not answer, so it hands off and passes along what it knows. Four: I switch teams, and the same core answers differently. [Switch to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why I built it this way. Three jobs, three owners. Code owns the rules and the lookups: if you type OneSite, I don't need a model to notice. Jev makes every judgment: which family, which product, does this passage hold evidence, does this sentence match its source. It comes back in about a quarter of a second with a probability, so code can decide what to do with it. Claude only writes, and only from passages that passed. I write Jev's questions from real misses, and I set the cutoffs from my own data. And it fails closed: a sentence with no source gets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choice: retrieval. Your job description mentions vector databases, and I use them in production. Here I didn't, on purpose. There's a ladder. Keyword search. Then query rewriting. Then hybrid with embeddings. Then embedding on the fly, hot and cold tiers, and full pre-embedding in a vector database. Each one fits a real situation. For two hundred pages, keyword search plus an evidence check found the right page every time a search ran. I set the trigger to move up before I ran anything. It never fired.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choice: where the company map lives. You asked for a knowledge graph. This is one, but it's not a graph database. It's a hundred and sixty-six markdown files in git. The links between files are the graph. A person can open one, read it, and fix it. If I had a pile of mixed material and wanted to discover structure, I'd generate a graph. If I needed multi-hop queries across millions of relationships, I'd use a graph database. And with many live internal sources with permissions, I'd use a managed platform, which is what I run in production. One more thing: the structure is never guessed. It comes from your own site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I wrote thirty questions and tuned against them. First run, twenty-eight of thirty. I read the misses, made fixes, got twenty-nine. One of my fixes had broken something. I fixed that and got thirty. That is how I work: ship it, test it, fix what broke. But a tuning score flatters, so I wrote ten fresh questions, committed them, and ran them once. Nine of ten. The one it missed, it sent to a person when it could have answered. And across every question that needed a person, it never answered when it shouldn't have. I know what I'd change to catch that miss. I haven't, because changing it and quoting the same number would make the number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not a one-off. It is a small version of what I built at FieldPulse over the past year. Same four layers. Connectors into the company's systems: the data warehouse through the Metabase API, Slack history that I backfilled so years of tribal knowledge is searchable, Jira and Linear tickets, the wiki, the help center. One knowledge layer on top: one search source, every answer cited. One agent harness on top of that: a single core, where each team gets its own tools, prompt, and evals. Then the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that foundation exists, a new team is a connector and a prompt, not a new project. That is how one Slack bot became fourteen tools across eight departments since January. The Slack assistant has answered over twenty-two hundred product questions. The email agent triages two hundred support emails a week. The onboarding app has set up a hundred and eighty-three customers. And the way I work is the loop you just saw in my results: ship small, let the team break it, fix what they hit. I don't build for problems nobody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day one inside RealPage. Swap the public pages for internal sources: that's the bottom layer, nothing else changes. Pick one team and ship them a first version that week. Let them break it, and fix what they hit. Measure with their questions, not mine. And after that, the same foundation takes on document workflows: read the document, check it against the requirements, explain every gap at once, and send the unclear ones to a person. That's what I'd bring.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1</a:t>
            </a:r>
            <a:endParaRPr lang="en-US" sz="900" dirty="0"/>
          </a:p>
        </p:txBody>
      </p:sp>
      <p:sp>
        <p:nvSpPr>
          <p:cNvPr id="5" name="Text 2"/>
          <p:cNvSpPr/>
          <p:nvPr/>
        </p:nvSpPr>
        <p:spPr>
          <a:xfrm>
            <a:off x="640080" y="1828800"/>
            <a:ext cx="7315200" cy="1188720"/>
          </a:xfrm>
          <a:prstGeom prst="rect">
            <a:avLst/>
          </a:prstGeom>
          <a:noFill/>
          <a:ln/>
        </p:spPr>
        <p:txBody>
          <a:bodyPr wrap="square" lIns="0" tIns="0" rIns="0" bIns="0" rtlCol="0" anchor="ctr"/>
          <a:lstStyle/>
          <a:p>
            <a:pPr indent="0" marL="0">
              <a:buNone/>
            </a:pPr>
            <a:r>
              <a:rPr lang="en-US" sz="8000" dirty="0">
                <a:solidFill>
                  <a:srgbClr val="E8EAF2"/>
                </a:solidFill>
                <a:latin typeface="Georgia" pitchFamily="34" charset="0"/>
                <a:ea typeface="Georgia" pitchFamily="34" charset="-122"/>
                <a:cs typeface="Georgia" pitchFamily="34" charset="-120"/>
              </a:rPr>
              <a:t>Frontdoor</a:t>
            </a:r>
            <a:endParaRPr lang="en-US" sz="8000" dirty="0"/>
          </a:p>
        </p:txBody>
      </p:sp>
      <p:sp>
        <p:nvSpPr>
          <p:cNvPr id="6" name="Text 3"/>
          <p:cNvSpPr/>
          <p:nvPr/>
        </p:nvSpPr>
        <p:spPr>
          <a:xfrm>
            <a:off x="640080" y="3063240"/>
            <a:ext cx="8229600" cy="457200"/>
          </a:xfrm>
          <a:prstGeom prst="rect">
            <a:avLst/>
          </a:prstGeom>
          <a:noFill/>
          <a:ln/>
        </p:spPr>
        <p:txBody>
          <a:bodyPr wrap="square" lIns="0" tIns="0" rIns="0" bIns="0" rtlCol="0" anchor="ctr"/>
          <a:lstStyle/>
          <a:p>
            <a:pPr indent="0" marL="0">
              <a:buNone/>
            </a:pPr>
            <a:r>
              <a:rPr lang="en-US" sz="2200" dirty="0">
                <a:solidFill>
                  <a:srgbClr val="9DA1B7"/>
                </a:solidFill>
                <a:latin typeface="Arial" pitchFamily="34" charset="0"/>
                <a:ea typeface="Arial" pitchFamily="34" charset="-122"/>
                <a:cs typeface="Arial" pitchFamily="34" charset="-120"/>
              </a:rPr>
              <a:t>One question in. A cited answer, or the right owner.</a:t>
            </a:r>
            <a:endParaRPr lang="en-US" sz="2200" dirty="0"/>
          </a:p>
        </p:txBody>
      </p:sp>
      <p:sp>
        <p:nvSpPr>
          <p:cNvPr id="7" name="Text 4"/>
          <p:cNvSpPr/>
          <p:nvPr/>
        </p:nvSpPr>
        <p:spPr>
          <a:xfrm>
            <a:off x="640080" y="3611880"/>
            <a:ext cx="8686800" cy="365760"/>
          </a:xfrm>
          <a:prstGeom prst="rect">
            <a:avLst/>
          </a:prstGeom>
          <a:noFill/>
          <a:ln/>
        </p:spPr>
        <p:txBody>
          <a:bodyPr wrap="square" lIns="0" tIns="0" rIns="0" bIns="0" rtlCol="0" anchor="ctr"/>
          <a:lstStyle/>
          <a:p>
            <a:pPr indent="0" marL="0">
              <a:buNone/>
            </a:pPr>
            <a:r>
              <a:rPr lang="en-US" sz="1500" dirty="0">
                <a:solidFill>
                  <a:srgbClr val="6B6F86"/>
                </a:solidFill>
                <a:latin typeface="Arial" pitchFamily="34" charset="0"/>
                <a:ea typeface="Arial" pitchFamily="34" charset="-122"/>
                <a:cs typeface="Arial" pitchFamily="34" charset="-120"/>
              </a:rPr>
              <a:t>A company knowledge layer and assistant, built in one day from RealPage's public pages.</a:t>
            </a:r>
            <a:endParaRPr lang="en-US" sz="1500" dirty="0"/>
          </a:p>
        </p:txBody>
      </p:sp>
      <p:sp>
        <p:nvSpPr>
          <p:cNvPr id="8" name="Shape 5"/>
          <p:cNvSpPr/>
          <p:nvPr/>
        </p:nvSpPr>
        <p:spPr>
          <a:xfrm>
            <a:off x="640080" y="4617720"/>
            <a:ext cx="548640" cy="36576"/>
          </a:xfrm>
          <a:prstGeom prst="rect">
            <a:avLst/>
          </a:prstGeom>
          <a:solidFill>
            <a:srgbClr val="635BFF"/>
          </a:solidFill>
          <a:ln w="12700">
            <a:solidFill>
              <a:srgbClr val="635BFF"/>
            </a:solidFill>
            <a:prstDash val="solid"/>
          </a:ln>
        </p:spPr>
      </p:sp>
      <p:sp>
        <p:nvSpPr>
          <p:cNvPr id="9" name="Text 6"/>
          <p:cNvSpPr/>
          <p:nvPr/>
        </p:nvSpPr>
        <p:spPr>
          <a:xfrm>
            <a:off x="640080" y="4754880"/>
            <a:ext cx="5486400" cy="365760"/>
          </a:xfrm>
          <a:prstGeom prst="rect">
            <a:avLst/>
          </a:prstGeom>
          <a:noFill/>
          <a:ln/>
        </p:spPr>
        <p:txBody>
          <a:bodyPr wrap="square" lIns="0" tIns="0" rIns="0" bIns="0" rtlCol="0" anchor="ctr"/>
          <a:lstStyle/>
          <a:p>
            <a:pPr indent="0" marL="0">
              <a:buNone/>
            </a:pPr>
            <a:r>
              <a:rPr lang="en-US" sz="1800" b="1" dirty="0">
                <a:solidFill>
                  <a:srgbClr val="E8EAF2"/>
                </a:solidFill>
                <a:latin typeface="Arial" pitchFamily="34" charset="0"/>
                <a:ea typeface="Arial" pitchFamily="34" charset="-122"/>
                <a:cs typeface="Arial" pitchFamily="34" charset="-120"/>
              </a:rPr>
              <a:t>Hamza Saraswat</a:t>
            </a:r>
            <a:endParaRPr lang="en-US" sz="1800" dirty="0"/>
          </a:p>
        </p:txBody>
      </p:sp>
      <p:sp>
        <p:nvSpPr>
          <p:cNvPr id="10" name="Text 7"/>
          <p:cNvSpPr/>
          <p:nvPr/>
        </p:nvSpPr>
        <p:spPr>
          <a:xfrm>
            <a:off x="640080" y="5120640"/>
            <a:ext cx="8229600" cy="274320"/>
          </a:xfrm>
          <a:prstGeom prst="rect">
            <a:avLst/>
          </a:prstGeom>
          <a:noFill/>
          <a:ln/>
        </p:spPr>
        <p:txBody>
          <a:bodyPr wrap="square" lIns="0" tIns="0" rIns="0" bIns="0" rtlCol="0" anchor="ctr"/>
          <a:lstStyle/>
          <a:p>
            <a:pPr indent="0" marL="0">
              <a:buNone/>
            </a:pPr>
            <a:r>
              <a:rPr lang="en-US" sz="1100" dirty="0">
                <a:solidFill>
                  <a:srgbClr val="9DA1B7"/>
                </a:solidFill>
                <a:latin typeface="Courier New" pitchFamily="34" charset="0"/>
                <a:ea typeface="Courier New" pitchFamily="34" charset="-122"/>
                <a:cs typeface="Courier New" pitchFamily="34" charset="-120"/>
              </a:rPr>
              <a:t>AI Engineer  ·  hamza-saraswat.com  ·  github.com/Hamza-Saraswat/RP_Demo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THE PROBLEM</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Many products. One front door.</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2</a:t>
            </a:r>
            <a:endParaRPr lang="en-US" sz="900" dirty="0"/>
          </a:p>
        </p:txBody>
      </p:sp>
      <p:sp>
        <p:nvSpPr>
          <p:cNvPr id="7" name="Shape 4"/>
          <p:cNvSpPr/>
          <p:nvPr/>
        </p:nvSpPr>
        <p:spPr>
          <a:xfrm>
            <a:off x="640080" y="1783080"/>
            <a:ext cx="2556434" cy="1828800"/>
          </a:xfrm>
          <a:prstGeom prst="roundRect">
            <a:avLst>
              <a:gd name="adj" fmla="val 4000"/>
            </a:avLst>
          </a:prstGeom>
          <a:solidFill>
            <a:srgbClr val="1C1E29"/>
          </a:solidFill>
          <a:ln w="9525">
            <a:solidFill>
              <a:srgbClr val="3A3E52"/>
            </a:solidFill>
            <a:prstDash val="solid"/>
          </a:ln>
        </p:spPr>
      </p:sp>
      <p:sp>
        <p:nvSpPr>
          <p:cNvPr id="8" name="Text 5"/>
          <p:cNvSpPr/>
          <p:nvPr/>
        </p:nvSpPr>
        <p:spPr>
          <a:xfrm>
            <a:off x="868680"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50+</a:t>
            </a:r>
            <a:endParaRPr lang="en-US" sz="4000" dirty="0"/>
          </a:p>
        </p:txBody>
      </p:sp>
      <p:sp>
        <p:nvSpPr>
          <p:cNvPr id="9" name="Text 6"/>
          <p:cNvSpPr/>
          <p:nvPr/>
        </p:nvSpPr>
        <p:spPr>
          <a:xfrm>
            <a:off x="868680"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Companies acquired</a:t>
            </a:r>
            <a:endParaRPr lang="en-US" sz="1300" dirty="0"/>
          </a:p>
        </p:txBody>
      </p:sp>
      <p:sp>
        <p:nvSpPr>
          <p:cNvPr id="10" name="Text 7"/>
          <p:cNvSpPr/>
          <p:nvPr/>
        </p:nvSpPr>
        <p:spPr>
          <a:xfrm>
            <a:off x="868680"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Over two decades. Multifamily Executive, interview with the CEO.</a:t>
            </a:r>
            <a:endParaRPr lang="en-US" sz="1050" dirty="0"/>
          </a:p>
        </p:txBody>
      </p:sp>
      <p:sp>
        <p:nvSpPr>
          <p:cNvPr id="11" name="Shape 8"/>
          <p:cNvSpPr/>
          <p:nvPr/>
        </p:nvSpPr>
        <p:spPr>
          <a:xfrm>
            <a:off x="3425114" y="1783080"/>
            <a:ext cx="2556434" cy="1828800"/>
          </a:xfrm>
          <a:prstGeom prst="roundRect">
            <a:avLst>
              <a:gd name="adj" fmla="val 4000"/>
            </a:avLst>
          </a:prstGeom>
          <a:solidFill>
            <a:srgbClr val="1C1E29"/>
          </a:solidFill>
          <a:ln w="9525">
            <a:solidFill>
              <a:srgbClr val="3A3E52"/>
            </a:solidFill>
            <a:prstDash val="solid"/>
          </a:ln>
        </p:spPr>
      </p:sp>
      <p:sp>
        <p:nvSpPr>
          <p:cNvPr id="12" name="Text 9"/>
          <p:cNvSpPr/>
          <p:nvPr/>
        </p:nvSpPr>
        <p:spPr>
          <a:xfrm>
            <a:off x="3653714"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64</a:t>
            </a:r>
            <a:endParaRPr lang="en-US" sz="4000" dirty="0"/>
          </a:p>
        </p:txBody>
      </p:sp>
      <p:sp>
        <p:nvSpPr>
          <p:cNvPr id="13" name="Text 10"/>
          <p:cNvSpPr/>
          <p:nvPr/>
        </p:nvSpPr>
        <p:spPr>
          <a:xfrm>
            <a:off x="3653714"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Products and agents</a:t>
            </a:r>
            <a:endParaRPr lang="en-US" sz="1300" dirty="0"/>
          </a:p>
        </p:txBody>
      </p:sp>
      <p:sp>
        <p:nvSpPr>
          <p:cNvPr id="14" name="Text 11"/>
          <p:cNvSpPr/>
          <p:nvPr/>
        </p:nvSpPr>
        <p:spPr>
          <a:xfrm>
            <a:off x="3653714"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In ten families, counted from the menu on realpage.com.</a:t>
            </a:r>
            <a:endParaRPr lang="en-US" sz="1050" dirty="0"/>
          </a:p>
        </p:txBody>
      </p:sp>
      <p:sp>
        <p:nvSpPr>
          <p:cNvPr id="15" name="Shape 12"/>
          <p:cNvSpPr/>
          <p:nvPr/>
        </p:nvSpPr>
        <p:spPr>
          <a:xfrm>
            <a:off x="6210148" y="1783080"/>
            <a:ext cx="2556434" cy="1828800"/>
          </a:xfrm>
          <a:prstGeom prst="roundRect">
            <a:avLst>
              <a:gd name="adj" fmla="val 4000"/>
            </a:avLst>
          </a:prstGeom>
          <a:solidFill>
            <a:srgbClr val="1C1E29"/>
          </a:solidFill>
          <a:ln w="9525">
            <a:solidFill>
              <a:srgbClr val="3A3E52"/>
            </a:solidFill>
            <a:prstDash val="solid"/>
          </a:ln>
        </p:spPr>
      </p:sp>
      <p:sp>
        <p:nvSpPr>
          <p:cNvPr id="16" name="Text 13"/>
          <p:cNvSpPr/>
          <p:nvPr/>
        </p:nvSpPr>
        <p:spPr>
          <a:xfrm>
            <a:off x="6438748"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42,000</a:t>
            </a:r>
            <a:endParaRPr lang="en-US" sz="4000" dirty="0"/>
          </a:p>
        </p:txBody>
      </p:sp>
      <p:sp>
        <p:nvSpPr>
          <p:cNvPr id="17" name="Text 14"/>
          <p:cNvSpPr/>
          <p:nvPr/>
        </p:nvSpPr>
        <p:spPr>
          <a:xfrm>
            <a:off x="6438748"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Customers</a:t>
            </a:r>
            <a:endParaRPr lang="en-US" sz="1300" dirty="0"/>
          </a:p>
        </p:txBody>
      </p:sp>
      <p:sp>
        <p:nvSpPr>
          <p:cNvPr id="18" name="Text 15"/>
          <p:cNvSpPr/>
          <p:nvPr/>
        </p:nvSpPr>
        <p:spPr>
          <a:xfrm>
            <a:off x="6438748"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And 24 million units. RealPage press release, Cherre acquisition.</a:t>
            </a:r>
            <a:endParaRPr lang="en-US" sz="1050" dirty="0"/>
          </a:p>
        </p:txBody>
      </p:sp>
      <p:sp>
        <p:nvSpPr>
          <p:cNvPr id="19" name="Shape 16"/>
          <p:cNvSpPr/>
          <p:nvPr/>
        </p:nvSpPr>
        <p:spPr>
          <a:xfrm>
            <a:off x="8995181" y="1783080"/>
            <a:ext cx="2556434" cy="1828800"/>
          </a:xfrm>
          <a:prstGeom prst="roundRect">
            <a:avLst>
              <a:gd name="adj" fmla="val 4000"/>
            </a:avLst>
          </a:prstGeom>
          <a:solidFill>
            <a:srgbClr val="1C1E29"/>
          </a:solidFill>
          <a:ln w="9525">
            <a:solidFill>
              <a:srgbClr val="3A3E52"/>
            </a:solidFill>
            <a:prstDash val="solid"/>
          </a:ln>
        </p:spPr>
      </p:sp>
      <p:sp>
        <p:nvSpPr>
          <p:cNvPr id="20" name="Text 17"/>
          <p:cNvSpPr/>
          <p:nvPr/>
        </p:nvSpPr>
        <p:spPr>
          <a:xfrm>
            <a:off x="9223781" y="1947672"/>
            <a:ext cx="2099234" cy="731520"/>
          </a:xfrm>
          <a:prstGeom prst="rect">
            <a:avLst/>
          </a:prstGeom>
          <a:noFill/>
          <a:ln/>
        </p:spPr>
        <p:txBody>
          <a:bodyPr wrap="square" lIns="0" tIns="0" rIns="0" bIns="0" rtlCol="0" anchor="ctr"/>
          <a:lstStyle/>
          <a:p>
            <a:pPr indent="0" marL="0">
              <a:buNone/>
            </a:pPr>
            <a:r>
              <a:rPr lang="en-US" sz="4000" dirty="0">
                <a:solidFill>
                  <a:srgbClr val="FFB547"/>
                </a:solidFill>
                <a:latin typeface="Georgia" pitchFamily="34" charset="0"/>
                <a:ea typeface="Georgia" pitchFamily="34" charset="-122"/>
                <a:cs typeface="Georgia" pitchFamily="34" charset="-120"/>
              </a:rPr>
              <a:t>2</a:t>
            </a:r>
            <a:endParaRPr lang="en-US" sz="4000" dirty="0"/>
          </a:p>
        </p:txBody>
      </p:sp>
      <p:sp>
        <p:nvSpPr>
          <p:cNvPr id="21" name="Text 18"/>
          <p:cNvSpPr/>
          <p:nvPr/>
        </p:nvSpPr>
        <p:spPr>
          <a:xfrm>
            <a:off x="9223781"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Public support paths</a:t>
            </a:r>
            <a:endParaRPr lang="en-US" sz="1300" dirty="0"/>
          </a:p>
        </p:txBody>
      </p:sp>
      <p:sp>
        <p:nvSpPr>
          <p:cNvPr id="22" name="Text 19"/>
          <p:cNvSpPr/>
          <p:nvPr/>
        </p:nvSpPr>
        <p:spPr>
          <a:xfrm>
            <a:off x="9223781"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Split by who is asking, not by product. realpage.com/support.</a:t>
            </a:r>
            <a:endParaRPr lang="en-US" sz="1050" dirty="0"/>
          </a:p>
        </p:txBody>
      </p:sp>
      <p:sp>
        <p:nvSpPr>
          <p:cNvPr id="23" name="Text 20"/>
          <p:cNvSpPr/>
          <p:nvPr/>
        </p:nvSpPr>
        <p:spPr>
          <a:xfrm>
            <a:off x="640080" y="4069080"/>
            <a:ext cx="10911535" cy="548640"/>
          </a:xfrm>
          <a:prstGeom prst="rect">
            <a:avLst/>
          </a:prstGeom>
          <a:noFill/>
          <a:ln/>
        </p:spPr>
        <p:txBody>
          <a:bodyPr wrap="square" lIns="0" tIns="0" rIns="0" bIns="0" rtlCol="0" anchor="ctr"/>
          <a:lstStyle/>
          <a:p>
            <a:pPr indent="0" marL="0">
              <a:buNone/>
            </a:pPr>
            <a:r>
              <a:rPr lang="en-US" sz="2800" dirty="0">
                <a:solidFill>
                  <a:srgbClr val="E8EAF2"/>
                </a:solidFill>
                <a:latin typeface="Georgia" pitchFamily="34" charset="0"/>
                <a:ea typeface="Georgia" pitchFamily="34" charset="-122"/>
                <a:cs typeface="Georgia" pitchFamily="34" charset="-120"/>
              </a:rPr>
              <a:t>So every question has to find its owner.</a:t>
            </a:r>
            <a:endParaRPr lang="en-US" sz="2800" dirty="0"/>
          </a:p>
        </p:txBody>
      </p:sp>
      <p:sp>
        <p:nvSpPr>
          <p:cNvPr id="24" name="Text 21"/>
          <p:cNvSpPr/>
          <p:nvPr/>
        </p:nvSpPr>
        <p:spPr>
          <a:xfrm>
            <a:off x="640080" y="4709160"/>
            <a:ext cx="10911535" cy="365760"/>
          </a:xfrm>
          <a:prstGeom prst="rect">
            <a:avLst/>
          </a:prstGeom>
          <a:noFill/>
          <a:ln/>
        </p:spPr>
        <p:txBody>
          <a:bodyPr wrap="square" lIns="0" tIns="0" rIns="0" bIns="0" rtlCol="0" anchor="ctr"/>
          <a:lstStyle/>
          <a:p>
            <a:pPr indent="0" marL="0">
              <a:buNone/>
            </a:pPr>
            <a:r>
              <a:rPr lang="en-US" sz="1500" dirty="0">
                <a:solidFill>
                  <a:srgbClr val="9DA1B7"/>
                </a:solidFill>
                <a:latin typeface="Arial" pitchFamily="34" charset="0"/>
                <a:ea typeface="Arial" pitchFamily="34" charset="-122"/>
                <a:cs typeface="Arial" pitchFamily="34" charset="-120"/>
              </a:rPr>
              <a:t>I do not know how RealPage handles this internally. Everything here is built from public pages, and says so.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WHAT I BUILT</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One front door, in four layers, built in one day.</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3</a:t>
            </a:r>
            <a:endParaRPr lang="en-US" sz="900" dirty="0"/>
          </a:p>
        </p:txBody>
      </p:sp>
      <p:sp>
        <p:nvSpPr>
          <p:cNvPr id="7" name="Shape 4"/>
          <p:cNvSpPr/>
          <p:nvPr/>
        </p:nvSpPr>
        <p:spPr>
          <a:xfrm>
            <a:off x="640080" y="1783080"/>
            <a:ext cx="10911535" cy="932688"/>
          </a:xfrm>
          <a:prstGeom prst="roundRect">
            <a:avLst>
              <a:gd name="adj" fmla="val 5882"/>
            </a:avLst>
          </a:prstGeom>
          <a:solidFill>
            <a:srgbClr val="1C1E29"/>
          </a:solidFill>
          <a:ln w="9525">
            <a:solidFill>
              <a:srgbClr val="3A3E52"/>
            </a:solidFill>
            <a:prstDash val="solid"/>
          </a:ln>
        </p:spPr>
      </p:sp>
      <p:sp>
        <p:nvSpPr>
          <p:cNvPr id="8" name="Text 5"/>
          <p:cNvSpPr/>
          <p:nvPr/>
        </p:nvSpPr>
        <p:spPr>
          <a:xfrm>
            <a:off x="868680" y="1911096"/>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TEAMS</a:t>
            </a:r>
            <a:endParaRPr lang="en-US" sz="950" dirty="0"/>
          </a:p>
        </p:txBody>
      </p:sp>
      <p:sp>
        <p:nvSpPr>
          <p:cNvPr id="9" name="Text 6"/>
          <p:cNvSpPr/>
          <p:nvPr/>
        </p:nvSpPr>
        <p:spPr>
          <a:xfrm>
            <a:off x="868680" y="2148840"/>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Two profiles, one core</a:t>
            </a:r>
            <a:endParaRPr lang="en-US" sz="1700" dirty="0"/>
          </a:p>
        </p:txBody>
      </p:sp>
      <p:sp>
        <p:nvSpPr>
          <p:cNvPr id="10" name="Shape 7"/>
          <p:cNvSpPr/>
          <p:nvPr/>
        </p:nvSpPr>
        <p:spPr>
          <a:xfrm>
            <a:off x="3291840" y="1938528"/>
            <a:ext cx="2582570" cy="621792"/>
          </a:xfrm>
          <a:prstGeom prst="roundRect">
            <a:avLst>
              <a:gd name="adj" fmla="val 8824"/>
            </a:avLst>
          </a:prstGeom>
          <a:solidFill>
            <a:srgbClr val="14151C"/>
          </a:solidFill>
          <a:ln w="6350">
            <a:solidFill>
              <a:srgbClr val="3A3E52"/>
            </a:solidFill>
            <a:prstDash val="solid"/>
          </a:ln>
        </p:spPr>
      </p:sp>
      <p:sp>
        <p:nvSpPr>
          <p:cNvPr id="11" name="Text 8"/>
          <p:cNvSpPr/>
          <p:nvPr/>
        </p:nvSpPr>
        <p:spPr>
          <a:xfrm>
            <a:off x="3337560" y="1938528"/>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Support</a:t>
            </a:r>
            <a:endParaRPr lang="en-US" sz="1150" dirty="0"/>
          </a:p>
        </p:txBody>
      </p:sp>
      <p:sp>
        <p:nvSpPr>
          <p:cNvPr id="12" name="Shape 9"/>
          <p:cNvSpPr/>
          <p:nvPr/>
        </p:nvSpPr>
        <p:spPr>
          <a:xfrm>
            <a:off x="5984138" y="1938528"/>
            <a:ext cx="2582570" cy="621792"/>
          </a:xfrm>
          <a:prstGeom prst="roundRect">
            <a:avLst>
              <a:gd name="adj" fmla="val 8824"/>
            </a:avLst>
          </a:prstGeom>
          <a:solidFill>
            <a:srgbClr val="14151C"/>
          </a:solidFill>
          <a:ln w="6350">
            <a:solidFill>
              <a:srgbClr val="3A3E52"/>
            </a:solidFill>
            <a:prstDash val="solid"/>
          </a:ln>
        </p:spPr>
      </p:sp>
      <p:sp>
        <p:nvSpPr>
          <p:cNvPr id="13" name="Text 10"/>
          <p:cNvSpPr/>
          <p:nvPr/>
        </p:nvSpPr>
        <p:spPr>
          <a:xfrm>
            <a:off x="6029858" y="1938528"/>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Sales</a:t>
            </a:r>
            <a:endParaRPr lang="en-US" sz="1150" dirty="0"/>
          </a:p>
        </p:txBody>
      </p:sp>
      <p:sp>
        <p:nvSpPr>
          <p:cNvPr id="14" name="Shape 11"/>
          <p:cNvSpPr/>
          <p:nvPr/>
        </p:nvSpPr>
        <p:spPr>
          <a:xfrm>
            <a:off x="8676437" y="1938528"/>
            <a:ext cx="2582570" cy="621792"/>
          </a:xfrm>
          <a:prstGeom prst="roundRect">
            <a:avLst>
              <a:gd name="adj" fmla="val 8824"/>
            </a:avLst>
          </a:prstGeom>
          <a:solidFill>
            <a:srgbClr val="14151C"/>
          </a:solidFill>
          <a:ln w="6350">
            <a:solidFill>
              <a:srgbClr val="3A3E52"/>
            </a:solidFill>
            <a:prstDash val="solid"/>
          </a:ln>
        </p:spPr>
      </p:sp>
      <p:sp>
        <p:nvSpPr>
          <p:cNvPr id="15" name="Text 12"/>
          <p:cNvSpPr/>
          <p:nvPr/>
        </p:nvSpPr>
        <p:spPr>
          <a:xfrm>
            <a:off x="8722157" y="1938528"/>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Adding a team is adding a file</a:t>
            </a:r>
            <a:endParaRPr lang="en-US" sz="1150" dirty="0"/>
          </a:p>
        </p:txBody>
      </p:sp>
      <p:sp>
        <p:nvSpPr>
          <p:cNvPr id="16" name="Shape 13"/>
          <p:cNvSpPr/>
          <p:nvPr/>
        </p:nvSpPr>
        <p:spPr>
          <a:xfrm>
            <a:off x="640080" y="2843784"/>
            <a:ext cx="10911535" cy="932688"/>
          </a:xfrm>
          <a:prstGeom prst="roundRect">
            <a:avLst>
              <a:gd name="adj" fmla="val 5882"/>
            </a:avLst>
          </a:prstGeom>
          <a:solidFill>
            <a:srgbClr val="242735"/>
          </a:solidFill>
          <a:ln w="15875">
            <a:solidFill>
              <a:srgbClr val="635BFF"/>
            </a:solidFill>
            <a:prstDash val="solid"/>
          </a:ln>
        </p:spPr>
      </p:sp>
      <p:sp>
        <p:nvSpPr>
          <p:cNvPr id="17" name="Text 14"/>
          <p:cNvSpPr/>
          <p:nvPr/>
        </p:nvSpPr>
        <p:spPr>
          <a:xfrm>
            <a:off x="868680" y="2971800"/>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LAYER 2</a:t>
            </a:r>
            <a:endParaRPr lang="en-US" sz="950" dirty="0"/>
          </a:p>
        </p:txBody>
      </p:sp>
      <p:sp>
        <p:nvSpPr>
          <p:cNvPr id="18" name="Text 15"/>
          <p:cNvSpPr/>
          <p:nvPr/>
        </p:nvSpPr>
        <p:spPr>
          <a:xfrm>
            <a:off x="868680" y="3209544"/>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Agent core</a:t>
            </a:r>
            <a:endParaRPr lang="en-US" sz="1700" dirty="0"/>
          </a:p>
        </p:txBody>
      </p:sp>
      <p:sp>
        <p:nvSpPr>
          <p:cNvPr id="19" name="Shape 16"/>
          <p:cNvSpPr/>
          <p:nvPr/>
        </p:nvSpPr>
        <p:spPr>
          <a:xfrm>
            <a:off x="3291840" y="2999232"/>
            <a:ext cx="1909496" cy="621792"/>
          </a:xfrm>
          <a:prstGeom prst="roundRect">
            <a:avLst>
              <a:gd name="adj" fmla="val 8824"/>
            </a:avLst>
          </a:prstGeom>
          <a:solidFill>
            <a:srgbClr val="14151C"/>
          </a:solidFill>
          <a:ln w="6350">
            <a:solidFill>
              <a:srgbClr val="3A3E52"/>
            </a:solidFill>
            <a:prstDash val="solid"/>
          </a:ln>
        </p:spPr>
      </p:sp>
      <p:sp>
        <p:nvSpPr>
          <p:cNvPr id="20" name="Text 17"/>
          <p:cNvSpPr/>
          <p:nvPr/>
        </p:nvSpPr>
        <p:spPr>
          <a:xfrm>
            <a:off x="3337560"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Decide</a:t>
            </a:r>
            <a:endParaRPr lang="en-US" sz="1150" dirty="0"/>
          </a:p>
        </p:txBody>
      </p:sp>
      <p:sp>
        <p:nvSpPr>
          <p:cNvPr id="21" name="Shape 18"/>
          <p:cNvSpPr/>
          <p:nvPr/>
        </p:nvSpPr>
        <p:spPr>
          <a:xfrm>
            <a:off x="5311064" y="2999232"/>
            <a:ext cx="1909496" cy="621792"/>
          </a:xfrm>
          <a:prstGeom prst="roundRect">
            <a:avLst>
              <a:gd name="adj" fmla="val 8824"/>
            </a:avLst>
          </a:prstGeom>
          <a:solidFill>
            <a:srgbClr val="14151C"/>
          </a:solidFill>
          <a:ln w="6350">
            <a:solidFill>
              <a:srgbClr val="3A3E52"/>
            </a:solidFill>
            <a:prstDash val="solid"/>
          </a:ln>
        </p:spPr>
      </p:sp>
      <p:sp>
        <p:nvSpPr>
          <p:cNvPr id="22" name="Text 19"/>
          <p:cNvSpPr/>
          <p:nvPr/>
        </p:nvSpPr>
        <p:spPr>
          <a:xfrm>
            <a:off x="5356784"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Find</a:t>
            </a:r>
            <a:endParaRPr lang="en-US" sz="1150" dirty="0"/>
          </a:p>
        </p:txBody>
      </p:sp>
      <p:sp>
        <p:nvSpPr>
          <p:cNvPr id="23" name="Shape 20"/>
          <p:cNvSpPr/>
          <p:nvPr/>
        </p:nvSpPr>
        <p:spPr>
          <a:xfrm>
            <a:off x="7330288" y="2999232"/>
            <a:ext cx="1909496" cy="621792"/>
          </a:xfrm>
          <a:prstGeom prst="roundRect">
            <a:avLst>
              <a:gd name="adj" fmla="val 8824"/>
            </a:avLst>
          </a:prstGeom>
          <a:solidFill>
            <a:srgbClr val="14151C"/>
          </a:solidFill>
          <a:ln w="6350">
            <a:solidFill>
              <a:srgbClr val="3A3E52"/>
            </a:solidFill>
            <a:prstDash val="solid"/>
          </a:ln>
        </p:spPr>
      </p:sp>
      <p:sp>
        <p:nvSpPr>
          <p:cNvPr id="24" name="Text 21"/>
          <p:cNvSpPr/>
          <p:nvPr/>
        </p:nvSpPr>
        <p:spPr>
          <a:xfrm>
            <a:off x="7376008"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Write</a:t>
            </a:r>
            <a:endParaRPr lang="en-US" sz="1150" dirty="0"/>
          </a:p>
        </p:txBody>
      </p:sp>
      <p:sp>
        <p:nvSpPr>
          <p:cNvPr id="25" name="Shape 22"/>
          <p:cNvSpPr/>
          <p:nvPr/>
        </p:nvSpPr>
        <p:spPr>
          <a:xfrm>
            <a:off x="9349511" y="2999232"/>
            <a:ext cx="1909496" cy="621792"/>
          </a:xfrm>
          <a:prstGeom prst="roundRect">
            <a:avLst>
              <a:gd name="adj" fmla="val 8824"/>
            </a:avLst>
          </a:prstGeom>
          <a:solidFill>
            <a:srgbClr val="14151C"/>
          </a:solidFill>
          <a:ln w="6350">
            <a:solidFill>
              <a:srgbClr val="3A3E52"/>
            </a:solidFill>
            <a:prstDash val="solid"/>
          </a:ln>
        </p:spPr>
      </p:sp>
      <p:sp>
        <p:nvSpPr>
          <p:cNvPr id="26" name="Text 23"/>
          <p:cNvSpPr/>
          <p:nvPr/>
        </p:nvSpPr>
        <p:spPr>
          <a:xfrm>
            <a:off x="9395231"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Check</a:t>
            </a:r>
            <a:endParaRPr lang="en-US" sz="1150" dirty="0"/>
          </a:p>
        </p:txBody>
      </p:sp>
      <p:sp>
        <p:nvSpPr>
          <p:cNvPr id="27" name="Shape 24"/>
          <p:cNvSpPr/>
          <p:nvPr/>
        </p:nvSpPr>
        <p:spPr>
          <a:xfrm>
            <a:off x="640080" y="3904488"/>
            <a:ext cx="10911535" cy="932688"/>
          </a:xfrm>
          <a:prstGeom prst="roundRect">
            <a:avLst>
              <a:gd name="adj" fmla="val 5882"/>
            </a:avLst>
          </a:prstGeom>
          <a:solidFill>
            <a:srgbClr val="242735"/>
          </a:solidFill>
          <a:ln w="15875">
            <a:solidFill>
              <a:srgbClr val="635BFF"/>
            </a:solidFill>
            <a:prstDash val="solid"/>
          </a:ln>
        </p:spPr>
      </p:sp>
      <p:sp>
        <p:nvSpPr>
          <p:cNvPr id="28" name="Text 25"/>
          <p:cNvSpPr/>
          <p:nvPr/>
        </p:nvSpPr>
        <p:spPr>
          <a:xfrm>
            <a:off x="868680" y="4032504"/>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LAYER 1</a:t>
            </a:r>
            <a:endParaRPr lang="en-US" sz="950" dirty="0"/>
          </a:p>
        </p:txBody>
      </p:sp>
      <p:sp>
        <p:nvSpPr>
          <p:cNvPr id="29" name="Text 26"/>
          <p:cNvSpPr/>
          <p:nvPr/>
        </p:nvSpPr>
        <p:spPr>
          <a:xfrm>
            <a:off x="868680" y="4270248"/>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Knowledge layer</a:t>
            </a:r>
            <a:endParaRPr lang="en-US" sz="1700" dirty="0"/>
          </a:p>
        </p:txBody>
      </p:sp>
      <p:sp>
        <p:nvSpPr>
          <p:cNvPr id="30" name="Shape 27"/>
          <p:cNvSpPr/>
          <p:nvPr/>
        </p:nvSpPr>
        <p:spPr>
          <a:xfrm>
            <a:off x="3291840" y="4059936"/>
            <a:ext cx="2582570" cy="621792"/>
          </a:xfrm>
          <a:prstGeom prst="roundRect">
            <a:avLst>
              <a:gd name="adj" fmla="val 8824"/>
            </a:avLst>
          </a:prstGeom>
          <a:solidFill>
            <a:srgbClr val="14151C"/>
          </a:solidFill>
          <a:ln w="6350">
            <a:solidFill>
              <a:srgbClr val="3A3E52"/>
            </a:solidFill>
            <a:prstDash val="solid"/>
          </a:ln>
        </p:spPr>
      </p:sp>
      <p:sp>
        <p:nvSpPr>
          <p:cNvPr id="31" name="Text 28"/>
          <p:cNvSpPr/>
          <p:nvPr/>
        </p:nvSpPr>
        <p:spPr>
          <a:xfrm>
            <a:off x="3337560"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Company map: 166 markdown files</a:t>
            </a:r>
            <a:endParaRPr lang="en-US" sz="1150" dirty="0"/>
          </a:p>
        </p:txBody>
      </p:sp>
      <p:sp>
        <p:nvSpPr>
          <p:cNvPr id="32" name="Shape 29"/>
          <p:cNvSpPr/>
          <p:nvPr/>
        </p:nvSpPr>
        <p:spPr>
          <a:xfrm>
            <a:off x="5984138" y="4059936"/>
            <a:ext cx="2582570" cy="621792"/>
          </a:xfrm>
          <a:prstGeom prst="roundRect">
            <a:avLst>
              <a:gd name="adj" fmla="val 8824"/>
            </a:avLst>
          </a:prstGeom>
          <a:solidFill>
            <a:srgbClr val="14151C"/>
          </a:solidFill>
          <a:ln w="6350">
            <a:solidFill>
              <a:srgbClr val="3A3E52"/>
            </a:solidFill>
            <a:prstDash val="solid"/>
          </a:ln>
        </p:spPr>
      </p:sp>
      <p:sp>
        <p:nvSpPr>
          <p:cNvPr id="33" name="Text 30"/>
          <p:cNvSpPr/>
          <p:nvPr/>
        </p:nvSpPr>
        <p:spPr>
          <a:xfrm>
            <a:off x="6029858"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1,323 searchable passages</a:t>
            </a:r>
            <a:endParaRPr lang="en-US" sz="1150" dirty="0"/>
          </a:p>
        </p:txBody>
      </p:sp>
      <p:sp>
        <p:nvSpPr>
          <p:cNvPr id="34" name="Shape 31"/>
          <p:cNvSpPr/>
          <p:nvPr/>
        </p:nvSpPr>
        <p:spPr>
          <a:xfrm>
            <a:off x="8676437" y="4059936"/>
            <a:ext cx="2582570" cy="621792"/>
          </a:xfrm>
          <a:prstGeom prst="roundRect">
            <a:avLst>
              <a:gd name="adj" fmla="val 8824"/>
            </a:avLst>
          </a:prstGeom>
          <a:solidFill>
            <a:srgbClr val="14151C"/>
          </a:solidFill>
          <a:ln w="6350">
            <a:solidFill>
              <a:srgbClr val="3A3E52"/>
            </a:solidFill>
            <a:prstDash val="solid"/>
          </a:ln>
        </p:spPr>
      </p:sp>
      <p:sp>
        <p:nvSpPr>
          <p:cNvPr id="35" name="Text 32"/>
          <p:cNvSpPr/>
          <p:nvPr/>
        </p:nvSpPr>
        <p:spPr>
          <a:xfrm>
            <a:off x="8722157"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Every entity has its source</a:t>
            </a:r>
            <a:endParaRPr lang="en-US" sz="1150" dirty="0"/>
          </a:p>
        </p:txBody>
      </p:sp>
      <p:sp>
        <p:nvSpPr>
          <p:cNvPr id="36" name="Shape 33"/>
          <p:cNvSpPr/>
          <p:nvPr/>
        </p:nvSpPr>
        <p:spPr>
          <a:xfrm>
            <a:off x="640080" y="4965192"/>
            <a:ext cx="10911535" cy="932688"/>
          </a:xfrm>
          <a:prstGeom prst="roundRect">
            <a:avLst>
              <a:gd name="adj" fmla="val 5882"/>
            </a:avLst>
          </a:prstGeom>
          <a:solidFill>
            <a:srgbClr val="1C1E29"/>
          </a:solidFill>
          <a:ln w="9525">
            <a:solidFill>
              <a:srgbClr val="3A3E52"/>
            </a:solidFill>
            <a:prstDash val="solid"/>
          </a:ln>
        </p:spPr>
      </p:sp>
      <p:sp>
        <p:nvSpPr>
          <p:cNvPr id="37" name="Text 34"/>
          <p:cNvSpPr/>
          <p:nvPr/>
        </p:nvSpPr>
        <p:spPr>
          <a:xfrm>
            <a:off x="868680" y="5093208"/>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CONNECTOR</a:t>
            </a:r>
            <a:endParaRPr lang="en-US" sz="950" dirty="0"/>
          </a:p>
        </p:txBody>
      </p:sp>
      <p:sp>
        <p:nvSpPr>
          <p:cNvPr id="38" name="Text 35"/>
          <p:cNvSpPr/>
          <p:nvPr/>
        </p:nvSpPr>
        <p:spPr>
          <a:xfrm>
            <a:off x="868680" y="5330952"/>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Public site, today</a:t>
            </a:r>
            <a:endParaRPr lang="en-US" sz="1700" dirty="0"/>
          </a:p>
        </p:txBody>
      </p:sp>
      <p:sp>
        <p:nvSpPr>
          <p:cNvPr id="39" name="Shape 36"/>
          <p:cNvSpPr/>
          <p:nvPr/>
        </p:nvSpPr>
        <p:spPr>
          <a:xfrm>
            <a:off x="3291840" y="5120640"/>
            <a:ext cx="2582570" cy="621792"/>
          </a:xfrm>
          <a:prstGeom prst="roundRect">
            <a:avLst>
              <a:gd name="adj" fmla="val 8824"/>
            </a:avLst>
          </a:prstGeom>
          <a:solidFill>
            <a:srgbClr val="14151C"/>
          </a:solidFill>
          <a:ln w="6350">
            <a:solidFill>
              <a:srgbClr val="3A3E52"/>
            </a:solidFill>
            <a:prstDash val="solid"/>
          </a:ln>
        </p:spPr>
      </p:sp>
      <p:sp>
        <p:nvSpPr>
          <p:cNvPr id="40" name="Text 37"/>
          <p:cNvSpPr/>
          <p:nvPr/>
        </p:nvSpPr>
        <p:spPr>
          <a:xfrm>
            <a:off x="3337560" y="5120640"/>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221 public pages</a:t>
            </a:r>
            <a:endParaRPr lang="en-US" sz="1150" dirty="0"/>
          </a:p>
        </p:txBody>
      </p:sp>
      <p:sp>
        <p:nvSpPr>
          <p:cNvPr id="41" name="Shape 38"/>
          <p:cNvSpPr/>
          <p:nvPr/>
        </p:nvSpPr>
        <p:spPr>
          <a:xfrm>
            <a:off x="5984138" y="5120640"/>
            <a:ext cx="2582570" cy="621792"/>
          </a:xfrm>
          <a:prstGeom prst="roundRect">
            <a:avLst>
              <a:gd name="adj" fmla="val 8824"/>
            </a:avLst>
          </a:prstGeom>
          <a:solidFill>
            <a:srgbClr val="14151C"/>
          </a:solidFill>
          <a:ln w="6350">
            <a:solidFill>
              <a:srgbClr val="3A3E52"/>
            </a:solidFill>
            <a:prstDash val="solid"/>
          </a:ln>
        </p:spPr>
      </p:sp>
      <p:sp>
        <p:nvSpPr>
          <p:cNvPr id="42" name="Text 39"/>
          <p:cNvSpPr/>
          <p:nvPr/>
        </p:nvSpPr>
        <p:spPr>
          <a:xfrm>
            <a:off x="6029858" y="5120640"/>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Read from the site's own menu</a:t>
            </a:r>
            <a:endParaRPr lang="en-US" sz="1150" dirty="0"/>
          </a:p>
        </p:txBody>
      </p:sp>
      <p:sp>
        <p:nvSpPr>
          <p:cNvPr id="43" name="Shape 40"/>
          <p:cNvSpPr/>
          <p:nvPr/>
        </p:nvSpPr>
        <p:spPr>
          <a:xfrm>
            <a:off x="8676437" y="5120640"/>
            <a:ext cx="2582570" cy="621792"/>
          </a:xfrm>
          <a:prstGeom prst="roundRect">
            <a:avLst>
              <a:gd name="adj" fmla="val 8824"/>
            </a:avLst>
          </a:prstGeom>
          <a:solidFill>
            <a:srgbClr val="14151C"/>
          </a:solidFill>
          <a:ln w="6350">
            <a:solidFill>
              <a:srgbClr val="3A3E52"/>
            </a:solidFill>
            <a:prstDash val="solid"/>
          </a:ln>
        </p:spPr>
      </p:sp>
      <p:sp>
        <p:nvSpPr>
          <p:cNvPr id="44" name="Text 41"/>
          <p:cNvSpPr/>
          <p:nvPr/>
        </p:nvSpPr>
        <p:spPr>
          <a:xfrm>
            <a:off x="8722157" y="5120640"/>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Day one: swap in internal sources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DEMO</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Four things to watch.</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4</a:t>
            </a:r>
            <a:endParaRPr lang="en-US" sz="900" dirty="0"/>
          </a:p>
        </p:txBody>
      </p:sp>
      <p:sp>
        <p:nvSpPr>
          <p:cNvPr id="7" name="Shape 4"/>
          <p:cNvSpPr/>
          <p:nvPr/>
        </p:nvSpPr>
        <p:spPr>
          <a:xfrm>
            <a:off x="5047488" y="1664208"/>
            <a:ext cx="6547104" cy="4112514"/>
          </a:xfrm>
          <a:prstGeom prst="rect">
            <a:avLst/>
          </a:prstGeom>
          <a:solidFill>
            <a:srgbClr val="3A3E52"/>
          </a:solidFill>
          <a:ln w="12700">
            <a:solidFill>
              <a:srgbClr val="3A3E52"/>
            </a:solidFill>
            <a:prstDash val="solid"/>
          </a:ln>
        </p:spPr>
      </p:sp>
      <p:pic>
        <p:nvPicPr>
          <p:cNvPr id="8" name="Image 0" descr="/Users/hamzasaraswat/Documents/Projects/RP_Demo/deck/shots/answer-trace.png">    </p:cNvPr>
          <p:cNvPicPr>
            <a:picLocks noChangeAspect="1"/>
          </p:cNvPicPr>
          <p:nvPr/>
        </p:nvPicPr>
        <p:blipFill>
          <a:blip r:embed="rId1"/>
          <a:stretch>
            <a:fillRect/>
          </a:stretch>
        </p:blipFill>
        <p:spPr>
          <a:xfrm>
            <a:off x="5074920" y="1691640"/>
            <a:ext cx="6492240" cy="4057650"/>
          </a:xfrm>
          <a:prstGeom prst="rect">
            <a:avLst/>
          </a:prstGeom>
        </p:spPr>
      </p:pic>
      <p:sp>
        <p:nvSpPr>
          <p:cNvPr id="9" name="Shape 5"/>
          <p:cNvSpPr/>
          <p:nvPr/>
        </p:nvSpPr>
        <p:spPr>
          <a:xfrm>
            <a:off x="640080" y="1847088"/>
            <a:ext cx="45720" cy="713232"/>
          </a:xfrm>
          <a:prstGeom prst="rect">
            <a:avLst/>
          </a:prstGeom>
          <a:solidFill>
            <a:srgbClr val="635BFF"/>
          </a:solidFill>
          <a:ln w="12700">
            <a:solidFill>
              <a:srgbClr val="635BFF"/>
            </a:solidFill>
            <a:prstDash val="solid"/>
          </a:ln>
        </p:spPr>
      </p:sp>
      <p:sp>
        <p:nvSpPr>
          <p:cNvPr id="10" name="Text 6"/>
          <p:cNvSpPr/>
          <p:nvPr/>
        </p:nvSpPr>
        <p:spPr>
          <a:xfrm>
            <a:off x="841248" y="1783080"/>
            <a:ext cx="4005072" cy="87782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Routing as I type.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The first decision runs on every pause, before I send.</a:t>
            </a:r>
            <a:endParaRPr lang="en-US" sz="1500" dirty="0"/>
          </a:p>
        </p:txBody>
      </p:sp>
      <p:sp>
        <p:nvSpPr>
          <p:cNvPr id="11" name="Shape 7"/>
          <p:cNvSpPr/>
          <p:nvPr/>
        </p:nvSpPr>
        <p:spPr>
          <a:xfrm>
            <a:off x="640080" y="2834640"/>
            <a:ext cx="45720" cy="713232"/>
          </a:xfrm>
          <a:prstGeom prst="rect">
            <a:avLst/>
          </a:prstGeom>
          <a:solidFill>
            <a:srgbClr val="635BFF"/>
          </a:solidFill>
          <a:ln w="12700">
            <a:solidFill>
              <a:srgbClr val="635BFF"/>
            </a:solidFill>
            <a:prstDash val="solid"/>
          </a:ln>
        </p:spPr>
      </p:sp>
      <p:sp>
        <p:nvSpPr>
          <p:cNvPr id="12" name="Text 8"/>
          <p:cNvSpPr/>
          <p:nvPr/>
        </p:nvSpPr>
        <p:spPr>
          <a:xfrm>
            <a:off x="841248" y="2770632"/>
            <a:ext cx="4005072" cy="87782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An answer.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Each sentence is checked against the source it cites.</a:t>
            </a:r>
            <a:endParaRPr lang="en-US" sz="1500" dirty="0"/>
          </a:p>
        </p:txBody>
      </p:sp>
      <p:sp>
        <p:nvSpPr>
          <p:cNvPr id="13" name="Shape 9"/>
          <p:cNvSpPr/>
          <p:nvPr/>
        </p:nvSpPr>
        <p:spPr>
          <a:xfrm>
            <a:off x="640080" y="3822192"/>
            <a:ext cx="45720" cy="713232"/>
          </a:xfrm>
          <a:prstGeom prst="rect">
            <a:avLst/>
          </a:prstGeom>
          <a:solidFill>
            <a:srgbClr val="635BFF"/>
          </a:solidFill>
          <a:ln w="12700">
            <a:solidFill>
              <a:srgbClr val="635BFF"/>
            </a:solidFill>
            <a:prstDash val="solid"/>
          </a:ln>
        </p:spPr>
      </p:sp>
      <p:sp>
        <p:nvSpPr>
          <p:cNvPr id="14" name="Text 10"/>
          <p:cNvSpPr/>
          <p:nvPr/>
        </p:nvSpPr>
        <p:spPr>
          <a:xfrm>
            <a:off x="841248" y="3758184"/>
            <a:ext cx="4005072" cy="87782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A handoff.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It says who owns this, and passes along what it found.</a:t>
            </a:r>
            <a:endParaRPr lang="en-US" sz="1500" dirty="0"/>
          </a:p>
        </p:txBody>
      </p:sp>
      <p:sp>
        <p:nvSpPr>
          <p:cNvPr id="15" name="Shape 11"/>
          <p:cNvSpPr/>
          <p:nvPr/>
        </p:nvSpPr>
        <p:spPr>
          <a:xfrm>
            <a:off x="640080" y="4809744"/>
            <a:ext cx="45720" cy="713232"/>
          </a:xfrm>
          <a:prstGeom prst="rect">
            <a:avLst/>
          </a:prstGeom>
          <a:solidFill>
            <a:srgbClr val="635BFF"/>
          </a:solidFill>
          <a:ln w="12700">
            <a:solidFill>
              <a:srgbClr val="635BFF"/>
            </a:solidFill>
            <a:prstDash val="solid"/>
          </a:ln>
        </p:spPr>
      </p:sp>
      <p:sp>
        <p:nvSpPr>
          <p:cNvPr id="16" name="Text 12"/>
          <p:cNvSpPr/>
          <p:nvPr/>
        </p:nvSpPr>
        <p:spPr>
          <a:xfrm>
            <a:off x="841248" y="4745736"/>
            <a:ext cx="4005072" cy="87782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A team switch.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Same core. Different sources and guidance.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WHY I MADE EACH CHOICE  ·  1 OF 3</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Jev decides. Claude writes. Code owns the rules.</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5</a:t>
            </a:r>
            <a:endParaRPr lang="en-US" sz="900" dirty="0"/>
          </a:p>
        </p:txBody>
      </p:sp>
      <p:sp>
        <p:nvSpPr>
          <p:cNvPr id="7" name="Shape 4"/>
          <p:cNvSpPr/>
          <p:nvPr/>
        </p:nvSpPr>
        <p:spPr>
          <a:xfrm>
            <a:off x="640080" y="1783080"/>
            <a:ext cx="3484778" cy="2514600"/>
          </a:xfrm>
          <a:prstGeom prst="roundRect">
            <a:avLst>
              <a:gd name="adj" fmla="val 2182"/>
            </a:avLst>
          </a:prstGeom>
          <a:solidFill>
            <a:srgbClr val="1C1E29"/>
          </a:solidFill>
          <a:ln w="9525">
            <a:solidFill>
              <a:srgbClr val="3A3E52"/>
            </a:solidFill>
            <a:prstDash val="solid"/>
          </a:ln>
        </p:spPr>
      </p:sp>
      <p:sp>
        <p:nvSpPr>
          <p:cNvPr id="8" name="Text 5"/>
          <p:cNvSpPr/>
          <p:nvPr/>
        </p:nvSpPr>
        <p:spPr>
          <a:xfrm>
            <a:off x="868680" y="1920240"/>
            <a:ext cx="3027578" cy="256032"/>
          </a:xfrm>
          <a:prstGeom prst="rect">
            <a:avLst/>
          </a:prstGeom>
          <a:noFill/>
          <a:ln/>
        </p:spPr>
        <p:txBody>
          <a:bodyPr wrap="square" lIns="0" tIns="0" rIns="0" bIns="0" rtlCol="0" anchor="ctr"/>
          <a:lstStyle/>
          <a:p>
            <a:pPr indent="0" marL="0">
              <a:buNone/>
            </a:pPr>
            <a:r>
              <a:rPr lang="en-US" sz="1100" b="1" spc="300" kern="0" dirty="0">
                <a:solidFill>
                  <a:srgbClr val="9DA1B7"/>
                </a:solidFill>
                <a:latin typeface="Courier New" pitchFamily="34" charset="0"/>
                <a:ea typeface="Courier New" pitchFamily="34" charset="-122"/>
                <a:cs typeface="Courier New" pitchFamily="34" charset="-120"/>
              </a:rPr>
              <a:t>CODE</a:t>
            </a:r>
            <a:endParaRPr lang="en-US" sz="1100" dirty="0"/>
          </a:p>
        </p:txBody>
      </p:sp>
      <p:sp>
        <p:nvSpPr>
          <p:cNvPr id="9" name="Text 6"/>
          <p:cNvSpPr/>
          <p:nvPr/>
        </p:nvSpPr>
        <p:spPr>
          <a:xfrm>
            <a:off x="868680" y="2194560"/>
            <a:ext cx="3027578" cy="411480"/>
          </a:xfrm>
          <a:prstGeom prst="rect">
            <a:avLst/>
          </a:prstGeom>
          <a:noFill/>
          <a:ln/>
        </p:spPr>
        <p:txBody>
          <a:bodyPr wrap="square" lIns="0" tIns="0" rIns="0" bIns="0" rtlCol="0" anchor="ctr"/>
          <a:lstStyle/>
          <a:p>
            <a:pPr indent="0" marL="0">
              <a:buNone/>
            </a:pPr>
            <a:r>
              <a:rPr lang="en-US" sz="2100" dirty="0">
                <a:solidFill>
                  <a:srgbClr val="E8EAF2"/>
                </a:solidFill>
                <a:latin typeface="Georgia" pitchFamily="34" charset="0"/>
                <a:ea typeface="Georgia" pitchFamily="34" charset="-122"/>
                <a:cs typeface="Georgia" pitchFamily="34" charset="-120"/>
              </a:rPr>
              <a:t>Owns the rules</a:t>
            </a:r>
            <a:endParaRPr lang="en-US" sz="2100" dirty="0"/>
          </a:p>
        </p:txBody>
      </p:sp>
      <p:sp>
        <p:nvSpPr>
          <p:cNvPr id="10" name="Text 7"/>
          <p:cNvSpPr/>
          <p:nvPr/>
        </p:nvSpPr>
        <p:spPr>
          <a:xfrm>
            <a:off x="868680" y="2697480"/>
            <a:ext cx="3027578"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Notices product names</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Runs the keyword search</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Decides what ships</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Every outcome is unit tested</a:t>
            </a:r>
            <a:endParaRPr lang="en-US" sz="1300" dirty="0"/>
          </a:p>
        </p:txBody>
      </p:sp>
      <p:sp>
        <p:nvSpPr>
          <p:cNvPr id="11" name="Shape 8"/>
          <p:cNvSpPr/>
          <p:nvPr/>
        </p:nvSpPr>
        <p:spPr>
          <a:xfrm>
            <a:off x="4353458" y="1783080"/>
            <a:ext cx="3484778" cy="2514600"/>
          </a:xfrm>
          <a:prstGeom prst="roundRect">
            <a:avLst>
              <a:gd name="adj" fmla="val 2182"/>
            </a:avLst>
          </a:prstGeom>
          <a:solidFill>
            <a:srgbClr val="1C1E29"/>
          </a:solidFill>
          <a:ln w="9525">
            <a:solidFill>
              <a:srgbClr val="3A3E52"/>
            </a:solidFill>
            <a:prstDash val="solid"/>
          </a:ln>
        </p:spPr>
      </p:sp>
      <p:sp>
        <p:nvSpPr>
          <p:cNvPr id="12" name="Text 9"/>
          <p:cNvSpPr/>
          <p:nvPr/>
        </p:nvSpPr>
        <p:spPr>
          <a:xfrm>
            <a:off x="4582058" y="1920240"/>
            <a:ext cx="3027578" cy="256032"/>
          </a:xfrm>
          <a:prstGeom prst="rect">
            <a:avLst/>
          </a:prstGeom>
          <a:noFill/>
          <a:ln/>
        </p:spPr>
        <p:txBody>
          <a:bodyPr wrap="square" lIns="0" tIns="0" rIns="0" bIns="0" rtlCol="0" anchor="ctr"/>
          <a:lstStyle/>
          <a:p>
            <a:pPr indent="0" marL="0">
              <a:buNone/>
            </a:pPr>
            <a:r>
              <a:rPr lang="en-US" sz="1100" b="1" spc="300" kern="0" dirty="0">
                <a:solidFill>
                  <a:srgbClr val="80E9FF"/>
                </a:solidFill>
                <a:latin typeface="Courier New" pitchFamily="34" charset="0"/>
                <a:ea typeface="Courier New" pitchFamily="34" charset="-122"/>
                <a:cs typeface="Courier New" pitchFamily="34" charset="-120"/>
              </a:rPr>
              <a:t>JEV</a:t>
            </a:r>
            <a:endParaRPr lang="en-US" sz="1100" dirty="0"/>
          </a:p>
        </p:txBody>
      </p:sp>
      <p:sp>
        <p:nvSpPr>
          <p:cNvPr id="13" name="Text 10"/>
          <p:cNvSpPr/>
          <p:nvPr/>
        </p:nvSpPr>
        <p:spPr>
          <a:xfrm>
            <a:off x="4582058" y="2194560"/>
            <a:ext cx="3027578" cy="411480"/>
          </a:xfrm>
          <a:prstGeom prst="rect">
            <a:avLst/>
          </a:prstGeom>
          <a:noFill/>
          <a:ln/>
        </p:spPr>
        <p:txBody>
          <a:bodyPr wrap="square" lIns="0" tIns="0" rIns="0" bIns="0" rtlCol="0" anchor="ctr"/>
          <a:lstStyle/>
          <a:p>
            <a:pPr indent="0" marL="0">
              <a:buNone/>
            </a:pPr>
            <a:r>
              <a:rPr lang="en-US" sz="2100" dirty="0">
                <a:solidFill>
                  <a:srgbClr val="E8EAF2"/>
                </a:solidFill>
                <a:latin typeface="Georgia" pitchFamily="34" charset="0"/>
                <a:ea typeface="Georgia" pitchFamily="34" charset="-122"/>
                <a:cs typeface="Georgia" pitchFamily="34" charset="-120"/>
              </a:rPr>
              <a:t>Makes each judgment</a:t>
            </a:r>
            <a:endParaRPr lang="en-US" sz="2100" dirty="0"/>
          </a:p>
        </p:txBody>
      </p:sp>
      <p:sp>
        <p:nvSpPr>
          <p:cNvPr id="14" name="Text 11"/>
          <p:cNvSpPr/>
          <p:nvPr/>
        </p:nvSpPr>
        <p:spPr>
          <a:xfrm>
            <a:off x="4582058" y="2697480"/>
            <a:ext cx="3027578"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Which family and product</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Does this passage hold evidence</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Does this sentence match its source</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Returns a probability, in about 250 ms</a:t>
            </a:r>
            <a:endParaRPr lang="en-US" sz="1300" dirty="0"/>
          </a:p>
        </p:txBody>
      </p:sp>
      <p:sp>
        <p:nvSpPr>
          <p:cNvPr id="15" name="Shape 12"/>
          <p:cNvSpPr/>
          <p:nvPr/>
        </p:nvSpPr>
        <p:spPr>
          <a:xfrm>
            <a:off x="8066837" y="1783080"/>
            <a:ext cx="3484778" cy="2514600"/>
          </a:xfrm>
          <a:prstGeom prst="roundRect">
            <a:avLst>
              <a:gd name="adj" fmla="val 2182"/>
            </a:avLst>
          </a:prstGeom>
          <a:solidFill>
            <a:srgbClr val="1C1E29"/>
          </a:solidFill>
          <a:ln w="9525">
            <a:solidFill>
              <a:srgbClr val="3A3E52"/>
            </a:solidFill>
            <a:prstDash val="solid"/>
          </a:ln>
        </p:spPr>
      </p:sp>
      <p:sp>
        <p:nvSpPr>
          <p:cNvPr id="16" name="Text 13"/>
          <p:cNvSpPr/>
          <p:nvPr/>
        </p:nvSpPr>
        <p:spPr>
          <a:xfrm>
            <a:off x="8295437" y="1920240"/>
            <a:ext cx="3027578" cy="256032"/>
          </a:xfrm>
          <a:prstGeom prst="rect">
            <a:avLst/>
          </a:prstGeom>
          <a:noFill/>
          <a:ln/>
        </p:spPr>
        <p:txBody>
          <a:bodyPr wrap="square" lIns="0" tIns="0" rIns="0" bIns="0" rtlCol="0" anchor="ctr"/>
          <a:lstStyle/>
          <a:p>
            <a:pPr indent="0" marL="0">
              <a:buNone/>
            </a:pPr>
            <a:r>
              <a:rPr lang="en-US" sz="1100" b="1" spc="300" kern="0" dirty="0">
                <a:solidFill>
                  <a:srgbClr val="FFB547"/>
                </a:solidFill>
                <a:latin typeface="Courier New" pitchFamily="34" charset="0"/>
                <a:ea typeface="Courier New" pitchFamily="34" charset="-122"/>
                <a:cs typeface="Courier New" pitchFamily="34" charset="-120"/>
              </a:rPr>
              <a:t>CLAUDE</a:t>
            </a:r>
            <a:endParaRPr lang="en-US" sz="1100" dirty="0"/>
          </a:p>
        </p:txBody>
      </p:sp>
      <p:sp>
        <p:nvSpPr>
          <p:cNvPr id="17" name="Text 14"/>
          <p:cNvSpPr/>
          <p:nvPr/>
        </p:nvSpPr>
        <p:spPr>
          <a:xfrm>
            <a:off x="8295437" y="2194560"/>
            <a:ext cx="3027578" cy="411480"/>
          </a:xfrm>
          <a:prstGeom prst="rect">
            <a:avLst/>
          </a:prstGeom>
          <a:noFill/>
          <a:ln/>
        </p:spPr>
        <p:txBody>
          <a:bodyPr wrap="square" lIns="0" tIns="0" rIns="0" bIns="0" rtlCol="0" anchor="ctr"/>
          <a:lstStyle/>
          <a:p>
            <a:pPr indent="0" marL="0">
              <a:buNone/>
            </a:pPr>
            <a:r>
              <a:rPr lang="en-US" sz="2100" dirty="0">
                <a:solidFill>
                  <a:srgbClr val="E8EAF2"/>
                </a:solidFill>
                <a:latin typeface="Georgia" pitchFamily="34" charset="0"/>
                <a:ea typeface="Georgia" pitchFamily="34" charset="-122"/>
                <a:cs typeface="Georgia" pitchFamily="34" charset="-120"/>
              </a:rPr>
              <a:t>Writes</a:t>
            </a:r>
            <a:endParaRPr lang="en-US" sz="2100" dirty="0"/>
          </a:p>
        </p:txBody>
      </p:sp>
      <p:sp>
        <p:nvSpPr>
          <p:cNvPr id="18" name="Text 15"/>
          <p:cNvSpPr/>
          <p:nvPr/>
        </p:nvSpPr>
        <p:spPr>
          <a:xfrm>
            <a:off x="8295437" y="2697480"/>
            <a:ext cx="3027578" cy="1508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Only from passages that passed</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Cites every sentence</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Says what the sources do not cover</a:t>
            </a:r>
            <a:endParaRPr lang="en-US" sz="1300" dirty="0"/>
          </a:p>
          <a:p>
            <a:pPr marL="342900" indent="-342900">
              <a:spcAft>
                <a:spcPts val="500"/>
              </a:spcAft>
              <a:buSzPct val="100000"/>
              <a:buChar char="•"/>
            </a:pPr>
            <a:r>
              <a:rPr lang="en-US" sz="1300" dirty="0">
                <a:solidFill>
                  <a:srgbClr val="9DA1B7"/>
                </a:solidFill>
                <a:latin typeface="Arial" pitchFamily="34" charset="0"/>
                <a:ea typeface="Arial" pitchFamily="34" charset="-122"/>
                <a:cs typeface="Arial" pitchFamily="34" charset="-120"/>
              </a:rPr>
              <a:t>Never decides anything</a:t>
            </a:r>
            <a:endParaRPr lang="en-US" sz="1300" dirty="0"/>
          </a:p>
        </p:txBody>
      </p:sp>
      <p:sp>
        <p:nvSpPr>
          <p:cNvPr id="19" name="Shape 16"/>
          <p:cNvSpPr/>
          <p:nvPr/>
        </p:nvSpPr>
        <p:spPr>
          <a:xfrm>
            <a:off x="640080" y="4636008"/>
            <a:ext cx="45720" cy="438912"/>
          </a:xfrm>
          <a:prstGeom prst="rect">
            <a:avLst/>
          </a:prstGeom>
          <a:solidFill>
            <a:srgbClr val="635BFF"/>
          </a:solidFill>
          <a:ln w="12700">
            <a:solidFill>
              <a:srgbClr val="635BFF"/>
            </a:solidFill>
            <a:prstDash val="solid"/>
          </a:ln>
        </p:spPr>
      </p:sp>
      <p:sp>
        <p:nvSpPr>
          <p:cNvPr id="20" name="Text 17"/>
          <p:cNvSpPr/>
          <p:nvPr/>
        </p:nvSpPr>
        <p:spPr>
          <a:xfrm>
            <a:off x="841248" y="4572000"/>
            <a:ext cx="10710367" cy="60350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Questions come from real misses.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I rewrite a check when a real question fools it, not before.</a:t>
            </a:r>
            <a:endParaRPr lang="en-US" sz="1500" dirty="0"/>
          </a:p>
        </p:txBody>
      </p:sp>
      <p:sp>
        <p:nvSpPr>
          <p:cNvPr id="21" name="Shape 18"/>
          <p:cNvSpPr/>
          <p:nvPr/>
        </p:nvSpPr>
        <p:spPr>
          <a:xfrm>
            <a:off x="640080" y="5349240"/>
            <a:ext cx="45720" cy="438912"/>
          </a:xfrm>
          <a:prstGeom prst="rect">
            <a:avLst/>
          </a:prstGeom>
          <a:solidFill>
            <a:srgbClr val="635BFF"/>
          </a:solidFill>
          <a:ln w="12700">
            <a:solidFill>
              <a:srgbClr val="635BFF"/>
            </a:solidFill>
            <a:prstDash val="solid"/>
          </a:ln>
        </p:spPr>
      </p:sp>
      <p:sp>
        <p:nvSpPr>
          <p:cNvPr id="22" name="Text 19"/>
          <p:cNvSpPr/>
          <p:nvPr/>
        </p:nvSpPr>
        <p:spPr>
          <a:xfrm>
            <a:off x="841248" y="5285232"/>
            <a:ext cx="10710367" cy="603504"/>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It fails closed.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A sentence with no source is deleted. A check that errors counts as no.</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WHY I MADE EACH CHOICE  ·  2 OF 3</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Retrieval: I picked the rung the numbers supported.</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3566160"/>
                <a:gridCol w="3566160"/>
                <a:gridCol w="3779215"/>
              </a:tblGrid>
              <a:tr h="512064">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OPTION</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WHAT IT ADDS</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USE IT WHEN</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1  Keyword search + evidence check</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c>
                  <a:txBody>
                    <a:bodyPr/>
                    <a:lstStyle/>
                    <a:p>
                      <a:pPr indent="0" marL="0">
                        <a:buNone/>
                      </a:pPr>
                      <a:r>
                        <a:rPr lang="en-US" sz="1200" dirty="0">
                          <a:solidFill>
                            <a:srgbClr val="E8EAF2"/>
                          </a:solidFill>
                          <a:latin typeface="Arial" pitchFamily="34" charset="0"/>
                          <a:ea typeface="Arial" pitchFamily="34" charset="-122"/>
                          <a:cs typeface="Arial" pitchFamily="34" charset="-120"/>
                        </a:rPr>
                        <a:t>Nothing to run. Exact names and terms.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c>
                  <a:txBody>
                    <a:bodyPr/>
                    <a:lstStyle/>
                    <a:p>
                      <a:pPr indent="0" marL="0">
                        <a:buNone/>
                      </a:pPr>
                      <a:r>
                        <a:rPr lang="en-US" sz="1200" dirty="0">
                          <a:solidFill>
                            <a:srgbClr val="E8EAF2"/>
                          </a:solidFill>
                          <a:latin typeface="Arial" pitchFamily="34" charset="0"/>
                          <a:ea typeface="Arial" pitchFamily="34" charset="-122"/>
                          <a:cs typeface="Arial" pitchFamily="34" charset="-120"/>
                        </a:rPr>
                        <a:t>People use the words the docs use. Chosen here.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2  Query rewriting</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A model turns a messy question into search terms.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People use different words, or internal jargon.</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3  Hybrid: keyword, then embeddings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Meaning, not only words.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Questions are conceptual and content is stable.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4  Embed on the fly</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Always fresh. Slower per query.</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Content changes every day.</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5  Hot and cold tiers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Pre-embed the popular 20%.</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Large corpus with clear traffic patterns.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12064">
                <a:tc>
                  <a:txBody>
                    <a:bodyPr/>
                    <a:lstStyle/>
                    <a:p>
                      <a:pPr indent="0" marL="0">
                        <a:buNone/>
                      </a:pPr>
                      <a:r>
                        <a:rPr lang="en-US" sz="1200" b="1" dirty="0">
                          <a:solidFill>
                            <a:srgbClr val="E8EAF2"/>
                          </a:solidFill>
                          <a:latin typeface="Arial" pitchFamily="34" charset="0"/>
                          <a:ea typeface="Arial" pitchFamily="34" charset="-122"/>
                          <a:cs typeface="Arial" pitchFamily="34" charset="-120"/>
                        </a:rPr>
                        <a:t>6  Full vector database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Fastest at scale. Costly to re-embed.</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Over 10,000 queries a day, stable corpus.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bl>
          </a:graphicData>
        </a:graphic>
      </p:graphicFrame>
      <p:sp>
        <p:nvSpPr>
          <p:cNvPr id="8" name="Text 4"/>
          <p:cNvSpPr/>
          <p:nvPr/>
        </p:nvSpPr>
        <p:spPr>
          <a:xfrm>
            <a:off x="640080" y="5532120"/>
            <a:ext cx="10911535" cy="548640"/>
          </a:xfrm>
          <a:prstGeom prst="rect">
            <a:avLst/>
          </a:prstGeom>
          <a:noFill/>
          <a:ln/>
        </p:spPr>
        <p:txBody>
          <a:bodyPr wrap="square" lIns="0" tIns="0" rIns="0" bIns="0" rtlCol="0" anchor="t"/>
          <a:lstStyle/>
          <a:p>
            <a:pPr indent="0" marL="0">
              <a:buNone/>
            </a:pPr>
            <a:r>
              <a:rPr lang="en-US" sz="1400" b="1" dirty="0">
                <a:solidFill>
                  <a:srgbClr val="E8EAF2"/>
                </a:solidFill>
                <a:latin typeface="Arial" pitchFamily="34" charset="0"/>
                <a:ea typeface="Arial" pitchFamily="34" charset="-122"/>
                <a:cs typeface="Arial" pitchFamily="34" charset="-120"/>
              </a:rPr>
              <a:t>My trigger to move up:  </a:t>
            </a:r>
            <a:pPr indent="0" marL="0">
              <a:buNone/>
            </a:pPr>
            <a:r>
              <a:rPr lang="en-US" sz="1400" dirty="0">
                <a:solidFill>
                  <a:srgbClr val="9DA1B7"/>
                </a:solidFill>
                <a:latin typeface="Arial" pitchFamily="34" charset="0"/>
                <a:ea typeface="Arial" pitchFamily="34" charset="-122"/>
                <a:cs typeface="Arial" pitchFamily="34" charset="-120"/>
              </a:rPr>
              <a:t>the right page missing for more than 15% of answerable questions. Set before the first run. It did not fire.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WHY I MADE EACH CHOICE  ·  3 OF 3</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Knowledge store: markdown files a person can read.</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3566160"/>
                <a:gridCol w="7345375"/>
              </a:tblGrid>
              <a:tr h="566928">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OPTION</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c>
                  <a:txBody>
                    <a:bodyPr/>
                    <a:lstStyle/>
                    <a:p>
                      <a:pPr indent="0" marL="0">
                        <a:buNone/>
                      </a:pPr>
                      <a:r>
                        <a:rPr lang="en-US" sz="1000" b="1" dirty="0">
                          <a:solidFill>
                            <a:srgbClr val="80E9FF"/>
                          </a:solidFill>
                          <a:latin typeface="Courier New" pitchFamily="34" charset="0"/>
                          <a:ea typeface="Courier New" pitchFamily="34" charset="-122"/>
                          <a:cs typeface="Courier New" pitchFamily="34" charset="-120"/>
                        </a:rPr>
                        <a:t>USE IT WHEN</a:t>
                      </a:r>
                      <a:endParaRPr lang="en-US" sz="1000" dirty="0">
                        <a:latin typeface="Courier New" charset="0"/>
                        <a:ea typeface="Courier New" charset="0"/>
                        <a:cs typeface="Courier New"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4151C"/>
                    </a:solidFill>
                  </a:tcPr>
                </a:tc>
              </a:tr>
              <a:tr h="566928">
                <a:tc>
                  <a:txBody>
                    <a:bodyPr/>
                    <a:lstStyle/>
                    <a:p>
                      <a:pPr indent="0" marL="0">
                        <a:buNone/>
                      </a:pPr>
                      <a:r>
                        <a:rPr lang="en-US" sz="1200" b="1" dirty="0">
                          <a:solidFill>
                            <a:srgbClr val="E8EAF2"/>
                          </a:solidFill>
                          <a:latin typeface="Arial" pitchFamily="34" charset="0"/>
                          <a:ea typeface="Arial" pitchFamily="34" charset="-122"/>
                          <a:cs typeface="Arial" pitchFamily="34" charset="-120"/>
                        </a:rPr>
                        <a:t>1  Markdown files, linked</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c>
                  <a:txBody>
                    <a:bodyPr/>
                    <a:lstStyle/>
                    <a:p>
                      <a:pPr indent="0" marL="0">
                        <a:buNone/>
                      </a:pPr>
                      <a:r>
                        <a:rPr lang="en-US" sz="1200" dirty="0">
                          <a:solidFill>
                            <a:srgbClr val="E8EAF2"/>
                          </a:solidFill>
                          <a:latin typeface="Arial" pitchFamily="34" charset="0"/>
                          <a:ea typeface="Arial" pitchFamily="34" charset="-122"/>
                          <a:cs typeface="Arial" pitchFamily="34" charset="-120"/>
                        </a:rPr>
                        <a:t>Hundreds to a few thousand entities that people need to read and correct. Chosen here.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2A2860"/>
                    </a:solidFill>
                  </a:tcPr>
                </a:tc>
              </a:tr>
              <a:tr h="566928">
                <a:tc>
                  <a:txBody>
                    <a:bodyPr/>
                    <a:lstStyle/>
                    <a:p>
                      <a:pPr indent="0" marL="0">
                        <a:buNone/>
                      </a:pPr>
                      <a:r>
                        <a:rPr lang="en-US" sz="1200" b="1" dirty="0">
                          <a:solidFill>
                            <a:srgbClr val="E8EAF2"/>
                          </a:solidFill>
                          <a:latin typeface="Arial" pitchFamily="34" charset="0"/>
                          <a:ea typeface="Arial" pitchFamily="34" charset="-122"/>
                          <a:cs typeface="Arial" pitchFamily="34" charset="-120"/>
                        </a:rPr>
                        <a:t>2  Generated graph</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You have mixed material and want to discover structure you do not know yet.</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66928">
                <a:tc>
                  <a:txBody>
                    <a:bodyPr/>
                    <a:lstStyle/>
                    <a:p>
                      <a:pPr indent="0" marL="0">
                        <a:buNone/>
                      </a:pPr>
                      <a:r>
                        <a:rPr lang="en-US" sz="1200" b="1" dirty="0">
                          <a:solidFill>
                            <a:srgbClr val="E8EAF2"/>
                          </a:solidFill>
                          <a:latin typeface="Arial" pitchFamily="34" charset="0"/>
                          <a:ea typeface="Arial" pitchFamily="34" charset="-122"/>
                          <a:cs typeface="Arial" pitchFamily="34" charset="-120"/>
                        </a:rPr>
                        <a:t>3  Graph database</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You need multi-hop queries across millions of relationships.</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r h="566928">
                <a:tc>
                  <a:txBody>
                    <a:bodyPr/>
                    <a:lstStyle/>
                    <a:p>
                      <a:pPr indent="0" marL="0">
                        <a:buNone/>
                      </a:pPr>
                      <a:r>
                        <a:rPr lang="en-US" sz="1200" b="1" dirty="0">
                          <a:solidFill>
                            <a:srgbClr val="E8EAF2"/>
                          </a:solidFill>
                          <a:latin typeface="Arial" pitchFamily="34" charset="0"/>
                          <a:ea typeface="Arial" pitchFamily="34" charset="-122"/>
                          <a:cs typeface="Arial" pitchFamily="34" charset="-120"/>
                        </a:rPr>
                        <a:t>4  Managed knowledge platform</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c>
                  <a:txBody>
                    <a:bodyPr/>
                    <a:lstStyle/>
                    <a:p>
                      <a:pPr indent="0" marL="0">
                        <a:buNone/>
                      </a:pPr>
                      <a:r>
                        <a:rPr lang="en-US" sz="1200" dirty="0">
                          <a:solidFill>
                            <a:srgbClr val="9DA1B7"/>
                          </a:solidFill>
                          <a:latin typeface="Arial" pitchFamily="34" charset="0"/>
                          <a:ea typeface="Arial" pitchFamily="34" charset="-122"/>
                          <a:cs typeface="Arial" pitchFamily="34" charset="-120"/>
                        </a:rPr>
                        <a:t>Many live sources with permissions: chat, tickets, wiki. What I run in production.</a:t>
                      </a:r>
                      <a:endParaRPr lang="en-US" sz="1200" dirty="0">
                        <a:latin typeface="Arial" charset="0"/>
                        <a:ea typeface="Arial" charset="0"/>
                        <a:cs typeface="Arial" charset="0"/>
                      </a:endParaRPr>
                    </a:p>
                  </a:txBody>
                  <a:tcPr marL="128016" marR="128016" marT="36576" marB="36576" anchor="ctr">
                    <a:lnL w="6350" cap="flat" cmpd="sng" algn="ctr">
                      <a:solidFill>
                        <a:srgbClr val="3A3E52"/>
                      </a:solidFill>
                      <a:prstDash val="solid"/>
                      <a:round/>
                      <a:headEnd type="none" w="med" len="med"/>
                      <a:tailEnd type="none" w="med" len="med"/>
                    </a:lnL>
                    <a:lnR w="6350" cap="flat" cmpd="sng" algn="ctr">
                      <a:solidFill>
                        <a:srgbClr val="3A3E52"/>
                      </a:solidFill>
                      <a:prstDash val="solid"/>
                      <a:round/>
                      <a:headEnd type="none" w="med" len="med"/>
                      <a:tailEnd type="none" w="med" len="med"/>
                    </a:lnR>
                    <a:lnT w="6350" cap="flat" cmpd="sng" algn="ctr">
                      <a:solidFill>
                        <a:srgbClr val="3A3E52"/>
                      </a:solidFill>
                      <a:prstDash val="solid"/>
                      <a:round/>
                      <a:headEnd type="none" w="med" len="med"/>
                      <a:tailEnd type="none" w="med" len="med"/>
                    </a:lnT>
                    <a:lnB w="6350" cap="flat" cmpd="sng" algn="ctr">
                      <a:solidFill>
                        <a:srgbClr val="3A3E52"/>
                      </a:solidFill>
                      <a:prstDash val="solid"/>
                      <a:round/>
                      <a:headEnd type="none" w="med" len="med"/>
                      <a:tailEnd type="none" w="med" len="med"/>
                    </a:lnB>
                    <a:solidFill>
                      <a:srgbClr val="1C1E29"/>
                    </a:solidFill>
                  </a:tcPr>
                </a:tc>
              </a:tr>
            </a:tbl>
          </a:graphicData>
        </a:graphic>
      </p:graphicFrame>
      <p:sp>
        <p:nvSpPr>
          <p:cNvPr id="8" name="Shape 4"/>
          <p:cNvSpPr/>
          <p:nvPr/>
        </p:nvSpPr>
        <p:spPr>
          <a:xfrm>
            <a:off x="640080" y="5138928"/>
            <a:ext cx="45720" cy="365760"/>
          </a:xfrm>
          <a:prstGeom prst="rect">
            <a:avLst/>
          </a:prstGeom>
          <a:solidFill>
            <a:srgbClr val="635BFF"/>
          </a:solidFill>
          <a:ln w="12700">
            <a:solidFill>
              <a:srgbClr val="635BFF"/>
            </a:solidFill>
            <a:prstDash val="solid"/>
          </a:ln>
        </p:spPr>
      </p:sp>
      <p:sp>
        <p:nvSpPr>
          <p:cNvPr id="9" name="Text 5"/>
          <p:cNvSpPr/>
          <p:nvPr/>
        </p:nvSpPr>
        <p:spPr>
          <a:xfrm>
            <a:off x="841248" y="5074920"/>
            <a:ext cx="10710367" cy="530352"/>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Structure is never guessed.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Families and products come from the site's own menu, read by code.</a:t>
            </a:r>
            <a:endParaRPr lang="en-US" sz="1450" dirty="0"/>
          </a:p>
        </p:txBody>
      </p:sp>
      <p:sp>
        <p:nvSpPr>
          <p:cNvPr id="10" name="Shape 6"/>
          <p:cNvSpPr/>
          <p:nvPr/>
        </p:nvSpPr>
        <p:spPr>
          <a:xfrm>
            <a:off x="640080" y="5779008"/>
            <a:ext cx="45720" cy="365760"/>
          </a:xfrm>
          <a:prstGeom prst="rect">
            <a:avLst/>
          </a:prstGeom>
          <a:solidFill>
            <a:srgbClr val="635BFF"/>
          </a:solidFill>
          <a:ln w="12700">
            <a:solidFill>
              <a:srgbClr val="635BFF"/>
            </a:solidFill>
            <a:prstDash val="solid"/>
          </a:ln>
        </p:spPr>
      </p:sp>
      <p:sp>
        <p:nvSpPr>
          <p:cNvPr id="11" name="Text 7"/>
          <p:cNvSpPr/>
          <p:nvPr/>
        </p:nvSpPr>
        <p:spPr>
          <a:xfrm>
            <a:off x="841248" y="5715000"/>
            <a:ext cx="10710367" cy="530352"/>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Uncertainty is written down.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Where Jev placed a product, its confidence is on the file. Two are flagged for a person.</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RESULTS</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9 of 10 on questions it had never seen.</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8</a:t>
            </a:r>
            <a:endParaRPr lang="en-US" sz="900" dirty="0"/>
          </a:p>
        </p:txBody>
      </p:sp>
      <p:sp>
        <p:nvSpPr>
          <p:cNvPr id="7" name="Shape 4"/>
          <p:cNvSpPr/>
          <p:nvPr/>
        </p:nvSpPr>
        <p:spPr>
          <a:xfrm>
            <a:off x="640080" y="1783080"/>
            <a:ext cx="2556434" cy="1828800"/>
          </a:xfrm>
          <a:prstGeom prst="roundRect">
            <a:avLst>
              <a:gd name="adj" fmla="val 4000"/>
            </a:avLst>
          </a:prstGeom>
          <a:solidFill>
            <a:srgbClr val="1C1E29"/>
          </a:solidFill>
          <a:ln w="9525">
            <a:solidFill>
              <a:srgbClr val="3A3E52"/>
            </a:solidFill>
            <a:prstDash val="solid"/>
          </a:ln>
        </p:spPr>
      </p:sp>
      <p:sp>
        <p:nvSpPr>
          <p:cNvPr id="8" name="Text 5"/>
          <p:cNvSpPr/>
          <p:nvPr/>
        </p:nvSpPr>
        <p:spPr>
          <a:xfrm>
            <a:off x="868680" y="1947672"/>
            <a:ext cx="2099234" cy="731520"/>
          </a:xfrm>
          <a:prstGeom prst="rect">
            <a:avLst/>
          </a:prstGeom>
          <a:noFill/>
          <a:ln/>
        </p:spPr>
        <p:txBody>
          <a:bodyPr wrap="square" lIns="0" tIns="0" rIns="0" bIns="0" rtlCol="0" anchor="ctr"/>
          <a:lstStyle/>
          <a:p>
            <a:pPr indent="0" marL="0">
              <a:buNone/>
            </a:pPr>
            <a:r>
              <a:rPr lang="en-US" sz="4000" dirty="0">
                <a:solidFill>
                  <a:srgbClr val="00D4AA"/>
                </a:solidFill>
                <a:latin typeface="Georgia" pitchFamily="34" charset="0"/>
                <a:ea typeface="Georgia" pitchFamily="34" charset="-122"/>
                <a:cs typeface="Georgia" pitchFamily="34" charset="-120"/>
              </a:rPr>
              <a:t>9/10</a:t>
            </a:r>
            <a:endParaRPr lang="en-US" sz="4000" dirty="0"/>
          </a:p>
        </p:txBody>
      </p:sp>
      <p:sp>
        <p:nvSpPr>
          <p:cNvPr id="9" name="Text 6"/>
          <p:cNvSpPr/>
          <p:nvPr/>
        </p:nvSpPr>
        <p:spPr>
          <a:xfrm>
            <a:off x="868680"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Held-out questions</a:t>
            </a:r>
            <a:endParaRPr lang="en-US" sz="1300" dirty="0"/>
          </a:p>
        </p:txBody>
      </p:sp>
      <p:sp>
        <p:nvSpPr>
          <p:cNvPr id="10" name="Text 7"/>
          <p:cNvSpPr/>
          <p:nvPr/>
        </p:nvSpPr>
        <p:spPr>
          <a:xfrm>
            <a:off x="868680"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Written after tuning stopped, committed, then run once.</a:t>
            </a:r>
            <a:endParaRPr lang="en-US" sz="1050" dirty="0"/>
          </a:p>
        </p:txBody>
      </p:sp>
      <p:sp>
        <p:nvSpPr>
          <p:cNvPr id="11" name="Shape 8"/>
          <p:cNvSpPr/>
          <p:nvPr/>
        </p:nvSpPr>
        <p:spPr>
          <a:xfrm>
            <a:off x="3425114" y="1783080"/>
            <a:ext cx="2556434" cy="1828800"/>
          </a:xfrm>
          <a:prstGeom prst="roundRect">
            <a:avLst>
              <a:gd name="adj" fmla="val 4000"/>
            </a:avLst>
          </a:prstGeom>
          <a:solidFill>
            <a:srgbClr val="1C1E29"/>
          </a:solidFill>
          <a:ln w="9525">
            <a:solidFill>
              <a:srgbClr val="3A3E52"/>
            </a:solidFill>
            <a:prstDash val="solid"/>
          </a:ln>
        </p:spPr>
      </p:sp>
      <p:sp>
        <p:nvSpPr>
          <p:cNvPr id="12" name="Text 9"/>
          <p:cNvSpPr/>
          <p:nvPr/>
        </p:nvSpPr>
        <p:spPr>
          <a:xfrm>
            <a:off x="3653714" y="1947672"/>
            <a:ext cx="2099234" cy="731520"/>
          </a:xfrm>
          <a:prstGeom prst="rect">
            <a:avLst/>
          </a:prstGeom>
          <a:noFill/>
          <a:ln/>
        </p:spPr>
        <p:txBody>
          <a:bodyPr wrap="square" lIns="0" tIns="0" rIns="0" bIns="0" rtlCol="0" anchor="ctr"/>
          <a:lstStyle/>
          <a:p>
            <a:pPr indent="0" marL="0">
              <a:buNone/>
            </a:pPr>
            <a:r>
              <a:rPr lang="en-US" sz="4000" dirty="0">
                <a:solidFill>
                  <a:srgbClr val="80E9FF"/>
                </a:solidFill>
                <a:latin typeface="Georgia" pitchFamily="34" charset="0"/>
                <a:ea typeface="Georgia" pitchFamily="34" charset="-122"/>
                <a:cs typeface="Georgia" pitchFamily="34" charset="-120"/>
              </a:rPr>
              <a:t>0</a:t>
            </a:r>
            <a:endParaRPr lang="en-US" sz="4000" dirty="0"/>
          </a:p>
        </p:txBody>
      </p:sp>
      <p:sp>
        <p:nvSpPr>
          <p:cNvPr id="13" name="Text 10"/>
          <p:cNvSpPr/>
          <p:nvPr/>
        </p:nvSpPr>
        <p:spPr>
          <a:xfrm>
            <a:off x="3653714"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Wrongly answered</a:t>
            </a:r>
            <a:endParaRPr lang="en-US" sz="1300" dirty="0"/>
          </a:p>
        </p:txBody>
      </p:sp>
      <p:sp>
        <p:nvSpPr>
          <p:cNvPr id="14" name="Text 11"/>
          <p:cNvSpPr/>
          <p:nvPr/>
        </p:nvSpPr>
        <p:spPr>
          <a:xfrm>
            <a:off x="3653714"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Across all 16 questions that needed a person.</a:t>
            </a:r>
            <a:endParaRPr lang="en-US" sz="1050" dirty="0"/>
          </a:p>
        </p:txBody>
      </p:sp>
      <p:sp>
        <p:nvSpPr>
          <p:cNvPr id="15" name="Shape 12"/>
          <p:cNvSpPr/>
          <p:nvPr/>
        </p:nvSpPr>
        <p:spPr>
          <a:xfrm>
            <a:off x="6210148" y="1783080"/>
            <a:ext cx="2556434" cy="1828800"/>
          </a:xfrm>
          <a:prstGeom prst="roundRect">
            <a:avLst>
              <a:gd name="adj" fmla="val 4000"/>
            </a:avLst>
          </a:prstGeom>
          <a:solidFill>
            <a:srgbClr val="1C1E29"/>
          </a:solidFill>
          <a:ln w="9525">
            <a:solidFill>
              <a:srgbClr val="3A3E52"/>
            </a:solidFill>
            <a:prstDash val="solid"/>
          </a:ln>
        </p:spPr>
      </p:sp>
      <p:sp>
        <p:nvSpPr>
          <p:cNvPr id="16" name="Text 13"/>
          <p:cNvSpPr/>
          <p:nvPr/>
        </p:nvSpPr>
        <p:spPr>
          <a:xfrm>
            <a:off x="6438748" y="1947672"/>
            <a:ext cx="2099234" cy="731520"/>
          </a:xfrm>
          <a:prstGeom prst="rect">
            <a:avLst/>
          </a:prstGeom>
          <a:noFill/>
          <a:ln/>
        </p:spPr>
        <p:txBody>
          <a:bodyPr wrap="square" lIns="0" tIns="0" rIns="0" bIns="0" rtlCol="0" anchor="ctr"/>
          <a:lstStyle/>
          <a:p>
            <a:pPr indent="0" marL="0">
              <a:buNone/>
            </a:pPr>
            <a:r>
              <a:rPr lang="en-US" sz="3400" dirty="0">
                <a:solidFill>
                  <a:srgbClr val="E8EAF2"/>
                </a:solidFill>
                <a:latin typeface="Georgia" pitchFamily="34" charset="0"/>
                <a:ea typeface="Georgia" pitchFamily="34" charset="-122"/>
                <a:cs typeface="Georgia" pitchFamily="34" charset="-120"/>
              </a:rPr>
              <a:t>28, 29, 30</a:t>
            </a:r>
            <a:endParaRPr lang="en-US" sz="3400" dirty="0"/>
          </a:p>
        </p:txBody>
      </p:sp>
      <p:sp>
        <p:nvSpPr>
          <p:cNvPr id="17" name="Text 14"/>
          <p:cNvSpPr/>
          <p:nvPr/>
        </p:nvSpPr>
        <p:spPr>
          <a:xfrm>
            <a:off x="6438748"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Of 30, across three drafts</a:t>
            </a:r>
            <a:endParaRPr lang="en-US" sz="1300" dirty="0"/>
          </a:p>
        </p:txBody>
      </p:sp>
      <p:sp>
        <p:nvSpPr>
          <p:cNvPr id="18" name="Text 15"/>
          <p:cNvSpPr/>
          <p:nvPr/>
        </p:nvSpPr>
        <p:spPr>
          <a:xfrm>
            <a:off x="6438748"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Tuning questions. Draft 2 fixed two misses and caused one.</a:t>
            </a:r>
            <a:endParaRPr lang="en-US" sz="1050" dirty="0"/>
          </a:p>
        </p:txBody>
      </p:sp>
      <p:sp>
        <p:nvSpPr>
          <p:cNvPr id="19" name="Shape 16"/>
          <p:cNvSpPr/>
          <p:nvPr/>
        </p:nvSpPr>
        <p:spPr>
          <a:xfrm>
            <a:off x="8995181" y="1783080"/>
            <a:ext cx="2556434" cy="1828800"/>
          </a:xfrm>
          <a:prstGeom prst="roundRect">
            <a:avLst>
              <a:gd name="adj" fmla="val 4000"/>
            </a:avLst>
          </a:prstGeom>
          <a:solidFill>
            <a:srgbClr val="1C1E29"/>
          </a:solidFill>
          <a:ln w="9525">
            <a:solidFill>
              <a:srgbClr val="3A3E52"/>
            </a:solidFill>
            <a:prstDash val="solid"/>
          </a:ln>
        </p:spPr>
      </p:sp>
      <p:sp>
        <p:nvSpPr>
          <p:cNvPr id="20" name="Text 17"/>
          <p:cNvSpPr/>
          <p:nvPr/>
        </p:nvSpPr>
        <p:spPr>
          <a:xfrm>
            <a:off x="9223781"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4.9 s</a:t>
            </a:r>
            <a:endParaRPr lang="en-US" sz="4000" dirty="0"/>
          </a:p>
        </p:txBody>
      </p:sp>
      <p:sp>
        <p:nvSpPr>
          <p:cNvPr id="21" name="Text 18"/>
          <p:cNvSpPr/>
          <p:nvPr/>
        </p:nvSpPr>
        <p:spPr>
          <a:xfrm>
            <a:off x="9223781"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Median time to an answer</a:t>
            </a:r>
            <a:endParaRPr lang="en-US" sz="1300" dirty="0"/>
          </a:p>
        </p:txBody>
      </p:sp>
      <p:sp>
        <p:nvSpPr>
          <p:cNvPr id="22" name="Text 19"/>
          <p:cNvSpPr/>
          <p:nvPr/>
        </p:nvSpPr>
        <p:spPr>
          <a:xfrm>
            <a:off x="9223781"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About $0.004 per question, all calls included.</a:t>
            </a:r>
            <a:endParaRPr lang="en-US" sz="1050" dirty="0"/>
          </a:p>
        </p:txBody>
      </p:sp>
      <p:sp>
        <p:nvSpPr>
          <p:cNvPr id="23" name="Shape 20"/>
          <p:cNvSpPr/>
          <p:nvPr/>
        </p:nvSpPr>
        <p:spPr>
          <a:xfrm>
            <a:off x="640080" y="3995928"/>
            <a:ext cx="45720" cy="438912"/>
          </a:xfrm>
          <a:prstGeom prst="rect">
            <a:avLst/>
          </a:prstGeom>
          <a:solidFill>
            <a:srgbClr val="635BFF"/>
          </a:solidFill>
          <a:ln w="12700">
            <a:solidFill>
              <a:srgbClr val="635BFF"/>
            </a:solidFill>
            <a:prstDash val="solid"/>
          </a:ln>
        </p:spPr>
      </p:sp>
      <p:sp>
        <p:nvSpPr>
          <p:cNvPr id="24" name="Text 21"/>
          <p:cNvSpPr/>
          <p:nvPr/>
        </p:nvSpPr>
        <p:spPr>
          <a:xfrm>
            <a:off x="841248" y="3931920"/>
            <a:ext cx="10710367" cy="603504"/>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The miss.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A question about published customer results went to a person. Safe, but a colleague would have answered it.</a:t>
            </a:r>
            <a:endParaRPr lang="en-US" sz="1450" dirty="0"/>
          </a:p>
        </p:txBody>
      </p:sp>
      <p:sp>
        <p:nvSpPr>
          <p:cNvPr id="25" name="Shape 22"/>
          <p:cNvSpPr/>
          <p:nvPr/>
        </p:nvSpPr>
        <p:spPr>
          <a:xfrm>
            <a:off x="640080" y="4709160"/>
            <a:ext cx="45720" cy="438912"/>
          </a:xfrm>
          <a:prstGeom prst="rect">
            <a:avLst/>
          </a:prstGeom>
          <a:solidFill>
            <a:srgbClr val="635BFF"/>
          </a:solidFill>
          <a:ln w="12700">
            <a:solidFill>
              <a:srgbClr val="635BFF"/>
            </a:solidFill>
            <a:prstDash val="solid"/>
          </a:ln>
        </p:spPr>
      </p:sp>
      <p:sp>
        <p:nvSpPr>
          <p:cNvPr id="26" name="Text 23"/>
          <p:cNvSpPr/>
          <p:nvPr/>
        </p:nvSpPr>
        <p:spPr>
          <a:xfrm>
            <a:off x="841248" y="4645152"/>
            <a:ext cx="10710367" cy="603504"/>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What I did not do.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Change the system after seeing that miss and then quote the same score.</a:t>
            </a:r>
            <a:endParaRPr lang="en-US" sz="1450" dirty="0"/>
          </a:p>
        </p:txBody>
      </p:sp>
      <p:sp>
        <p:nvSpPr>
          <p:cNvPr id="27" name="Shape 24"/>
          <p:cNvSpPr/>
          <p:nvPr/>
        </p:nvSpPr>
        <p:spPr>
          <a:xfrm>
            <a:off x="640080" y="5422392"/>
            <a:ext cx="45720" cy="438912"/>
          </a:xfrm>
          <a:prstGeom prst="rect">
            <a:avLst/>
          </a:prstGeom>
          <a:solidFill>
            <a:srgbClr val="635BFF"/>
          </a:solidFill>
          <a:ln w="12700">
            <a:solidFill>
              <a:srgbClr val="635BFF"/>
            </a:solidFill>
            <a:prstDash val="solid"/>
          </a:ln>
        </p:spPr>
      </p:sp>
      <p:sp>
        <p:nvSpPr>
          <p:cNvPr id="28" name="Text 25"/>
          <p:cNvSpPr/>
          <p:nvPr/>
        </p:nvSpPr>
        <p:spPr>
          <a:xfrm>
            <a:off x="841248" y="5358384"/>
            <a:ext cx="10710367" cy="603504"/>
          </a:xfrm>
          <a:prstGeom prst="rect">
            <a:avLst/>
          </a:prstGeom>
          <a:noFill/>
          <a:ln/>
        </p:spPr>
        <p:txBody>
          <a:bodyPr wrap="square" lIns="0" tIns="0" rIns="0" bIns="0" rtlCol="0" anchor="t"/>
          <a:lstStyle/>
          <a:p>
            <a:pPr indent="0" marL="0">
              <a:lnSpc>
                <a:spcPct val="112000"/>
              </a:lnSpc>
              <a:buNone/>
            </a:pPr>
            <a:r>
              <a:rPr lang="en-US" sz="1450" b="1" dirty="0">
                <a:solidFill>
                  <a:srgbClr val="E8EAF2"/>
                </a:solidFill>
                <a:latin typeface="Arial" pitchFamily="34" charset="0"/>
                <a:ea typeface="Arial" pitchFamily="34" charset="-122"/>
                <a:cs typeface="Arial" pitchFamily="34" charset="-120"/>
              </a:rPr>
              <a:t>What this does not show.  </a:t>
            </a:r>
            <a:pPr indent="0" marL="0">
              <a:lnSpc>
                <a:spcPct val="112000"/>
              </a:lnSpc>
              <a:buNone/>
            </a:pPr>
            <a:r>
              <a:rPr lang="en-US" sz="1450" dirty="0">
                <a:solidFill>
                  <a:srgbClr val="9DA1B7"/>
                </a:solidFill>
                <a:latin typeface="Arial" pitchFamily="34" charset="0"/>
                <a:ea typeface="Arial" pitchFamily="34" charset="-122"/>
                <a:cs typeface="Arial" pitchFamily="34" charset="-120"/>
              </a:rPr>
              <a:t>Forty questions is small, and I wrote them. The people who field these questions would write harder ones.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WHERE THIS PATTERN COMES FROM</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This is the pattern I run in production.</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9</a:t>
            </a:r>
            <a:endParaRPr lang="en-US" sz="900" dirty="0"/>
          </a:p>
        </p:txBody>
      </p:sp>
      <p:sp>
        <p:nvSpPr>
          <p:cNvPr id="7" name="Shape 4"/>
          <p:cNvSpPr/>
          <p:nvPr/>
        </p:nvSpPr>
        <p:spPr>
          <a:xfrm>
            <a:off x="640080" y="1783080"/>
            <a:ext cx="10911535" cy="932688"/>
          </a:xfrm>
          <a:prstGeom prst="roundRect">
            <a:avLst>
              <a:gd name="adj" fmla="val 5882"/>
            </a:avLst>
          </a:prstGeom>
          <a:solidFill>
            <a:srgbClr val="1C1E29"/>
          </a:solidFill>
          <a:ln w="9525">
            <a:solidFill>
              <a:srgbClr val="3A3E52"/>
            </a:solidFill>
            <a:prstDash val="solid"/>
          </a:ln>
        </p:spPr>
      </p:sp>
      <p:sp>
        <p:nvSpPr>
          <p:cNvPr id="8" name="Text 5"/>
          <p:cNvSpPr/>
          <p:nvPr/>
        </p:nvSpPr>
        <p:spPr>
          <a:xfrm>
            <a:off x="868680" y="1911096"/>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TEAMS</a:t>
            </a:r>
            <a:endParaRPr lang="en-US" sz="950" dirty="0"/>
          </a:p>
        </p:txBody>
      </p:sp>
      <p:sp>
        <p:nvSpPr>
          <p:cNvPr id="9" name="Text 6"/>
          <p:cNvSpPr/>
          <p:nvPr/>
        </p:nvSpPr>
        <p:spPr>
          <a:xfrm>
            <a:off x="868680" y="2148840"/>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Who it serves</a:t>
            </a:r>
            <a:endParaRPr lang="en-US" sz="1700" dirty="0"/>
          </a:p>
        </p:txBody>
      </p:sp>
      <p:sp>
        <p:nvSpPr>
          <p:cNvPr id="10" name="Shape 7"/>
          <p:cNvSpPr/>
          <p:nvPr/>
        </p:nvSpPr>
        <p:spPr>
          <a:xfrm>
            <a:off x="3291840" y="1938528"/>
            <a:ext cx="1909496" cy="621792"/>
          </a:xfrm>
          <a:prstGeom prst="roundRect">
            <a:avLst>
              <a:gd name="adj" fmla="val 8824"/>
            </a:avLst>
          </a:prstGeom>
          <a:solidFill>
            <a:srgbClr val="14151C"/>
          </a:solidFill>
          <a:ln w="6350">
            <a:solidFill>
              <a:srgbClr val="3A3E52"/>
            </a:solidFill>
            <a:prstDash val="solid"/>
          </a:ln>
        </p:spPr>
      </p:sp>
      <p:sp>
        <p:nvSpPr>
          <p:cNvPr id="11" name="Text 8"/>
          <p:cNvSpPr/>
          <p:nvPr/>
        </p:nvSpPr>
        <p:spPr>
          <a:xfrm>
            <a:off x="3337560" y="1938528"/>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IT support</a:t>
            </a:r>
            <a:endParaRPr lang="en-US" sz="1150" dirty="0"/>
          </a:p>
        </p:txBody>
      </p:sp>
      <p:sp>
        <p:nvSpPr>
          <p:cNvPr id="12" name="Shape 9"/>
          <p:cNvSpPr/>
          <p:nvPr/>
        </p:nvSpPr>
        <p:spPr>
          <a:xfrm>
            <a:off x="5311064" y="1938528"/>
            <a:ext cx="1909496" cy="621792"/>
          </a:xfrm>
          <a:prstGeom prst="roundRect">
            <a:avLst>
              <a:gd name="adj" fmla="val 8824"/>
            </a:avLst>
          </a:prstGeom>
          <a:solidFill>
            <a:srgbClr val="14151C"/>
          </a:solidFill>
          <a:ln w="6350">
            <a:solidFill>
              <a:srgbClr val="3A3E52"/>
            </a:solidFill>
            <a:prstDash val="solid"/>
          </a:ln>
        </p:spPr>
      </p:sp>
      <p:sp>
        <p:nvSpPr>
          <p:cNvPr id="13" name="Text 10"/>
          <p:cNvSpPr/>
          <p:nvPr/>
        </p:nvSpPr>
        <p:spPr>
          <a:xfrm>
            <a:off x="5356784" y="1938528"/>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Customer support</a:t>
            </a:r>
            <a:endParaRPr lang="en-US" sz="1150" dirty="0"/>
          </a:p>
        </p:txBody>
      </p:sp>
      <p:sp>
        <p:nvSpPr>
          <p:cNvPr id="14" name="Shape 11"/>
          <p:cNvSpPr/>
          <p:nvPr/>
        </p:nvSpPr>
        <p:spPr>
          <a:xfrm>
            <a:off x="7330288" y="1938528"/>
            <a:ext cx="1909496" cy="621792"/>
          </a:xfrm>
          <a:prstGeom prst="roundRect">
            <a:avLst>
              <a:gd name="adj" fmla="val 8824"/>
            </a:avLst>
          </a:prstGeom>
          <a:solidFill>
            <a:srgbClr val="14151C"/>
          </a:solidFill>
          <a:ln w="6350">
            <a:solidFill>
              <a:srgbClr val="3A3E52"/>
            </a:solidFill>
            <a:prstDash val="solid"/>
          </a:ln>
        </p:spPr>
      </p:sp>
      <p:sp>
        <p:nvSpPr>
          <p:cNvPr id="15" name="Text 12"/>
          <p:cNvSpPr/>
          <p:nvPr/>
        </p:nvSpPr>
        <p:spPr>
          <a:xfrm>
            <a:off x="7376008" y="1938528"/>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Customer success</a:t>
            </a:r>
            <a:endParaRPr lang="en-US" sz="1150" dirty="0"/>
          </a:p>
        </p:txBody>
      </p:sp>
      <p:sp>
        <p:nvSpPr>
          <p:cNvPr id="16" name="Shape 13"/>
          <p:cNvSpPr/>
          <p:nvPr/>
        </p:nvSpPr>
        <p:spPr>
          <a:xfrm>
            <a:off x="9349511" y="1938528"/>
            <a:ext cx="1909496" cy="621792"/>
          </a:xfrm>
          <a:prstGeom prst="roundRect">
            <a:avLst>
              <a:gd name="adj" fmla="val 8824"/>
            </a:avLst>
          </a:prstGeom>
          <a:solidFill>
            <a:srgbClr val="14151C"/>
          </a:solidFill>
          <a:ln w="6350">
            <a:solidFill>
              <a:srgbClr val="3A3E52"/>
            </a:solidFill>
            <a:prstDash val="solid"/>
          </a:ln>
        </p:spPr>
      </p:sp>
      <p:sp>
        <p:nvSpPr>
          <p:cNvPr id="17" name="Text 14"/>
          <p:cNvSpPr/>
          <p:nvPr/>
        </p:nvSpPr>
        <p:spPr>
          <a:xfrm>
            <a:off x="9395231" y="1938528"/>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Sales (next)</a:t>
            </a:r>
            <a:endParaRPr lang="en-US" sz="1150" dirty="0"/>
          </a:p>
        </p:txBody>
      </p:sp>
      <p:sp>
        <p:nvSpPr>
          <p:cNvPr id="18" name="Shape 15"/>
          <p:cNvSpPr/>
          <p:nvPr/>
        </p:nvSpPr>
        <p:spPr>
          <a:xfrm>
            <a:off x="640080" y="2843784"/>
            <a:ext cx="10911535" cy="932688"/>
          </a:xfrm>
          <a:prstGeom prst="roundRect">
            <a:avLst>
              <a:gd name="adj" fmla="val 5882"/>
            </a:avLst>
          </a:prstGeom>
          <a:solidFill>
            <a:srgbClr val="242735"/>
          </a:solidFill>
          <a:ln w="15875">
            <a:solidFill>
              <a:srgbClr val="635BFF"/>
            </a:solidFill>
            <a:prstDash val="solid"/>
          </a:ln>
        </p:spPr>
      </p:sp>
      <p:sp>
        <p:nvSpPr>
          <p:cNvPr id="19" name="Text 16"/>
          <p:cNvSpPr/>
          <p:nvPr/>
        </p:nvSpPr>
        <p:spPr>
          <a:xfrm>
            <a:off x="868680" y="2971800"/>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LAYER 2</a:t>
            </a:r>
            <a:endParaRPr lang="en-US" sz="950" dirty="0"/>
          </a:p>
        </p:txBody>
      </p:sp>
      <p:sp>
        <p:nvSpPr>
          <p:cNvPr id="20" name="Text 17"/>
          <p:cNvSpPr/>
          <p:nvPr/>
        </p:nvSpPr>
        <p:spPr>
          <a:xfrm>
            <a:off x="868680" y="3209544"/>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Company-wide agent harness</a:t>
            </a:r>
            <a:endParaRPr lang="en-US" sz="1700" dirty="0"/>
          </a:p>
        </p:txBody>
      </p:sp>
      <p:sp>
        <p:nvSpPr>
          <p:cNvPr id="21" name="Shape 18"/>
          <p:cNvSpPr/>
          <p:nvPr/>
        </p:nvSpPr>
        <p:spPr>
          <a:xfrm>
            <a:off x="3291840" y="2999232"/>
            <a:ext cx="1909496" cy="621792"/>
          </a:xfrm>
          <a:prstGeom prst="roundRect">
            <a:avLst>
              <a:gd name="adj" fmla="val 8824"/>
            </a:avLst>
          </a:prstGeom>
          <a:solidFill>
            <a:srgbClr val="14151C"/>
          </a:solidFill>
          <a:ln w="6350">
            <a:solidFill>
              <a:srgbClr val="3A3E52"/>
            </a:solidFill>
            <a:prstDash val="solid"/>
          </a:ln>
        </p:spPr>
      </p:sp>
      <p:sp>
        <p:nvSpPr>
          <p:cNvPr id="22" name="Text 19"/>
          <p:cNvSpPr/>
          <p:nvPr/>
        </p:nvSpPr>
        <p:spPr>
          <a:xfrm>
            <a:off x="3337560"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One agent core</a:t>
            </a:r>
            <a:endParaRPr lang="en-US" sz="1150" dirty="0"/>
          </a:p>
        </p:txBody>
      </p:sp>
      <p:sp>
        <p:nvSpPr>
          <p:cNvPr id="23" name="Shape 20"/>
          <p:cNvSpPr/>
          <p:nvPr/>
        </p:nvSpPr>
        <p:spPr>
          <a:xfrm>
            <a:off x="5311064" y="2999232"/>
            <a:ext cx="1909496" cy="621792"/>
          </a:xfrm>
          <a:prstGeom prst="roundRect">
            <a:avLst>
              <a:gd name="adj" fmla="val 8824"/>
            </a:avLst>
          </a:prstGeom>
          <a:solidFill>
            <a:srgbClr val="14151C"/>
          </a:solidFill>
          <a:ln w="6350">
            <a:solidFill>
              <a:srgbClr val="3A3E52"/>
            </a:solidFill>
            <a:prstDash val="solid"/>
          </a:ln>
        </p:spPr>
      </p:sp>
      <p:sp>
        <p:nvSpPr>
          <p:cNvPr id="24" name="Text 21"/>
          <p:cNvSpPr/>
          <p:nvPr/>
        </p:nvSpPr>
        <p:spPr>
          <a:xfrm>
            <a:off x="5356784"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Per-team tools</a:t>
            </a:r>
            <a:endParaRPr lang="en-US" sz="1150" dirty="0"/>
          </a:p>
        </p:txBody>
      </p:sp>
      <p:sp>
        <p:nvSpPr>
          <p:cNvPr id="25" name="Shape 22"/>
          <p:cNvSpPr/>
          <p:nvPr/>
        </p:nvSpPr>
        <p:spPr>
          <a:xfrm>
            <a:off x="7330288" y="2999232"/>
            <a:ext cx="1909496" cy="621792"/>
          </a:xfrm>
          <a:prstGeom prst="roundRect">
            <a:avLst>
              <a:gd name="adj" fmla="val 8824"/>
            </a:avLst>
          </a:prstGeom>
          <a:solidFill>
            <a:srgbClr val="14151C"/>
          </a:solidFill>
          <a:ln w="6350">
            <a:solidFill>
              <a:srgbClr val="3A3E52"/>
            </a:solidFill>
            <a:prstDash val="solid"/>
          </a:ln>
        </p:spPr>
      </p:sp>
      <p:sp>
        <p:nvSpPr>
          <p:cNvPr id="26" name="Text 23"/>
          <p:cNvSpPr/>
          <p:nvPr/>
        </p:nvSpPr>
        <p:spPr>
          <a:xfrm>
            <a:off x="7376008"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Versioned prompts</a:t>
            </a:r>
            <a:endParaRPr lang="en-US" sz="1150" dirty="0"/>
          </a:p>
        </p:txBody>
      </p:sp>
      <p:sp>
        <p:nvSpPr>
          <p:cNvPr id="27" name="Shape 24"/>
          <p:cNvSpPr/>
          <p:nvPr/>
        </p:nvSpPr>
        <p:spPr>
          <a:xfrm>
            <a:off x="9349511" y="2999232"/>
            <a:ext cx="1909496" cy="621792"/>
          </a:xfrm>
          <a:prstGeom prst="roundRect">
            <a:avLst>
              <a:gd name="adj" fmla="val 8824"/>
            </a:avLst>
          </a:prstGeom>
          <a:solidFill>
            <a:srgbClr val="14151C"/>
          </a:solidFill>
          <a:ln w="6350">
            <a:solidFill>
              <a:srgbClr val="3A3E52"/>
            </a:solidFill>
            <a:prstDash val="solid"/>
          </a:ln>
        </p:spPr>
      </p:sp>
      <p:sp>
        <p:nvSpPr>
          <p:cNvPr id="28" name="Text 25"/>
          <p:cNvSpPr/>
          <p:nvPr/>
        </p:nvSpPr>
        <p:spPr>
          <a:xfrm>
            <a:off x="9395231" y="2999232"/>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Transcript evals</a:t>
            </a:r>
            <a:endParaRPr lang="en-US" sz="1150" dirty="0"/>
          </a:p>
        </p:txBody>
      </p:sp>
      <p:sp>
        <p:nvSpPr>
          <p:cNvPr id="29" name="Shape 26"/>
          <p:cNvSpPr/>
          <p:nvPr/>
        </p:nvSpPr>
        <p:spPr>
          <a:xfrm>
            <a:off x="640080" y="3904488"/>
            <a:ext cx="10911535" cy="932688"/>
          </a:xfrm>
          <a:prstGeom prst="roundRect">
            <a:avLst>
              <a:gd name="adj" fmla="val 5882"/>
            </a:avLst>
          </a:prstGeom>
          <a:solidFill>
            <a:srgbClr val="242735"/>
          </a:solidFill>
          <a:ln w="15875">
            <a:solidFill>
              <a:srgbClr val="635BFF"/>
            </a:solidFill>
            <a:prstDash val="solid"/>
          </a:ln>
        </p:spPr>
      </p:sp>
      <p:sp>
        <p:nvSpPr>
          <p:cNvPr id="30" name="Text 27"/>
          <p:cNvSpPr/>
          <p:nvPr/>
        </p:nvSpPr>
        <p:spPr>
          <a:xfrm>
            <a:off x="868680" y="4032504"/>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LAYER 1</a:t>
            </a:r>
            <a:endParaRPr lang="en-US" sz="950" dirty="0"/>
          </a:p>
        </p:txBody>
      </p:sp>
      <p:sp>
        <p:nvSpPr>
          <p:cNvPr id="31" name="Text 28"/>
          <p:cNvSpPr/>
          <p:nvPr/>
        </p:nvSpPr>
        <p:spPr>
          <a:xfrm>
            <a:off x="868680" y="4270248"/>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Universal knowledge layer</a:t>
            </a:r>
            <a:endParaRPr lang="en-US" sz="1700" dirty="0"/>
          </a:p>
        </p:txBody>
      </p:sp>
      <p:sp>
        <p:nvSpPr>
          <p:cNvPr id="32" name="Shape 29"/>
          <p:cNvSpPr/>
          <p:nvPr/>
        </p:nvSpPr>
        <p:spPr>
          <a:xfrm>
            <a:off x="3291840" y="4059936"/>
            <a:ext cx="2582570" cy="621792"/>
          </a:xfrm>
          <a:prstGeom prst="roundRect">
            <a:avLst>
              <a:gd name="adj" fmla="val 8824"/>
            </a:avLst>
          </a:prstGeom>
          <a:solidFill>
            <a:srgbClr val="14151C"/>
          </a:solidFill>
          <a:ln w="6350">
            <a:solidFill>
              <a:srgbClr val="3A3E52"/>
            </a:solidFill>
            <a:prstDash val="solid"/>
          </a:ln>
        </p:spPr>
      </p:sp>
      <p:sp>
        <p:nvSpPr>
          <p:cNvPr id="33" name="Text 30"/>
          <p:cNvSpPr/>
          <p:nvPr/>
        </p:nvSpPr>
        <p:spPr>
          <a:xfrm>
            <a:off x="3337560"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One search source</a:t>
            </a:r>
            <a:endParaRPr lang="en-US" sz="1150" dirty="0"/>
          </a:p>
        </p:txBody>
      </p:sp>
      <p:sp>
        <p:nvSpPr>
          <p:cNvPr id="34" name="Shape 31"/>
          <p:cNvSpPr/>
          <p:nvPr/>
        </p:nvSpPr>
        <p:spPr>
          <a:xfrm>
            <a:off x="5984138" y="4059936"/>
            <a:ext cx="2582570" cy="621792"/>
          </a:xfrm>
          <a:prstGeom prst="roundRect">
            <a:avLst>
              <a:gd name="adj" fmla="val 8824"/>
            </a:avLst>
          </a:prstGeom>
          <a:solidFill>
            <a:srgbClr val="14151C"/>
          </a:solidFill>
          <a:ln w="6350">
            <a:solidFill>
              <a:srgbClr val="3A3E52"/>
            </a:solidFill>
            <a:prstDash val="solid"/>
          </a:ln>
        </p:spPr>
      </p:sp>
      <p:sp>
        <p:nvSpPr>
          <p:cNvPr id="35" name="Text 32"/>
          <p:cNvSpPr/>
          <p:nvPr/>
        </p:nvSpPr>
        <p:spPr>
          <a:xfrm>
            <a:off x="6029858"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Every answer cited</a:t>
            </a:r>
            <a:endParaRPr lang="en-US" sz="1150" dirty="0"/>
          </a:p>
        </p:txBody>
      </p:sp>
      <p:sp>
        <p:nvSpPr>
          <p:cNvPr id="36" name="Shape 33"/>
          <p:cNvSpPr/>
          <p:nvPr/>
        </p:nvSpPr>
        <p:spPr>
          <a:xfrm>
            <a:off x="8676437" y="4059936"/>
            <a:ext cx="2582570" cy="621792"/>
          </a:xfrm>
          <a:prstGeom prst="roundRect">
            <a:avLst>
              <a:gd name="adj" fmla="val 8824"/>
            </a:avLst>
          </a:prstGeom>
          <a:solidFill>
            <a:srgbClr val="14151C"/>
          </a:solidFill>
          <a:ln w="6350">
            <a:solidFill>
              <a:srgbClr val="3A3E52"/>
            </a:solidFill>
            <a:prstDash val="solid"/>
          </a:ln>
        </p:spPr>
      </p:sp>
      <p:sp>
        <p:nvSpPr>
          <p:cNvPr id="37" name="Text 34"/>
          <p:cNvSpPr/>
          <p:nvPr/>
        </p:nvSpPr>
        <p:spPr>
          <a:xfrm>
            <a:off x="8722157" y="4059936"/>
            <a:ext cx="2491130"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Verified answers saved</a:t>
            </a:r>
            <a:endParaRPr lang="en-US" sz="1150" dirty="0"/>
          </a:p>
        </p:txBody>
      </p:sp>
      <p:sp>
        <p:nvSpPr>
          <p:cNvPr id="38" name="Shape 35"/>
          <p:cNvSpPr/>
          <p:nvPr/>
        </p:nvSpPr>
        <p:spPr>
          <a:xfrm>
            <a:off x="640080" y="4965192"/>
            <a:ext cx="10911535" cy="932688"/>
          </a:xfrm>
          <a:prstGeom prst="roundRect">
            <a:avLst>
              <a:gd name="adj" fmla="val 5882"/>
            </a:avLst>
          </a:prstGeom>
          <a:solidFill>
            <a:srgbClr val="1C1E29"/>
          </a:solidFill>
          <a:ln w="9525">
            <a:solidFill>
              <a:srgbClr val="3A3E52"/>
            </a:solidFill>
            <a:prstDash val="solid"/>
          </a:ln>
        </p:spPr>
      </p:sp>
      <p:sp>
        <p:nvSpPr>
          <p:cNvPr id="39" name="Text 36"/>
          <p:cNvSpPr/>
          <p:nvPr/>
        </p:nvSpPr>
        <p:spPr>
          <a:xfrm>
            <a:off x="868680" y="5093208"/>
            <a:ext cx="2331720" cy="228600"/>
          </a:xfrm>
          <a:prstGeom prst="rect">
            <a:avLst/>
          </a:prstGeom>
          <a:noFill/>
          <a:ln/>
        </p:spPr>
        <p:txBody>
          <a:bodyPr wrap="square" lIns="0" tIns="0" rIns="0" bIns="0" rtlCol="0" anchor="ctr"/>
          <a:lstStyle/>
          <a:p>
            <a:pPr indent="0" marL="0">
              <a:buNone/>
            </a:pPr>
            <a:r>
              <a:rPr lang="en-US" sz="950" spc="200" kern="0" dirty="0">
                <a:solidFill>
                  <a:srgbClr val="80E9FF"/>
                </a:solidFill>
                <a:latin typeface="Courier New" pitchFamily="34" charset="0"/>
                <a:ea typeface="Courier New" pitchFamily="34" charset="-122"/>
                <a:cs typeface="Courier New" pitchFamily="34" charset="-120"/>
              </a:rPr>
              <a:t>CONNECTORS</a:t>
            </a:r>
            <a:endParaRPr lang="en-US" sz="950" dirty="0"/>
          </a:p>
        </p:txBody>
      </p:sp>
      <p:sp>
        <p:nvSpPr>
          <p:cNvPr id="40" name="Text 37"/>
          <p:cNvSpPr/>
          <p:nvPr/>
        </p:nvSpPr>
        <p:spPr>
          <a:xfrm>
            <a:off x="868680" y="5330952"/>
            <a:ext cx="2331720" cy="457200"/>
          </a:xfrm>
          <a:prstGeom prst="rect">
            <a:avLst/>
          </a:prstGeom>
          <a:noFill/>
          <a:ln/>
        </p:spPr>
        <p:txBody>
          <a:bodyPr wrap="square" lIns="0" tIns="0" rIns="0" bIns="0" rtlCol="0" anchor="t"/>
          <a:lstStyle/>
          <a:p>
            <a:pPr indent="0" marL="0">
              <a:buNone/>
            </a:pPr>
            <a:r>
              <a:rPr lang="en-US" sz="1700" dirty="0">
                <a:solidFill>
                  <a:srgbClr val="E8EAF2"/>
                </a:solidFill>
                <a:latin typeface="Georgia" pitchFamily="34" charset="0"/>
                <a:ea typeface="Georgia" pitchFamily="34" charset="-122"/>
                <a:cs typeface="Georgia" pitchFamily="34" charset="-120"/>
              </a:rPr>
              <a:t>Into company systems</a:t>
            </a:r>
            <a:endParaRPr lang="en-US" sz="1700" dirty="0"/>
          </a:p>
        </p:txBody>
      </p:sp>
      <p:sp>
        <p:nvSpPr>
          <p:cNvPr id="41" name="Shape 38"/>
          <p:cNvSpPr/>
          <p:nvPr/>
        </p:nvSpPr>
        <p:spPr>
          <a:xfrm>
            <a:off x="3291840" y="5120640"/>
            <a:ext cx="1909496" cy="621792"/>
          </a:xfrm>
          <a:prstGeom prst="roundRect">
            <a:avLst>
              <a:gd name="adj" fmla="val 8824"/>
            </a:avLst>
          </a:prstGeom>
          <a:solidFill>
            <a:srgbClr val="14151C"/>
          </a:solidFill>
          <a:ln w="6350">
            <a:solidFill>
              <a:srgbClr val="3A3E52"/>
            </a:solidFill>
            <a:prstDash val="solid"/>
          </a:ln>
        </p:spPr>
      </p:sp>
      <p:sp>
        <p:nvSpPr>
          <p:cNvPr id="42" name="Text 39"/>
          <p:cNvSpPr/>
          <p:nvPr/>
        </p:nvSpPr>
        <p:spPr>
          <a:xfrm>
            <a:off x="3337560" y="5120640"/>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Data warehouse (Metabase API)</a:t>
            </a:r>
            <a:endParaRPr lang="en-US" sz="1150" dirty="0"/>
          </a:p>
        </p:txBody>
      </p:sp>
      <p:sp>
        <p:nvSpPr>
          <p:cNvPr id="43" name="Shape 40"/>
          <p:cNvSpPr/>
          <p:nvPr/>
        </p:nvSpPr>
        <p:spPr>
          <a:xfrm>
            <a:off x="5311064" y="5120640"/>
            <a:ext cx="1909496" cy="621792"/>
          </a:xfrm>
          <a:prstGeom prst="roundRect">
            <a:avLst>
              <a:gd name="adj" fmla="val 8824"/>
            </a:avLst>
          </a:prstGeom>
          <a:solidFill>
            <a:srgbClr val="14151C"/>
          </a:solidFill>
          <a:ln w="6350">
            <a:solidFill>
              <a:srgbClr val="3A3E52"/>
            </a:solidFill>
            <a:prstDash val="solid"/>
          </a:ln>
        </p:spPr>
      </p:sp>
      <p:sp>
        <p:nvSpPr>
          <p:cNvPr id="44" name="Text 41"/>
          <p:cNvSpPr/>
          <p:nvPr/>
        </p:nvSpPr>
        <p:spPr>
          <a:xfrm>
            <a:off x="5356784" y="5120640"/>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Slack history, backfilled</a:t>
            </a:r>
            <a:endParaRPr lang="en-US" sz="1150" dirty="0"/>
          </a:p>
        </p:txBody>
      </p:sp>
      <p:sp>
        <p:nvSpPr>
          <p:cNvPr id="45" name="Shape 42"/>
          <p:cNvSpPr/>
          <p:nvPr/>
        </p:nvSpPr>
        <p:spPr>
          <a:xfrm>
            <a:off x="7330288" y="5120640"/>
            <a:ext cx="1909496" cy="621792"/>
          </a:xfrm>
          <a:prstGeom prst="roundRect">
            <a:avLst>
              <a:gd name="adj" fmla="val 8824"/>
            </a:avLst>
          </a:prstGeom>
          <a:solidFill>
            <a:srgbClr val="14151C"/>
          </a:solidFill>
          <a:ln w="6350">
            <a:solidFill>
              <a:srgbClr val="3A3E52"/>
            </a:solidFill>
            <a:prstDash val="solid"/>
          </a:ln>
        </p:spPr>
      </p:sp>
      <p:sp>
        <p:nvSpPr>
          <p:cNvPr id="46" name="Text 43"/>
          <p:cNvSpPr/>
          <p:nvPr/>
        </p:nvSpPr>
        <p:spPr>
          <a:xfrm>
            <a:off x="7376008" y="5120640"/>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Jira and Linear tickets</a:t>
            </a:r>
            <a:endParaRPr lang="en-US" sz="1150" dirty="0"/>
          </a:p>
        </p:txBody>
      </p:sp>
      <p:sp>
        <p:nvSpPr>
          <p:cNvPr id="47" name="Shape 44"/>
          <p:cNvSpPr/>
          <p:nvPr/>
        </p:nvSpPr>
        <p:spPr>
          <a:xfrm>
            <a:off x="9349511" y="5120640"/>
            <a:ext cx="1909496" cy="621792"/>
          </a:xfrm>
          <a:prstGeom prst="roundRect">
            <a:avLst>
              <a:gd name="adj" fmla="val 8824"/>
            </a:avLst>
          </a:prstGeom>
          <a:solidFill>
            <a:srgbClr val="14151C"/>
          </a:solidFill>
          <a:ln w="6350">
            <a:solidFill>
              <a:srgbClr val="3A3E52"/>
            </a:solidFill>
            <a:prstDash val="solid"/>
          </a:ln>
        </p:spPr>
      </p:sp>
      <p:sp>
        <p:nvSpPr>
          <p:cNvPr id="48" name="Text 45"/>
          <p:cNvSpPr/>
          <p:nvPr/>
        </p:nvSpPr>
        <p:spPr>
          <a:xfrm>
            <a:off x="9395231" y="5120640"/>
            <a:ext cx="1818056" cy="621792"/>
          </a:xfrm>
          <a:prstGeom prst="rect">
            <a:avLst/>
          </a:prstGeom>
          <a:noFill/>
          <a:ln/>
        </p:spPr>
        <p:txBody>
          <a:bodyPr wrap="square" lIns="0" tIns="0" rIns="0" bIns="0" rtlCol="0" anchor="ctr"/>
          <a:lstStyle/>
          <a:p>
            <a:pPr algn="ctr" indent="0" marL="0">
              <a:buNone/>
            </a:pPr>
            <a:r>
              <a:rPr lang="en-US" sz="1150" dirty="0">
                <a:solidFill>
                  <a:srgbClr val="E8EAF2"/>
                </a:solidFill>
                <a:latin typeface="Arial" pitchFamily="34" charset="0"/>
                <a:ea typeface="Arial" pitchFamily="34" charset="-122"/>
                <a:cs typeface="Arial" pitchFamily="34" charset="-120"/>
              </a:rPr>
              <a:t>Wiki and help center</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HOW I WORK, AND WHAT IT PRODUCED</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A new team is a connector and a prompt.</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10</a:t>
            </a:r>
            <a:endParaRPr lang="en-US" sz="900" dirty="0"/>
          </a:p>
        </p:txBody>
      </p:sp>
      <p:sp>
        <p:nvSpPr>
          <p:cNvPr id="7" name="Shape 4"/>
          <p:cNvSpPr/>
          <p:nvPr/>
        </p:nvSpPr>
        <p:spPr>
          <a:xfrm>
            <a:off x="640080" y="1783080"/>
            <a:ext cx="2556434" cy="1828800"/>
          </a:xfrm>
          <a:prstGeom prst="roundRect">
            <a:avLst>
              <a:gd name="adj" fmla="val 4000"/>
            </a:avLst>
          </a:prstGeom>
          <a:solidFill>
            <a:srgbClr val="1C1E29"/>
          </a:solidFill>
          <a:ln w="9525">
            <a:solidFill>
              <a:srgbClr val="3A3E52"/>
            </a:solidFill>
            <a:prstDash val="solid"/>
          </a:ln>
        </p:spPr>
      </p:sp>
      <p:sp>
        <p:nvSpPr>
          <p:cNvPr id="8" name="Text 5"/>
          <p:cNvSpPr/>
          <p:nvPr/>
        </p:nvSpPr>
        <p:spPr>
          <a:xfrm>
            <a:off x="868680" y="1947672"/>
            <a:ext cx="2099234" cy="731520"/>
          </a:xfrm>
          <a:prstGeom prst="rect">
            <a:avLst/>
          </a:prstGeom>
          <a:noFill/>
          <a:ln/>
        </p:spPr>
        <p:txBody>
          <a:bodyPr wrap="square" lIns="0" tIns="0" rIns="0" bIns="0" rtlCol="0" anchor="ctr"/>
          <a:lstStyle/>
          <a:p>
            <a:pPr indent="0" marL="0">
              <a:buNone/>
            </a:pPr>
            <a:r>
              <a:rPr lang="en-US" sz="4000" dirty="0">
                <a:solidFill>
                  <a:srgbClr val="80E9FF"/>
                </a:solidFill>
                <a:latin typeface="Georgia" pitchFamily="34" charset="0"/>
                <a:ea typeface="Georgia" pitchFamily="34" charset="-122"/>
                <a:cs typeface="Georgia" pitchFamily="34" charset="-120"/>
              </a:rPr>
              <a:t>14</a:t>
            </a:r>
            <a:endParaRPr lang="en-US" sz="4000" dirty="0"/>
          </a:p>
        </p:txBody>
      </p:sp>
      <p:sp>
        <p:nvSpPr>
          <p:cNvPr id="9" name="Text 6"/>
          <p:cNvSpPr/>
          <p:nvPr/>
        </p:nvSpPr>
        <p:spPr>
          <a:xfrm>
            <a:off x="868680"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AI tools in production</a:t>
            </a:r>
            <a:endParaRPr lang="en-US" sz="1300" dirty="0"/>
          </a:p>
        </p:txBody>
      </p:sp>
      <p:sp>
        <p:nvSpPr>
          <p:cNvPr id="10" name="Text 7"/>
          <p:cNvSpPr/>
          <p:nvPr/>
        </p:nvSpPr>
        <p:spPr>
          <a:xfrm>
            <a:off x="868680"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Across eight departments. Up from one Slack bot in January.</a:t>
            </a:r>
            <a:endParaRPr lang="en-US" sz="1050" dirty="0"/>
          </a:p>
        </p:txBody>
      </p:sp>
      <p:sp>
        <p:nvSpPr>
          <p:cNvPr id="11" name="Shape 8"/>
          <p:cNvSpPr/>
          <p:nvPr/>
        </p:nvSpPr>
        <p:spPr>
          <a:xfrm>
            <a:off x="3425114" y="1783080"/>
            <a:ext cx="2556434" cy="1828800"/>
          </a:xfrm>
          <a:prstGeom prst="roundRect">
            <a:avLst>
              <a:gd name="adj" fmla="val 4000"/>
            </a:avLst>
          </a:prstGeom>
          <a:solidFill>
            <a:srgbClr val="1C1E29"/>
          </a:solidFill>
          <a:ln w="9525">
            <a:solidFill>
              <a:srgbClr val="3A3E52"/>
            </a:solidFill>
            <a:prstDash val="solid"/>
          </a:ln>
        </p:spPr>
      </p:sp>
      <p:sp>
        <p:nvSpPr>
          <p:cNvPr id="12" name="Text 9"/>
          <p:cNvSpPr/>
          <p:nvPr/>
        </p:nvSpPr>
        <p:spPr>
          <a:xfrm>
            <a:off x="3653714"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2,200+</a:t>
            </a:r>
            <a:endParaRPr lang="en-US" sz="4000" dirty="0"/>
          </a:p>
        </p:txBody>
      </p:sp>
      <p:sp>
        <p:nvSpPr>
          <p:cNvPr id="13" name="Text 10"/>
          <p:cNvSpPr/>
          <p:nvPr/>
        </p:nvSpPr>
        <p:spPr>
          <a:xfrm>
            <a:off x="3653714"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Questions answered</a:t>
            </a:r>
            <a:endParaRPr lang="en-US" sz="1300" dirty="0"/>
          </a:p>
        </p:txBody>
      </p:sp>
      <p:sp>
        <p:nvSpPr>
          <p:cNvPr id="14" name="Text 11"/>
          <p:cNvSpPr/>
          <p:nvPr/>
        </p:nvSpPr>
        <p:spPr>
          <a:xfrm>
            <a:off x="3653714"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In Slack, for 110+ employees. 94% without pulling in product or engineering.</a:t>
            </a:r>
            <a:endParaRPr lang="en-US" sz="1050" dirty="0"/>
          </a:p>
        </p:txBody>
      </p:sp>
      <p:sp>
        <p:nvSpPr>
          <p:cNvPr id="15" name="Shape 12"/>
          <p:cNvSpPr/>
          <p:nvPr/>
        </p:nvSpPr>
        <p:spPr>
          <a:xfrm>
            <a:off x="6210148" y="1783080"/>
            <a:ext cx="2556434" cy="1828800"/>
          </a:xfrm>
          <a:prstGeom prst="roundRect">
            <a:avLst>
              <a:gd name="adj" fmla="val 4000"/>
            </a:avLst>
          </a:prstGeom>
          <a:solidFill>
            <a:srgbClr val="1C1E29"/>
          </a:solidFill>
          <a:ln w="9525">
            <a:solidFill>
              <a:srgbClr val="3A3E52"/>
            </a:solidFill>
            <a:prstDash val="solid"/>
          </a:ln>
        </p:spPr>
      </p:sp>
      <p:sp>
        <p:nvSpPr>
          <p:cNvPr id="16" name="Text 13"/>
          <p:cNvSpPr/>
          <p:nvPr/>
        </p:nvSpPr>
        <p:spPr>
          <a:xfrm>
            <a:off x="6438748"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200+</a:t>
            </a:r>
            <a:endParaRPr lang="en-US" sz="4000" dirty="0"/>
          </a:p>
        </p:txBody>
      </p:sp>
      <p:sp>
        <p:nvSpPr>
          <p:cNvPr id="17" name="Text 14"/>
          <p:cNvSpPr/>
          <p:nvPr/>
        </p:nvSpPr>
        <p:spPr>
          <a:xfrm>
            <a:off x="6438748"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Support emails a week</a:t>
            </a:r>
            <a:endParaRPr lang="en-US" sz="1300" dirty="0"/>
          </a:p>
        </p:txBody>
      </p:sp>
      <p:sp>
        <p:nvSpPr>
          <p:cNvPr id="18" name="Text 15"/>
          <p:cNvSpPr/>
          <p:nvPr/>
        </p:nvSpPr>
        <p:spPr>
          <a:xfrm>
            <a:off x="6438748"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Triaged by the email support agent.</a:t>
            </a:r>
            <a:endParaRPr lang="en-US" sz="1050" dirty="0"/>
          </a:p>
        </p:txBody>
      </p:sp>
      <p:sp>
        <p:nvSpPr>
          <p:cNvPr id="19" name="Shape 16"/>
          <p:cNvSpPr/>
          <p:nvPr/>
        </p:nvSpPr>
        <p:spPr>
          <a:xfrm>
            <a:off x="8995181" y="1783080"/>
            <a:ext cx="2556434" cy="1828800"/>
          </a:xfrm>
          <a:prstGeom prst="roundRect">
            <a:avLst>
              <a:gd name="adj" fmla="val 4000"/>
            </a:avLst>
          </a:prstGeom>
          <a:solidFill>
            <a:srgbClr val="1C1E29"/>
          </a:solidFill>
          <a:ln w="9525">
            <a:solidFill>
              <a:srgbClr val="3A3E52"/>
            </a:solidFill>
            <a:prstDash val="solid"/>
          </a:ln>
        </p:spPr>
      </p:sp>
      <p:sp>
        <p:nvSpPr>
          <p:cNvPr id="20" name="Text 17"/>
          <p:cNvSpPr/>
          <p:nvPr/>
        </p:nvSpPr>
        <p:spPr>
          <a:xfrm>
            <a:off x="9223781" y="1947672"/>
            <a:ext cx="2099234" cy="731520"/>
          </a:xfrm>
          <a:prstGeom prst="rect">
            <a:avLst/>
          </a:prstGeom>
          <a:noFill/>
          <a:ln/>
        </p:spPr>
        <p:txBody>
          <a:bodyPr wrap="square" lIns="0" tIns="0" rIns="0" bIns="0" rtlCol="0" anchor="ctr"/>
          <a:lstStyle/>
          <a:p>
            <a:pPr indent="0" marL="0">
              <a:buNone/>
            </a:pPr>
            <a:r>
              <a:rPr lang="en-US" sz="4000" dirty="0">
                <a:solidFill>
                  <a:srgbClr val="E8EAF2"/>
                </a:solidFill>
                <a:latin typeface="Georgia" pitchFamily="34" charset="0"/>
                <a:ea typeface="Georgia" pitchFamily="34" charset="-122"/>
                <a:cs typeface="Georgia" pitchFamily="34" charset="-120"/>
              </a:rPr>
              <a:t>183</a:t>
            </a:r>
            <a:endParaRPr lang="en-US" sz="4000" dirty="0"/>
          </a:p>
        </p:txBody>
      </p:sp>
      <p:sp>
        <p:nvSpPr>
          <p:cNvPr id="21" name="Text 18"/>
          <p:cNvSpPr/>
          <p:nvPr/>
        </p:nvSpPr>
        <p:spPr>
          <a:xfrm>
            <a:off x="9223781" y="2679192"/>
            <a:ext cx="2099234" cy="274320"/>
          </a:xfrm>
          <a:prstGeom prst="rect">
            <a:avLst/>
          </a:prstGeom>
          <a:noFill/>
          <a:ln/>
        </p:spPr>
        <p:txBody>
          <a:bodyPr wrap="square" lIns="0" tIns="0" rIns="0" bIns="0" rtlCol="0" anchor="ctr"/>
          <a:lstStyle/>
          <a:p>
            <a:pPr indent="0" marL="0">
              <a:buNone/>
            </a:pPr>
            <a:r>
              <a:rPr lang="en-US" sz="1300" b="1" dirty="0">
                <a:solidFill>
                  <a:srgbClr val="E8EAF2"/>
                </a:solidFill>
                <a:latin typeface="Arial" pitchFamily="34" charset="0"/>
                <a:ea typeface="Arial" pitchFamily="34" charset="-122"/>
                <a:cs typeface="Arial" pitchFamily="34" charset="-120"/>
              </a:rPr>
              <a:t>Customer accounts set up</a:t>
            </a:r>
            <a:endParaRPr lang="en-US" sz="1300" dirty="0"/>
          </a:p>
        </p:txBody>
      </p:sp>
      <p:sp>
        <p:nvSpPr>
          <p:cNvPr id="22" name="Text 19"/>
          <p:cNvSpPr/>
          <p:nvPr/>
        </p:nvSpPr>
        <p:spPr>
          <a:xfrm>
            <a:off x="9223781" y="2935224"/>
            <a:ext cx="2099234" cy="603504"/>
          </a:xfrm>
          <a:prstGeom prst="rect">
            <a:avLst/>
          </a:prstGeom>
          <a:noFill/>
          <a:ln/>
        </p:spPr>
        <p:txBody>
          <a:bodyPr wrap="square" lIns="0" tIns="0" rIns="0" bIns="0" rtlCol="0" anchor="t"/>
          <a:lstStyle/>
          <a:p>
            <a:pPr indent="0" marL="0">
              <a:buNone/>
            </a:pPr>
            <a:r>
              <a:rPr lang="en-US" sz="1050" dirty="0">
                <a:solidFill>
                  <a:srgbClr val="9DA1B7"/>
                </a:solidFill>
                <a:latin typeface="Arial" pitchFamily="34" charset="0"/>
                <a:ea typeface="Arial" pitchFamily="34" charset="-122"/>
                <a:cs typeface="Arial" pitchFamily="34" charset="-120"/>
              </a:rPr>
              <a:t>Through the onboarding app since June. Median nine minutes.</a:t>
            </a:r>
            <a:endParaRPr lang="en-US" sz="1050" dirty="0"/>
          </a:p>
        </p:txBody>
      </p:sp>
      <p:sp>
        <p:nvSpPr>
          <p:cNvPr id="23" name="Shape 20"/>
          <p:cNvSpPr/>
          <p:nvPr/>
        </p:nvSpPr>
        <p:spPr>
          <a:xfrm>
            <a:off x="640080" y="3931920"/>
            <a:ext cx="2467280" cy="548640"/>
          </a:xfrm>
          <a:prstGeom prst="roundRect">
            <a:avLst>
              <a:gd name="adj" fmla="val 16667"/>
            </a:avLst>
          </a:prstGeom>
          <a:solidFill>
            <a:srgbClr val="242735"/>
          </a:solidFill>
          <a:ln w="9525">
            <a:solidFill>
              <a:srgbClr val="3A3E52"/>
            </a:solidFill>
            <a:prstDash val="solid"/>
          </a:ln>
        </p:spPr>
      </p:sp>
      <p:sp>
        <p:nvSpPr>
          <p:cNvPr id="24" name="Text 21"/>
          <p:cNvSpPr/>
          <p:nvPr/>
        </p:nvSpPr>
        <p:spPr>
          <a:xfrm>
            <a:off x="640080" y="3931920"/>
            <a:ext cx="2467280" cy="548640"/>
          </a:xfrm>
          <a:prstGeom prst="rect">
            <a:avLst/>
          </a:prstGeom>
          <a:noFill/>
          <a:ln/>
        </p:spPr>
        <p:txBody>
          <a:bodyPr wrap="square" lIns="0" tIns="0" rIns="0" bIns="0" rtlCol="0" anchor="ctr"/>
          <a:lstStyle/>
          <a:p>
            <a:pPr algn="ctr" indent="0" marL="0">
              <a:buNone/>
            </a:pPr>
            <a:r>
              <a:rPr lang="en-US" sz="1400" b="1" dirty="0">
                <a:solidFill>
                  <a:srgbClr val="E8EAF2"/>
                </a:solidFill>
                <a:latin typeface="Arial" pitchFamily="34" charset="0"/>
                <a:ea typeface="Arial" pitchFamily="34" charset="-122"/>
                <a:cs typeface="Arial" pitchFamily="34" charset="-120"/>
              </a:rPr>
              <a:t>Ship small</a:t>
            </a:r>
            <a:endParaRPr lang="en-US" sz="1400" dirty="0"/>
          </a:p>
        </p:txBody>
      </p:sp>
      <p:sp>
        <p:nvSpPr>
          <p:cNvPr id="25" name="Text 22"/>
          <p:cNvSpPr/>
          <p:nvPr/>
        </p:nvSpPr>
        <p:spPr>
          <a:xfrm>
            <a:off x="3107360" y="3931920"/>
            <a:ext cx="347472" cy="548640"/>
          </a:xfrm>
          <a:prstGeom prst="rect">
            <a:avLst/>
          </a:prstGeom>
          <a:noFill/>
          <a:ln/>
        </p:spPr>
        <p:txBody>
          <a:bodyPr wrap="square" lIns="0" tIns="0" rIns="0" bIns="0" rtlCol="0" anchor="ctr"/>
          <a:lstStyle/>
          <a:p>
            <a:pPr algn="ctr" indent="0" marL="0">
              <a:buNone/>
            </a:pPr>
            <a:r>
              <a:rPr lang="en-US" sz="1600" dirty="0">
                <a:solidFill>
                  <a:srgbClr val="80E9FF"/>
                </a:solidFill>
                <a:latin typeface="Arial" pitchFamily="34" charset="0"/>
                <a:ea typeface="Arial" pitchFamily="34" charset="-122"/>
                <a:cs typeface="Arial" pitchFamily="34" charset="-120"/>
              </a:rPr>
              <a:t>→</a:t>
            </a:r>
            <a:endParaRPr lang="en-US" sz="1600" dirty="0"/>
          </a:p>
        </p:txBody>
      </p:sp>
      <p:sp>
        <p:nvSpPr>
          <p:cNvPr id="26" name="Shape 23"/>
          <p:cNvSpPr/>
          <p:nvPr/>
        </p:nvSpPr>
        <p:spPr>
          <a:xfrm>
            <a:off x="3454832" y="3931920"/>
            <a:ext cx="2467280" cy="548640"/>
          </a:xfrm>
          <a:prstGeom prst="roundRect">
            <a:avLst>
              <a:gd name="adj" fmla="val 16667"/>
            </a:avLst>
          </a:prstGeom>
          <a:solidFill>
            <a:srgbClr val="242735"/>
          </a:solidFill>
          <a:ln w="9525">
            <a:solidFill>
              <a:srgbClr val="3A3E52"/>
            </a:solidFill>
            <a:prstDash val="solid"/>
          </a:ln>
        </p:spPr>
      </p:sp>
      <p:sp>
        <p:nvSpPr>
          <p:cNvPr id="27" name="Text 24"/>
          <p:cNvSpPr/>
          <p:nvPr/>
        </p:nvSpPr>
        <p:spPr>
          <a:xfrm>
            <a:off x="3454832" y="3931920"/>
            <a:ext cx="2467280" cy="548640"/>
          </a:xfrm>
          <a:prstGeom prst="rect">
            <a:avLst/>
          </a:prstGeom>
          <a:noFill/>
          <a:ln/>
        </p:spPr>
        <p:txBody>
          <a:bodyPr wrap="square" lIns="0" tIns="0" rIns="0" bIns="0" rtlCol="0" anchor="ctr"/>
          <a:lstStyle/>
          <a:p>
            <a:pPr algn="ctr" indent="0" marL="0">
              <a:buNone/>
            </a:pPr>
            <a:r>
              <a:rPr lang="en-US" sz="1400" b="1" dirty="0">
                <a:solidFill>
                  <a:srgbClr val="E8EAF2"/>
                </a:solidFill>
                <a:latin typeface="Arial" pitchFamily="34" charset="0"/>
                <a:ea typeface="Arial" pitchFamily="34" charset="-122"/>
                <a:cs typeface="Arial" pitchFamily="34" charset="-120"/>
              </a:rPr>
              <a:t>Team tests it</a:t>
            </a:r>
            <a:endParaRPr lang="en-US" sz="1400" dirty="0"/>
          </a:p>
        </p:txBody>
      </p:sp>
      <p:sp>
        <p:nvSpPr>
          <p:cNvPr id="28" name="Text 25"/>
          <p:cNvSpPr/>
          <p:nvPr/>
        </p:nvSpPr>
        <p:spPr>
          <a:xfrm>
            <a:off x="5922112" y="3931920"/>
            <a:ext cx="347472" cy="548640"/>
          </a:xfrm>
          <a:prstGeom prst="rect">
            <a:avLst/>
          </a:prstGeom>
          <a:noFill/>
          <a:ln/>
        </p:spPr>
        <p:txBody>
          <a:bodyPr wrap="square" lIns="0" tIns="0" rIns="0" bIns="0" rtlCol="0" anchor="ctr"/>
          <a:lstStyle/>
          <a:p>
            <a:pPr algn="ctr" indent="0" marL="0">
              <a:buNone/>
            </a:pPr>
            <a:r>
              <a:rPr lang="en-US" sz="1600" dirty="0">
                <a:solidFill>
                  <a:srgbClr val="80E9FF"/>
                </a:solidFill>
                <a:latin typeface="Arial" pitchFamily="34" charset="0"/>
                <a:ea typeface="Arial" pitchFamily="34" charset="-122"/>
                <a:cs typeface="Arial" pitchFamily="34" charset="-120"/>
              </a:rPr>
              <a:t>→</a:t>
            </a:r>
            <a:endParaRPr lang="en-US" sz="1600" dirty="0"/>
          </a:p>
        </p:txBody>
      </p:sp>
      <p:sp>
        <p:nvSpPr>
          <p:cNvPr id="29" name="Shape 26"/>
          <p:cNvSpPr/>
          <p:nvPr/>
        </p:nvSpPr>
        <p:spPr>
          <a:xfrm>
            <a:off x="6269584" y="3931920"/>
            <a:ext cx="2467280" cy="548640"/>
          </a:xfrm>
          <a:prstGeom prst="roundRect">
            <a:avLst>
              <a:gd name="adj" fmla="val 16667"/>
            </a:avLst>
          </a:prstGeom>
          <a:solidFill>
            <a:srgbClr val="242735"/>
          </a:solidFill>
          <a:ln w="9525">
            <a:solidFill>
              <a:srgbClr val="3A3E52"/>
            </a:solidFill>
            <a:prstDash val="solid"/>
          </a:ln>
        </p:spPr>
      </p:sp>
      <p:sp>
        <p:nvSpPr>
          <p:cNvPr id="30" name="Text 27"/>
          <p:cNvSpPr/>
          <p:nvPr/>
        </p:nvSpPr>
        <p:spPr>
          <a:xfrm>
            <a:off x="6269584" y="3931920"/>
            <a:ext cx="2467280" cy="548640"/>
          </a:xfrm>
          <a:prstGeom prst="rect">
            <a:avLst/>
          </a:prstGeom>
          <a:noFill/>
          <a:ln/>
        </p:spPr>
        <p:txBody>
          <a:bodyPr wrap="square" lIns="0" tIns="0" rIns="0" bIns="0" rtlCol="0" anchor="ctr"/>
          <a:lstStyle/>
          <a:p>
            <a:pPr algn="ctr" indent="0" marL="0">
              <a:buNone/>
            </a:pPr>
            <a:r>
              <a:rPr lang="en-US" sz="1400" b="1" dirty="0">
                <a:solidFill>
                  <a:srgbClr val="E8EAF2"/>
                </a:solidFill>
                <a:latin typeface="Arial" pitchFamily="34" charset="0"/>
                <a:ea typeface="Arial" pitchFamily="34" charset="-122"/>
                <a:cs typeface="Arial" pitchFamily="34" charset="-120"/>
              </a:rPr>
              <a:t>They tell me what broke</a:t>
            </a:r>
            <a:endParaRPr lang="en-US" sz="1400" dirty="0"/>
          </a:p>
        </p:txBody>
      </p:sp>
      <p:sp>
        <p:nvSpPr>
          <p:cNvPr id="31" name="Text 28"/>
          <p:cNvSpPr/>
          <p:nvPr/>
        </p:nvSpPr>
        <p:spPr>
          <a:xfrm>
            <a:off x="8736863" y="3931920"/>
            <a:ext cx="347472" cy="548640"/>
          </a:xfrm>
          <a:prstGeom prst="rect">
            <a:avLst/>
          </a:prstGeom>
          <a:noFill/>
          <a:ln/>
        </p:spPr>
        <p:txBody>
          <a:bodyPr wrap="square" lIns="0" tIns="0" rIns="0" bIns="0" rtlCol="0" anchor="ctr"/>
          <a:lstStyle/>
          <a:p>
            <a:pPr algn="ctr" indent="0" marL="0">
              <a:buNone/>
            </a:pPr>
            <a:r>
              <a:rPr lang="en-US" sz="1600" dirty="0">
                <a:solidFill>
                  <a:srgbClr val="80E9FF"/>
                </a:solidFill>
                <a:latin typeface="Arial" pitchFamily="34" charset="0"/>
                <a:ea typeface="Arial" pitchFamily="34" charset="-122"/>
                <a:cs typeface="Arial" pitchFamily="34" charset="-120"/>
              </a:rPr>
              <a:t>→</a:t>
            </a:r>
            <a:endParaRPr lang="en-US" sz="1600" dirty="0"/>
          </a:p>
        </p:txBody>
      </p:sp>
      <p:sp>
        <p:nvSpPr>
          <p:cNvPr id="32" name="Shape 29"/>
          <p:cNvSpPr/>
          <p:nvPr/>
        </p:nvSpPr>
        <p:spPr>
          <a:xfrm>
            <a:off x="9084335" y="3931920"/>
            <a:ext cx="2467280" cy="548640"/>
          </a:xfrm>
          <a:prstGeom prst="roundRect">
            <a:avLst>
              <a:gd name="adj" fmla="val 16667"/>
            </a:avLst>
          </a:prstGeom>
          <a:solidFill>
            <a:srgbClr val="242735"/>
          </a:solidFill>
          <a:ln w="9525">
            <a:solidFill>
              <a:srgbClr val="3A3E52"/>
            </a:solidFill>
            <a:prstDash val="solid"/>
          </a:ln>
        </p:spPr>
      </p:sp>
      <p:sp>
        <p:nvSpPr>
          <p:cNvPr id="33" name="Text 30"/>
          <p:cNvSpPr/>
          <p:nvPr/>
        </p:nvSpPr>
        <p:spPr>
          <a:xfrm>
            <a:off x="9084335" y="3931920"/>
            <a:ext cx="2467280" cy="548640"/>
          </a:xfrm>
          <a:prstGeom prst="rect">
            <a:avLst/>
          </a:prstGeom>
          <a:noFill/>
          <a:ln/>
        </p:spPr>
        <p:txBody>
          <a:bodyPr wrap="square" lIns="0" tIns="0" rIns="0" bIns="0" rtlCol="0" anchor="ctr"/>
          <a:lstStyle/>
          <a:p>
            <a:pPr algn="ctr" indent="0" marL="0">
              <a:buNone/>
            </a:pPr>
            <a:r>
              <a:rPr lang="en-US" sz="1400" b="1" dirty="0">
                <a:solidFill>
                  <a:srgbClr val="E8EAF2"/>
                </a:solidFill>
                <a:latin typeface="Arial" pitchFamily="34" charset="0"/>
                <a:ea typeface="Arial" pitchFamily="34" charset="-122"/>
                <a:cs typeface="Arial" pitchFamily="34" charset="-120"/>
              </a:rPr>
              <a:t>I fix that</a:t>
            </a:r>
            <a:endParaRPr lang="en-US" sz="1400" dirty="0"/>
          </a:p>
        </p:txBody>
      </p:sp>
      <p:sp>
        <p:nvSpPr>
          <p:cNvPr id="34" name="Shape 31"/>
          <p:cNvSpPr/>
          <p:nvPr/>
        </p:nvSpPr>
        <p:spPr>
          <a:xfrm>
            <a:off x="640080" y="4864608"/>
            <a:ext cx="45720" cy="384048"/>
          </a:xfrm>
          <a:prstGeom prst="rect">
            <a:avLst/>
          </a:prstGeom>
          <a:solidFill>
            <a:srgbClr val="635BFF"/>
          </a:solidFill>
          <a:ln w="12700">
            <a:solidFill>
              <a:srgbClr val="635BFF"/>
            </a:solidFill>
            <a:prstDash val="solid"/>
          </a:ln>
        </p:spPr>
      </p:sp>
      <p:sp>
        <p:nvSpPr>
          <p:cNvPr id="35" name="Text 32"/>
          <p:cNvSpPr/>
          <p:nvPr/>
        </p:nvSpPr>
        <p:spPr>
          <a:xfrm>
            <a:off x="841248" y="4800600"/>
            <a:ext cx="10710367" cy="548640"/>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Fix what they hit.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The first version reaches the team in days. I do not build for problems nobody has.</a:t>
            </a:r>
            <a:endParaRPr lang="en-US" sz="1500" dirty="0"/>
          </a:p>
        </p:txBody>
      </p:sp>
      <p:sp>
        <p:nvSpPr>
          <p:cNvPr id="36" name="Shape 33"/>
          <p:cNvSpPr/>
          <p:nvPr/>
        </p:nvSpPr>
        <p:spPr>
          <a:xfrm>
            <a:off x="640080" y="5522976"/>
            <a:ext cx="45720" cy="384048"/>
          </a:xfrm>
          <a:prstGeom prst="rect">
            <a:avLst/>
          </a:prstGeom>
          <a:solidFill>
            <a:srgbClr val="635BFF"/>
          </a:solidFill>
          <a:ln w="12700">
            <a:solidFill>
              <a:srgbClr val="635BFF"/>
            </a:solidFill>
            <a:prstDash val="solid"/>
          </a:ln>
        </p:spPr>
      </p:sp>
      <p:sp>
        <p:nvSpPr>
          <p:cNvPr id="37" name="Text 34"/>
          <p:cNvSpPr/>
          <p:nvPr/>
        </p:nvSpPr>
        <p:spPr>
          <a:xfrm>
            <a:off x="841248" y="5458968"/>
            <a:ext cx="10710367" cy="548640"/>
          </a:xfrm>
          <a:prstGeom prst="rect">
            <a:avLst/>
          </a:prstGeom>
          <a:noFill/>
          <a:ln/>
        </p:spPr>
        <p:txBody>
          <a:bodyPr wrap="square" lIns="0" tIns="0" rIns="0" bIns="0" rtlCol="0" anchor="t"/>
          <a:lstStyle/>
          <a:p>
            <a:pPr indent="0" marL="0">
              <a:lnSpc>
                <a:spcPct val="112000"/>
              </a:lnSpc>
              <a:buNone/>
            </a:pPr>
            <a:r>
              <a:rPr lang="en-US" sz="1500" b="1" dirty="0">
                <a:solidFill>
                  <a:srgbClr val="E8EAF2"/>
                </a:solidFill>
                <a:latin typeface="Arial" pitchFamily="34" charset="0"/>
                <a:ea typeface="Arial" pitchFamily="34" charset="-122"/>
                <a:cs typeface="Arial" pitchFamily="34" charset="-120"/>
              </a:rPr>
              <a:t>Shared rules.  </a:t>
            </a:r>
            <a:pPr indent="0" marL="0">
              <a:lnSpc>
                <a:spcPct val="112000"/>
              </a:lnSpc>
              <a:buNone/>
            </a:pPr>
            <a:r>
              <a:rPr lang="en-US" sz="1500" dirty="0">
                <a:solidFill>
                  <a:srgbClr val="9DA1B7"/>
                </a:solidFill>
                <a:latin typeface="Arial" pitchFamily="34" charset="0"/>
                <a:ea typeface="Arial" pitchFamily="34" charset="-122"/>
                <a:cs typeface="Arial" pitchFamily="34" charset="-120"/>
              </a:rPr>
              <a:t>Answers come only from sources, always cited. No team can loosen that.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51C"/>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635BFF"/>
          </a:solidFill>
          <a:ln w="12700">
            <a:solidFill>
              <a:srgbClr val="635BFF"/>
            </a:solidFill>
            <a:prstDash val="solid"/>
          </a:ln>
        </p:spPr>
      </p:sp>
      <p:sp>
        <p:nvSpPr>
          <p:cNvPr id="3" name="Text 1"/>
          <p:cNvSpPr/>
          <p:nvPr/>
        </p:nvSpPr>
        <p:spPr>
          <a:xfrm>
            <a:off x="640080" y="411480"/>
            <a:ext cx="10911535"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DAY ONE INSIDE REALPAGE</a:t>
            </a:r>
            <a:endParaRPr lang="en-US" sz="1100" dirty="0"/>
          </a:p>
        </p:txBody>
      </p:sp>
      <p:sp>
        <p:nvSpPr>
          <p:cNvPr id="4" name="Text 2"/>
          <p:cNvSpPr/>
          <p:nvPr/>
        </p:nvSpPr>
        <p:spPr>
          <a:xfrm>
            <a:off x="640080" y="713232"/>
            <a:ext cx="10911535" cy="777240"/>
          </a:xfrm>
          <a:prstGeom prst="rect">
            <a:avLst/>
          </a:prstGeom>
          <a:noFill/>
          <a:ln/>
        </p:spPr>
        <p:txBody>
          <a:bodyPr wrap="square" lIns="0" tIns="0" rIns="0" bIns="0" rtlCol="0" anchor="t"/>
          <a:lstStyle/>
          <a:p>
            <a:pPr indent="0" marL="0">
              <a:buNone/>
            </a:pPr>
            <a:r>
              <a:rPr lang="en-US" sz="3400" dirty="0">
                <a:solidFill>
                  <a:srgbClr val="E8EAF2"/>
                </a:solidFill>
                <a:latin typeface="Georgia" pitchFamily="34" charset="0"/>
                <a:ea typeface="Georgia" pitchFamily="34" charset="-122"/>
                <a:cs typeface="Georgia" pitchFamily="34" charset="-120"/>
              </a:rPr>
              <a:t>Swap the sources. Pick one team. Measure.</a:t>
            </a:r>
            <a:endParaRPr lang="en-US" sz="3400" dirty="0"/>
          </a:p>
        </p:txBody>
      </p:sp>
      <p:sp>
        <p:nvSpPr>
          <p:cNvPr id="5" name="Text 3"/>
          <p:cNvSpPr/>
          <p:nvPr/>
        </p:nvSpPr>
        <p:spPr>
          <a:xfrm>
            <a:off x="640080" y="6473952"/>
            <a:ext cx="10911535" cy="228600"/>
          </a:xfrm>
          <a:prstGeom prst="rect">
            <a:avLst/>
          </a:prstGeom>
          <a:noFill/>
          <a:ln/>
        </p:spPr>
        <p:txBody>
          <a:bodyPr wrap="square" lIns="0" tIns="0" rIns="0" bIns="0" rtlCol="0" anchor="ctr"/>
          <a:lstStyle/>
          <a:p>
            <a:pPr indent="0" marL="0">
              <a:buNone/>
            </a:pPr>
            <a:r>
              <a:rPr lang="en-US" sz="900" dirty="0">
                <a:solidFill>
                  <a:srgbClr val="6B6F86"/>
                </a:solidFill>
                <a:latin typeface="Courier New" pitchFamily="34" charset="0"/>
                <a:ea typeface="Courier New" pitchFamily="34" charset="-122"/>
                <a:cs typeface="Courier New" pitchFamily="34" charset="-120"/>
              </a:rPr>
              <a:t>Hamza Saraswat  ·  Frontdoor  ·  11</a:t>
            </a:r>
            <a:endParaRPr lang="en-US" sz="900" dirty="0"/>
          </a:p>
        </p:txBody>
      </p:sp>
      <p:sp>
        <p:nvSpPr>
          <p:cNvPr id="7" name="Shape 4"/>
          <p:cNvSpPr/>
          <p:nvPr/>
        </p:nvSpPr>
        <p:spPr>
          <a:xfrm>
            <a:off x="640080" y="1847088"/>
            <a:ext cx="45720" cy="640080"/>
          </a:xfrm>
          <a:prstGeom prst="rect">
            <a:avLst/>
          </a:prstGeom>
          <a:solidFill>
            <a:srgbClr val="635BFF"/>
          </a:solidFill>
          <a:ln w="12700">
            <a:solidFill>
              <a:srgbClr val="635BFF"/>
            </a:solidFill>
            <a:prstDash val="solid"/>
          </a:ln>
        </p:spPr>
      </p:sp>
      <p:sp>
        <p:nvSpPr>
          <p:cNvPr id="8" name="Text 5"/>
          <p:cNvSpPr/>
          <p:nvPr/>
        </p:nvSpPr>
        <p:spPr>
          <a:xfrm>
            <a:off x="841248" y="1783080"/>
            <a:ext cx="6382512" cy="804672"/>
          </a:xfrm>
          <a:prstGeom prst="rect">
            <a:avLst/>
          </a:prstGeom>
          <a:noFill/>
          <a:ln/>
        </p:spPr>
        <p:txBody>
          <a:bodyPr wrap="square" lIns="0" tIns="0" rIns="0" bIns="0" rtlCol="0" anchor="t"/>
          <a:lstStyle/>
          <a:p>
            <a:pPr indent="0" marL="0">
              <a:lnSpc>
                <a:spcPct val="112000"/>
              </a:lnSpc>
              <a:buNone/>
            </a:pPr>
            <a:r>
              <a:rPr lang="en-US" sz="1600" b="1" dirty="0">
                <a:solidFill>
                  <a:srgbClr val="E8EAF2"/>
                </a:solidFill>
                <a:latin typeface="Arial" pitchFamily="34" charset="0"/>
                <a:ea typeface="Arial" pitchFamily="34" charset="-122"/>
                <a:cs typeface="Arial" pitchFamily="34" charset="-120"/>
              </a:rPr>
              <a:t>Swap the sources.  </a:t>
            </a:r>
            <a:pPr indent="0" marL="0">
              <a:lnSpc>
                <a:spcPct val="112000"/>
              </a:lnSpc>
              <a:buNone/>
            </a:pPr>
            <a:r>
              <a:rPr lang="en-US" sz="1600" dirty="0">
                <a:solidFill>
                  <a:srgbClr val="9DA1B7"/>
                </a:solidFill>
                <a:latin typeface="Arial" pitchFamily="34" charset="0"/>
                <a:ea typeface="Arial" pitchFamily="34" charset="-122"/>
                <a:cs typeface="Arial" pitchFamily="34" charset="-120"/>
              </a:rPr>
              <a:t>Replace public pages with internal ones. The other three layers stay as they are.</a:t>
            </a:r>
            <a:endParaRPr lang="en-US" sz="1600" dirty="0"/>
          </a:p>
        </p:txBody>
      </p:sp>
      <p:sp>
        <p:nvSpPr>
          <p:cNvPr id="9" name="Shape 6"/>
          <p:cNvSpPr/>
          <p:nvPr/>
        </p:nvSpPr>
        <p:spPr>
          <a:xfrm>
            <a:off x="640080" y="2761488"/>
            <a:ext cx="45720" cy="640080"/>
          </a:xfrm>
          <a:prstGeom prst="rect">
            <a:avLst/>
          </a:prstGeom>
          <a:solidFill>
            <a:srgbClr val="635BFF"/>
          </a:solidFill>
          <a:ln w="12700">
            <a:solidFill>
              <a:srgbClr val="635BFF"/>
            </a:solidFill>
            <a:prstDash val="solid"/>
          </a:ln>
        </p:spPr>
      </p:sp>
      <p:sp>
        <p:nvSpPr>
          <p:cNvPr id="10" name="Text 7"/>
          <p:cNvSpPr/>
          <p:nvPr/>
        </p:nvSpPr>
        <p:spPr>
          <a:xfrm>
            <a:off x="841248" y="2697480"/>
            <a:ext cx="6382512" cy="804672"/>
          </a:xfrm>
          <a:prstGeom prst="rect">
            <a:avLst/>
          </a:prstGeom>
          <a:noFill/>
          <a:ln/>
        </p:spPr>
        <p:txBody>
          <a:bodyPr wrap="square" lIns="0" tIns="0" rIns="0" bIns="0" rtlCol="0" anchor="t"/>
          <a:lstStyle/>
          <a:p>
            <a:pPr indent="0" marL="0">
              <a:lnSpc>
                <a:spcPct val="112000"/>
              </a:lnSpc>
              <a:buNone/>
            </a:pPr>
            <a:r>
              <a:rPr lang="en-US" sz="1600" b="1" dirty="0">
                <a:solidFill>
                  <a:srgbClr val="E8EAF2"/>
                </a:solidFill>
                <a:latin typeface="Arial" pitchFamily="34" charset="0"/>
                <a:ea typeface="Arial" pitchFamily="34" charset="-122"/>
                <a:cs typeface="Arial" pitchFamily="34" charset="-120"/>
              </a:rPr>
              <a:t>Pick one team.  </a:t>
            </a:r>
            <a:pPr indent="0" marL="0">
              <a:lnSpc>
                <a:spcPct val="112000"/>
              </a:lnSpc>
              <a:buNone/>
            </a:pPr>
            <a:r>
              <a:rPr lang="en-US" sz="1600" dirty="0">
                <a:solidFill>
                  <a:srgbClr val="9DA1B7"/>
                </a:solidFill>
                <a:latin typeface="Arial" pitchFamily="34" charset="0"/>
                <a:ea typeface="Arial" pitchFamily="34" charset="-122"/>
                <a:cs typeface="Arial" pitchFamily="34" charset="-120"/>
              </a:rPr>
              <a:t>Ship them a first version that week, and let them break it.</a:t>
            </a:r>
            <a:endParaRPr lang="en-US" sz="1600" dirty="0"/>
          </a:p>
        </p:txBody>
      </p:sp>
      <p:sp>
        <p:nvSpPr>
          <p:cNvPr id="11" name="Shape 8"/>
          <p:cNvSpPr/>
          <p:nvPr/>
        </p:nvSpPr>
        <p:spPr>
          <a:xfrm>
            <a:off x="640080" y="3675888"/>
            <a:ext cx="45720" cy="640080"/>
          </a:xfrm>
          <a:prstGeom prst="rect">
            <a:avLst/>
          </a:prstGeom>
          <a:solidFill>
            <a:srgbClr val="635BFF"/>
          </a:solidFill>
          <a:ln w="12700">
            <a:solidFill>
              <a:srgbClr val="635BFF"/>
            </a:solidFill>
            <a:prstDash val="solid"/>
          </a:ln>
        </p:spPr>
      </p:sp>
      <p:sp>
        <p:nvSpPr>
          <p:cNvPr id="12" name="Text 9"/>
          <p:cNvSpPr/>
          <p:nvPr/>
        </p:nvSpPr>
        <p:spPr>
          <a:xfrm>
            <a:off x="841248" y="3611880"/>
            <a:ext cx="6382512" cy="804672"/>
          </a:xfrm>
          <a:prstGeom prst="rect">
            <a:avLst/>
          </a:prstGeom>
          <a:noFill/>
          <a:ln/>
        </p:spPr>
        <p:txBody>
          <a:bodyPr wrap="square" lIns="0" tIns="0" rIns="0" bIns="0" rtlCol="0" anchor="t"/>
          <a:lstStyle/>
          <a:p>
            <a:pPr indent="0" marL="0">
              <a:lnSpc>
                <a:spcPct val="112000"/>
              </a:lnSpc>
              <a:buNone/>
            </a:pPr>
            <a:r>
              <a:rPr lang="en-US" sz="1600" b="1" dirty="0">
                <a:solidFill>
                  <a:srgbClr val="E8EAF2"/>
                </a:solidFill>
                <a:latin typeface="Arial" pitchFamily="34" charset="0"/>
                <a:ea typeface="Arial" pitchFamily="34" charset="-122"/>
                <a:cs typeface="Arial" pitchFamily="34" charset="-120"/>
              </a:rPr>
              <a:t>Measure with their questions.  </a:t>
            </a:r>
            <a:pPr indent="0" marL="0">
              <a:lnSpc>
                <a:spcPct val="112000"/>
              </a:lnSpc>
              <a:buNone/>
            </a:pPr>
            <a:r>
              <a:rPr lang="en-US" sz="1600" dirty="0">
                <a:solidFill>
                  <a:srgbClr val="9DA1B7"/>
                </a:solidFill>
                <a:latin typeface="Arial" pitchFamily="34" charset="0"/>
                <a:ea typeface="Arial" pitchFamily="34" charset="-122"/>
                <a:cs typeface="Arial" pitchFamily="34" charset="-120"/>
              </a:rPr>
              <a:t>A test set written by the people who field them.</a:t>
            </a:r>
            <a:endParaRPr lang="en-US" sz="1600" dirty="0"/>
          </a:p>
        </p:txBody>
      </p:sp>
      <p:sp>
        <p:nvSpPr>
          <p:cNvPr id="13" name="Shape 10"/>
          <p:cNvSpPr/>
          <p:nvPr/>
        </p:nvSpPr>
        <p:spPr>
          <a:xfrm>
            <a:off x="640080" y="4590288"/>
            <a:ext cx="45720" cy="640080"/>
          </a:xfrm>
          <a:prstGeom prst="rect">
            <a:avLst/>
          </a:prstGeom>
          <a:solidFill>
            <a:srgbClr val="635BFF"/>
          </a:solidFill>
          <a:ln w="12700">
            <a:solidFill>
              <a:srgbClr val="635BFF"/>
            </a:solidFill>
            <a:prstDash val="solid"/>
          </a:ln>
        </p:spPr>
      </p:sp>
      <p:sp>
        <p:nvSpPr>
          <p:cNvPr id="14" name="Text 11"/>
          <p:cNvSpPr/>
          <p:nvPr/>
        </p:nvSpPr>
        <p:spPr>
          <a:xfrm>
            <a:off x="841248" y="4526280"/>
            <a:ext cx="6382512" cy="804672"/>
          </a:xfrm>
          <a:prstGeom prst="rect">
            <a:avLst/>
          </a:prstGeom>
          <a:noFill/>
          <a:ln/>
        </p:spPr>
        <p:txBody>
          <a:bodyPr wrap="square" lIns="0" tIns="0" rIns="0" bIns="0" rtlCol="0" anchor="t"/>
          <a:lstStyle/>
          <a:p>
            <a:pPr indent="0" marL="0">
              <a:lnSpc>
                <a:spcPct val="112000"/>
              </a:lnSpc>
              <a:buNone/>
            </a:pPr>
            <a:r>
              <a:rPr lang="en-US" sz="1600" b="1" dirty="0">
                <a:solidFill>
                  <a:srgbClr val="E8EAF2"/>
                </a:solidFill>
                <a:latin typeface="Arial" pitchFamily="34" charset="0"/>
                <a:ea typeface="Arial" pitchFamily="34" charset="-122"/>
                <a:cs typeface="Arial" pitchFamily="34" charset="-120"/>
              </a:rPr>
              <a:t>Then document workflows.  </a:t>
            </a:r>
            <a:pPr indent="0" marL="0">
              <a:lnSpc>
                <a:spcPct val="112000"/>
              </a:lnSpc>
              <a:buNone/>
            </a:pPr>
            <a:r>
              <a:rPr lang="en-US" sz="1600" dirty="0">
                <a:solidFill>
                  <a:srgbClr val="9DA1B7"/>
                </a:solidFill>
                <a:latin typeface="Arial" pitchFamily="34" charset="0"/>
                <a:ea typeface="Arial" pitchFamily="34" charset="-122"/>
                <a:cs typeface="Arial" pitchFamily="34" charset="-120"/>
              </a:rPr>
              <a:t>Read, check against requirements, explain every gap at once, send unclear ones to a person.</a:t>
            </a:r>
            <a:endParaRPr lang="en-US" sz="1600" dirty="0"/>
          </a:p>
        </p:txBody>
      </p:sp>
      <p:sp>
        <p:nvSpPr>
          <p:cNvPr id="15" name="Shape 12"/>
          <p:cNvSpPr/>
          <p:nvPr/>
        </p:nvSpPr>
        <p:spPr>
          <a:xfrm>
            <a:off x="7772400" y="1783080"/>
            <a:ext cx="3779215" cy="3520440"/>
          </a:xfrm>
          <a:prstGeom prst="roundRect">
            <a:avLst>
              <a:gd name="adj" fmla="val 1558"/>
            </a:avLst>
          </a:prstGeom>
          <a:solidFill>
            <a:srgbClr val="1C1E29"/>
          </a:solidFill>
          <a:ln w="15875">
            <a:solidFill>
              <a:srgbClr val="635BFF"/>
            </a:solidFill>
            <a:prstDash val="solid"/>
          </a:ln>
        </p:spPr>
      </p:sp>
      <p:sp>
        <p:nvSpPr>
          <p:cNvPr id="16" name="Text 13"/>
          <p:cNvSpPr/>
          <p:nvPr/>
        </p:nvSpPr>
        <p:spPr>
          <a:xfrm>
            <a:off x="8046720" y="2011680"/>
            <a:ext cx="3291840" cy="274320"/>
          </a:xfrm>
          <a:prstGeom prst="rect">
            <a:avLst/>
          </a:prstGeom>
          <a:noFill/>
          <a:ln/>
        </p:spPr>
        <p:txBody>
          <a:bodyPr wrap="square" lIns="0" tIns="0" rIns="0" bIns="0" rtlCol="0" anchor="ctr"/>
          <a:lstStyle/>
          <a:p>
            <a:pPr indent="0" marL="0">
              <a:buNone/>
            </a:pPr>
            <a:r>
              <a:rPr lang="en-US" sz="1100" spc="300" kern="0" dirty="0">
                <a:solidFill>
                  <a:srgbClr val="80E9FF"/>
                </a:solidFill>
                <a:latin typeface="Courier New" pitchFamily="34" charset="0"/>
                <a:ea typeface="Courier New" pitchFamily="34" charset="-122"/>
                <a:cs typeface="Courier New" pitchFamily="34" charset="-120"/>
              </a:rPr>
              <a:t>HAMZA SARASWAT</a:t>
            </a:r>
            <a:endParaRPr lang="en-US" sz="1100" dirty="0"/>
          </a:p>
        </p:txBody>
      </p:sp>
      <p:sp>
        <p:nvSpPr>
          <p:cNvPr id="17" name="Text 14"/>
          <p:cNvSpPr/>
          <p:nvPr/>
        </p:nvSpPr>
        <p:spPr>
          <a:xfrm>
            <a:off x="8046720" y="2286000"/>
            <a:ext cx="3291840" cy="457200"/>
          </a:xfrm>
          <a:prstGeom prst="rect">
            <a:avLst/>
          </a:prstGeom>
          <a:noFill/>
          <a:ln/>
        </p:spPr>
        <p:txBody>
          <a:bodyPr wrap="square" lIns="0" tIns="0" rIns="0" bIns="0" rtlCol="0" anchor="ctr"/>
          <a:lstStyle/>
          <a:p>
            <a:pPr indent="0" marL="0">
              <a:buNone/>
            </a:pPr>
            <a:r>
              <a:rPr lang="en-US" sz="2600" dirty="0">
                <a:solidFill>
                  <a:srgbClr val="E8EAF2"/>
                </a:solidFill>
                <a:latin typeface="Georgia" pitchFamily="34" charset="0"/>
                <a:ea typeface="Georgia" pitchFamily="34" charset="-122"/>
                <a:cs typeface="Georgia" pitchFamily="34" charset="-120"/>
              </a:rPr>
              <a:t>AI Engineer</a:t>
            </a:r>
            <a:endParaRPr lang="en-US" sz="2600" dirty="0"/>
          </a:p>
        </p:txBody>
      </p:sp>
      <p:sp>
        <p:nvSpPr>
          <p:cNvPr id="18" name="Text 15"/>
          <p:cNvSpPr/>
          <p:nvPr/>
        </p:nvSpPr>
        <p:spPr>
          <a:xfrm>
            <a:off x="8046720" y="2926080"/>
            <a:ext cx="3383280" cy="1097280"/>
          </a:xfrm>
          <a:prstGeom prst="rect">
            <a:avLst/>
          </a:prstGeom>
          <a:noFill/>
          <a:ln/>
        </p:spPr>
        <p:txBody>
          <a:bodyPr wrap="square" lIns="0" tIns="0" rIns="0" bIns="0" rtlCol="0" anchor="t"/>
          <a:lstStyle/>
          <a:p>
            <a:pPr indent="0" marL="0">
              <a:spcAft>
                <a:spcPts val="600"/>
              </a:spcAft>
              <a:buNone/>
            </a:pPr>
            <a:r>
              <a:rPr lang="en-US" sz="1100" dirty="0">
                <a:solidFill>
                  <a:srgbClr val="9DA1B7"/>
                </a:solidFill>
                <a:latin typeface="Courier New" pitchFamily="34" charset="0"/>
                <a:ea typeface="Courier New" pitchFamily="34" charset="-122"/>
                <a:cs typeface="Courier New" pitchFamily="34" charset="-120"/>
              </a:rPr>
              <a:t>hamza-saraswat.com</a:t>
            </a:r>
            <a:endParaRPr lang="en-US" sz="1100" dirty="0"/>
          </a:p>
          <a:p>
            <a:pPr indent="0" marL="0">
              <a:spcAft>
                <a:spcPts val="600"/>
              </a:spcAft>
              <a:buNone/>
            </a:pPr>
            <a:r>
              <a:rPr lang="en-US" sz="1100" dirty="0">
                <a:solidFill>
                  <a:srgbClr val="9DA1B7"/>
                </a:solidFill>
                <a:latin typeface="Courier New" pitchFamily="34" charset="0"/>
                <a:ea typeface="Courier New" pitchFamily="34" charset="-122"/>
                <a:cs typeface="Courier New" pitchFamily="34" charset="-120"/>
              </a:rPr>
              <a:t>github.com/Hamza-Saraswat/RP_Demo</a:t>
            </a:r>
            <a:endParaRPr lang="en-US" sz="1100" dirty="0"/>
          </a:p>
          <a:p>
            <a:pPr indent="0" marL="0">
              <a:spcAft>
                <a:spcPts val="600"/>
              </a:spcAft>
              <a:buNone/>
            </a:pPr>
            <a:r>
              <a:rPr lang="en-US" sz="1100" dirty="0">
                <a:solidFill>
                  <a:srgbClr val="9DA1B7"/>
                </a:solidFill>
                <a:latin typeface="Courier New" pitchFamily="34" charset="0"/>
                <a:ea typeface="Courier New" pitchFamily="34" charset="-122"/>
                <a:cs typeface="Courier New" pitchFamily="34" charset="-120"/>
              </a:rPr>
              <a:t>hamza.saraswat@gmail.com</a:t>
            </a:r>
            <a:endParaRPr lang="en-US" sz="1100" dirty="0"/>
          </a:p>
        </p:txBody>
      </p:sp>
      <p:sp>
        <p:nvSpPr>
          <p:cNvPr id="19" name="Text 16"/>
          <p:cNvSpPr/>
          <p:nvPr/>
        </p:nvSpPr>
        <p:spPr>
          <a:xfrm>
            <a:off x="8046720" y="4206240"/>
            <a:ext cx="3291840" cy="822960"/>
          </a:xfrm>
          <a:prstGeom prst="rect">
            <a:avLst/>
          </a:prstGeom>
          <a:noFill/>
          <a:ln/>
        </p:spPr>
        <p:txBody>
          <a:bodyPr wrap="square" lIns="0" tIns="0" rIns="0" bIns="0" rtlCol="0" anchor="t"/>
          <a:lstStyle/>
          <a:p>
            <a:pPr indent="0" marL="0">
              <a:buNone/>
            </a:pPr>
            <a:r>
              <a:rPr lang="en-US" sz="1300" dirty="0">
                <a:solidFill>
                  <a:srgbClr val="E8EAF2"/>
                </a:solidFill>
                <a:latin typeface="Arial" pitchFamily="34" charset="0"/>
                <a:ea typeface="Arial" pitchFamily="34" charset="-122"/>
                <a:cs typeface="Arial" pitchFamily="34" charset="-120"/>
              </a:rPr>
              <a:t>The code, the test questions, and every eval run are in the repo.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Frontdoor</dc:title>
  <dc:subject>PptxGenJS Presentation</dc:subject>
  <dc:creator>Hamza Saraswat</dc:creator>
  <cp:lastModifiedBy>Hamza Saraswat</cp:lastModifiedBy>
  <cp:revision>1</cp:revision>
  <dcterms:created xsi:type="dcterms:W3CDTF">2026-10-01T00:51:54Z</dcterms:created>
  <dcterms:modified xsi:type="dcterms:W3CDTF">2026-10-01T00:51:54Z</dcterms:modified>
</cp:coreProperties>
</file>