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Hamza. You asked for something built with AI that helps RealPage scale. I built this in one day, from your public website. I'll show you what it is, how it works, and why I made each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I built. It is one place to ask about any RealPage product. You type a question. It answers from RealPage's own public pages, and it shows you which pages it used. And if it's a question it shouldn't answer, like something about one customer's account, it sends that question to the right team instead. I picked this because RealPage has 63 products and has acquired more than fifty companies. With that many products, knowing who owns a question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works. Two things happen before anyone asks a question. First, I read the public website: 221 pages. Product pages, customer case studies, press releases, and leadership bios. Second, I organized what I read in two ways. One is a company map: a short file for each product, product family, acquired company, customer, and executive. That is how it knows what exists and who owns it. The other is the page text itself, split at its headings into 1,323 sections, so it can be searched. Then, when you ask, four things happen. It works out which product you mean and whether this needs a person. It finds the sections that answer it. It writes the answer using only those sections. And it checks each sentence against its source before you see it. If it needs a person, or nothing answers it, the question goes to the owning team. Let me show you. [Switch to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two models, and they do different jobs. Claude writes. Jev decides. Jev is a decision model. It does not write text. I give it a question with fixed answers, like 'which product family is this about', and it tells me how likely each answer is. I chose it for four reasons. One: it gives me a number, not a paragraph. So my code can set a rule: under sixty percent sure, a person decides. Two: it is fast, about a quarter of a second. That is why you saw the routing change while I was still typing. Three: it is cheap. The seventeen decisions behind one answer cost about a tenth of what the one writing call costs. Four: it lets me break one fuzzy question, 'should we answer this', into small clear ones. Is the writer a resident? Does this need account records? Is it about billing? My rule of thumb: if a person could decide it in under ten seconds, it is a Jev question. If it needs writing or reasoning, it goes to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search, I picked the simplest option that worked: keyword search. It matches the words in the question to the words on the page. Three reasons. It is small: 221 pages, searched in seven milliseconds, for free. People name the product when they ask, so the words in the question are the words on the page. And I checked: it found the right page for all 18 test questions that had an answer. That does not make it the right choice everywhere. If staff type 'COI' and the page says 'certificate of insurance', I would add query rewriting. If people describe a problem in their own words, I would add embeddings, so it matches by meaning. If content changes every hour, I would work that out at question time. And at millions of documents and thousands of searches a day, a full vector database earns its cost. I would move up when people start asking in words the pages do not use. And the next step up is query rewriting, not a vector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brief asked for a company knowledge graph. This is mine. I call it the company map. It is a list of every product, the family it belongs to, the company it came from, the customers who published results with it, and who owns it. So Vendor Credentialing came from Compliance Depot, sits in Spend and Vendor Management, and goes to that team. I built it because without it, the assistant can answer a question but cannot say whose question it is. And I did not invent the structure. The families come from RealPage's own website menu. I stored it as plain linked files, one per entry, 157 of them, because at this size a person can open one and fix it. If I had a pile of documents and did not know what was in it, I would generate a graph automatically. If I needed to follow long chains across millions of records, I would use a graph database. And with many live sources that need permissions, I would use a managed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not a one-off. It is a small version of what I built at FieldPulse over the past year. At the bottom are connectors into the company's systems: the data warehouse through the Metabase API, Slack history that I backfilled so years of tribal knowledge is searchable, Jira and Linear tickets, the wiki, and the help center. On top of that is one knowledge layer: one place to search, and every answer cited. On top of that is one agent harness: a single core, where each team gets its own tools, its own prompt, and its own tests. And then the teams it 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that foundation has produced. One Slack bot became fourteen tools across eight departments since January. The Slack assistant has answered over twenty-two hundred product questions. The email agent triages two hundred support emails a week. The onboarding app has set up a hundred and eighty-three customers. Each new team reuses the same knowledge and the same rules. And this is how I work: ship a small version, let the team test it, and fix what they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day one inside RealPage. Swap the public pages for internal sources. Everything else stays as it is. Pick one team, and ship them a first version that week. Let them break it, and fix what they hit. Measure with their questions, not mine. After that, the same foundation takes on document workflows: read the document, check it against the requirements, explain every gap at once, and send the unclear ones to a person. That is what I would bring.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1</a:t>
            </a:r>
            <a:endParaRPr lang="en-US" sz="900" dirty="0"/>
          </a:p>
        </p:txBody>
      </p:sp>
      <p:sp>
        <p:nvSpPr>
          <p:cNvPr id="5" name="Text 2"/>
          <p:cNvSpPr/>
          <p:nvPr/>
        </p:nvSpPr>
        <p:spPr>
          <a:xfrm>
            <a:off x="640080" y="1737360"/>
            <a:ext cx="8229600" cy="1188720"/>
          </a:xfrm>
          <a:prstGeom prst="rect">
            <a:avLst/>
          </a:prstGeom>
          <a:noFill/>
          <a:ln/>
        </p:spPr>
        <p:txBody>
          <a:bodyPr wrap="square" lIns="0" tIns="0" rIns="0" bIns="0" rtlCol="0" anchor="ctr"/>
          <a:lstStyle/>
          <a:p>
            <a:pPr indent="0" marL="0">
              <a:buNone/>
            </a:pPr>
            <a:r>
              <a:rPr lang="en-US" sz="8000" dirty="0">
                <a:solidFill>
                  <a:srgbClr val="30313D"/>
                </a:solidFill>
                <a:latin typeface="Georgia" pitchFamily="34" charset="0"/>
                <a:ea typeface="Georgia" pitchFamily="34" charset="-122"/>
                <a:cs typeface="Georgia" pitchFamily="34" charset="-120"/>
              </a:rPr>
              <a:t>Frontdoor</a:t>
            </a:r>
            <a:endParaRPr lang="en-US" sz="8000" dirty="0"/>
          </a:p>
        </p:txBody>
      </p:sp>
      <p:sp>
        <p:nvSpPr>
          <p:cNvPr id="6" name="Text 3"/>
          <p:cNvSpPr/>
          <p:nvPr/>
        </p:nvSpPr>
        <p:spPr>
          <a:xfrm>
            <a:off x="640080" y="2971800"/>
            <a:ext cx="10515600" cy="822960"/>
          </a:xfrm>
          <a:prstGeom prst="rect">
            <a:avLst/>
          </a:prstGeom>
          <a:noFill/>
          <a:ln/>
        </p:spPr>
        <p:txBody>
          <a:bodyPr wrap="square" lIns="0" tIns="0" rIns="0" bIns="0" rtlCol="0" anchor="t"/>
          <a:lstStyle/>
          <a:p>
            <a:pPr indent="0" marL="0">
              <a:buNone/>
            </a:pPr>
            <a:r>
              <a:rPr lang="en-US" sz="2100" dirty="0">
                <a:solidFill>
                  <a:srgbClr val="5F6675"/>
                </a:solidFill>
                <a:latin typeface="Arial" pitchFamily="34" charset="0"/>
                <a:ea typeface="Arial" pitchFamily="34" charset="-122"/>
                <a:cs typeface="Arial" pitchFamily="34" charset="-120"/>
              </a:rPr>
              <a:t>Ask about any RealPage product.</a:t>
            </a:r>
            <a:endParaRPr lang="en-US" sz="2100" dirty="0"/>
          </a:p>
          <a:p>
            <a:pPr indent="0" marL="0">
              <a:buNone/>
            </a:pPr>
            <a:r>
              <a:rPr lang="en-US" sz="2100" dirty="0">
                <a:solidFill>
                  <a:srgbClr val="5F6675"/>
                </a:solidFill>
                <a:latin typeface="Arial" pitchFamily="34" charset="0"/>
                <a:ea typeface="Arial" pitchFamily="34" charset="-122"/>
                <a:cs typeface="Arial" pitchFamily="34" charset="-120"/>
              </a:rPr>
              <a:t>Get an answer with sources, or get sent to the right team.</a:t>
            </a:r>
            <a:endParaRPr lang="en-US" sz="2100" dirty="0"/>
          </a:p>
        </p:txBody>
      </p:sp>
      <p:sp>
        <p:nvSpPr>
          <p:cNvPr id="7" name="Text 4"/>
          <p:cNvSpPr/>
          <p:nvPr/>
        </p:nvSpPr>
        <p:spPr>
          <a:xfrm>
            <a:off x="640080" y="3886200"/>
            <a:ext cx="8686800" cy="365760"/>
          </a:xfrm>
          <a:prstGeom prst="rect">
            <a:avLst/>
          </a:prstGeom>
          <a:noFill/>
          <a:ln/>
        </p:spPr>
        <p:txBody>
          <a:bodyPr wrap="square" lIns="0" tIns="0" rIns="0" bIns="0" rtlCol="0" anchor="ctr"/>
          <a:lstStyle/>
          <a:p>
            <a:pPr indent="0" marL="0">
              <a:buNone/>
            </a:pPr>
            <a:r>
              <a:rPr lang="en-US" sz="1500" dirty="0">
                <a:solidFill>
                  <a:srgbClr val="9AA1AE"/>
                </a:solidFill>
                <a:latin typeface="Arial" pitchFamily="34" charset="0"/>
                <a:ea typeface="Arial" pitchFamily="34" charset="-122"/>
                <a:cs typeface="Arial" pitchFamily="34" charset="-120"/>
              </a:rPr>
              <a:t>Built in one day from RealPage's public website.</a:t>
            </a:r>
            <a:endParaRPr lang="en-US" sz="1500" dirty="0"/>
          </a:p>
        </p:txBody>
      </p:sp>
      <p:sp>
        <p:nvSpPr>
          <p:cNvPr id="8" name="Shape 5"/>
          <p:cNvSpPr/>
          <p:nvPr/>
        </p:nvSpPr>
        <p:spPr>
          <a:xfrm>
            <a:off x="640080" y="4617720"/>
            <a:ext cx="548640" cy="45720"/>
          </a:xfrm>
          <a:prstGeom prst="rect">
            <a:avLst/>
          </a:prstGeom>
          <a:solidFill>
            <a:srgbClr val="635BFF"/>
          </a:solidFill>
          <a:ln w="12700">
            <a:solidFill>
              <a:srgbClr val="635BFF"/>
            </a:solidFill>
            <a:prstDash val="solid"/>
          </a:ln>
        </p:spPr>
      </p:sp>
      <p:sp>
        <p:nvSpPr>
          <p:cNvPr id="9" name="Text 6"/>
          <p:cNvSpPr/>
          <p:nvPr/>
        </p:nvSpPr>
        <p:spPr>
          <a:xfrm>
            <a:off x="640080" y="4754880"/>
            <a:ext cx="5486400" cy="365760"/>
          </a:xfrm>
          <a:prstGeom prst="rect">
            <a:avLst/>
          </a:prstGeom>
          <a:noFill/>
          <a:ln/>
        </p:spPr>
        <p:txBody>
          <a:bodyPr wrap="square" lIns="0" tIns="0" rIns="0" bIns="0" rtlCol="0" anchor="ctr"/>
          <a:lstStyle/>
          <a:p>
            <a:pPr indent="0" marL="0">
              <a:buNone/>
            </a:pPr>
            <a:r>
              <a:rPr lang="en-US" sz="1800" b="1" dirty="0">
                <a:solidFill>
                  <a:srgbClr val="30313D"/>
                </a:solidFill>
                <a:latin typeface="Arial" pitchFamily="34" charset="0"/>
                <a:ea typeface="Arial" pitchFamily="34" charset="-122"/>
                <a:cs typeface="Arial" pitchFamily="34" charset="-120"/>
              </a:rPr>
              <a:t>Hamza Saraswat</a:t>
            </a:r>
            <a:endParaRPr lang="en-US" sz="1800" dirty="0"/>
          </a:p>
        </p:txBody>
      </p:sp>
      <p:sp>
        <p:nvSpPr>
          <p:cNvPr id="10" name="Text 7"/>
          <p:cNvSpPr/>
          <p:nvPr/>
        </p:nvSpPr>
        <p:spPr>
          <a:xfrm>
            <a:off x="640080" y="5120640"/>
            <a:ext cx="8229600" cy="274320"/>
          </a:xfrm>
          <a:prstGeom prst="rect">
            <a:avLst/>
          </a:prstGeom>
          <a:noFill/>
          <a:ln/>
        </p:spPr>
        <p:txBody>
          <a:bodyPr wrap="square" lIns="0" tIns="0" rIns="0" bIns="0" rtlCol="0" anchor="ctr"/>
          <a:lstStyle/>
          <a:p>
            <a:pPr indent="0" marL="0">
              <a:buNone/>
            </a:pPr>
            <a:r>
              <a:rPr lang="en-US" sz="1100" dirty="0">
                <a:solidFill>
                  <a:srgbClr val="5F6675"/>
                </a:solidFill>
                <a:latin typeface="Courier New" pitchFamily="34" charset="0"/>
                <a:ea typeface="Courier New" pitchFamily="34" charset="-122"/>
                <a:cs typeface="Courier New" pitchFamily="34" charset="-120"/>
              </a:rPr>
              <a:t>AI Engineer  ·  hamza-saraswat.com  ·  github.com/Hamza-Saraswat/RP_Demo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411480"/>
            <a:ext cx="10911535"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WHAT I BUILT</a:t>
            </a:r>
            <a:endParaRPr lang="en-US" sz="1100" dirty="0"/>
          </a:p>
        </p:txBody>
      </p:sp>
      <p:sp>
        <p:nvSpPr>
          <p:cNvPr id="4" name="Text 2"/>
          <p:cNvSpPr/>
          <p:nvPr/>
        </p:nvSpPr>
        <p:spPr>
          <a:xfrm>
            <a:off x="640080" y="713232"/>
            <a:ext cx="10911535" cy="731520"/>
          </a:xfrm>
          <a:prstGeom prst="rect">
            <a:avLst/>
          </a:prstGeom>
          <a:noFill/>
          <a:ln/>
        </p:spPr>
        <p:txBody>
          <a:bodyPr wrap="square" lIns="0" tIns="0" rIns="0" bIns="0" rtlCol="0" anchor="t"/>
          <a:lstStyle/>
          <a:p>
            <a:pPr indent="0" marL="0">
              <a:buNone/>
            </a:pPr>
            <a:r>
              <a:rPr lang="en-US" sz="3200" dirty="0">
                <a:solidFill>
                  <a:srgbClr val="30313D"/>
                </a:solidFill>
                <a:latin typeface="Georgia" pitchFamily="34" charset="0"/>
                <a:ea typeface="Georgia" pitchFamily="34" charset="-122"/>
                <a:cs typeface="Georgia" pitchFamily="34" charset="-120"/>
              </a:rPr>
              <a:t>One place to ask about any RealPage product.</a:t>
            </a:r>
            <a:endParaRPr lang="en-US" sz="3200" dirty="0"/>
          </a:p>
        </p:txBody>
      </p:sp>
      <p:sp>
        <p:nvSpPr>
          <p:cNvPr id="5" name="Text 3"/>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2</a:t>
            </a:r>
            <a:endParaRPr lang="en-US" sz="900" dirty="0"/>
          </a:p>
        </p:txBody>
      </p:sp>
      <p:sp>
        <p:nvSpPr>
          <p:cNvPr id="7" name="Shape 4"/>
          <p:cNvSpPr/>
          <p:nvPr/>
        </p:nvSpPr>
        <p:spPr>
          <a:xfrm>
            <a:off x="640080" y="1828800"/>
            <a:ext cx="45720" cy="859536"/>
          </a:xfrm>
          <a:prstGeom prst="rect">
            <a:avLst/>
          </a:prstGeom>
          <a:solidFill>
            <a:srgbClr val="635BFF"/>
          </a:solidFill>
          <a:ln w="12700">
            <a:solidFill>
              <a:srgbClr val="635BFF"/>
            </a:solidFill>
            <a:prstDash val="solid"/>
          </a:ln>
        </p:spPr>
      </p:sp>
      <p:sp>
        <p:nvSpPr>
          <p:cNvPr id="8" name="Text 5"/>
          <p:cNvSpPr/>
          <p:nvPr/>
        </p:nvSpPr>
        <p:spPr>
          <a:xfrm>
            <a:off x="841248" y="1783080"/>
            <a:ext cx="4370832" cy="1005840"/>
          </a:xfrm>
          <a:prstGeom prst="rect">
            <a:avLst/>
          </a:prstGeom>
          <a:noFill/>
          <a:ln/>
        </p:spPr>
        <p:txBody>
          <a:bodyPr wrap="square" lIns="0" tIns="0" rIns="0" bIns="0" rtlCol="0" anchor="t"/>
          <a:lstStyle/>
          <a:p>
            <a:pPr indent="0" marL="0">
              <a:lnSpc>
                <a:spcPct val="112000"/>
              </a:lnSpc>
              <a:buNone/>
            </a:pPr>
            <a:r>
              <a:rPr lang="en-US" sz="1600" b="1" dirty="0">
                <a:solidFill>
                  <a:srgbClr val="30313D"/>
                </a:solidFill>
                <a:latin typeface="Arial" pitchFamily="34" charset="0"/>
                <a:ea typeface="Arial" pitchFamily="34" charset="-122"/>
                <a:cs typeface="Arial" pitchFamily="34" charset="-120"/>
              </a:rPr>
              <a:t>You ask a question.  </a:t>
            </a:r>
            <a:pPr indent="0" marL="0">
              <a:lnSpc>
                <a:spcPct val="112000"/>
              </a:lnSpc>
              <a:buNone/>
            </a:pPr>
            <a:r>
              <a:rPr lang="en-US" sz="1600" dirty="0">
                <a:solidFill>
                  <a:srgbClr val="5F6675"/>
                </a:solidFill>
                <a:latin typeface="Arial" pitchFamily="34" charset="0"/>
                <a:ea typeface="Arial" pitchFamily="34" charset="-122"/>
                <a:cs typeface="Arial" pitchFamily="34" charset="-120"/>
              </a:rPr>
              <a:t>About any product, in your own words.</a:t>
            </a:r>
            <a:endParaRPr lang="en-US" sz="1600" dirty="0"/>
          </a:p>
        </p:txBody>
      </p:sp>
      <p:sp>
        <p:nvSpPr>
          <p:cNvPr id="9" name="Shape 6"/>
          <p:cNvSpPr/>
          <p:nvPr/>
        </p:nvSpPr>
        <p:spPr>
          <a:xfrm>
            <a:off x="640080" y="2926080"/>
            <a:ext cx="45720" cy="859536"/>
          </a:xfrm>
          <a:prstGeom prst="rect">
            <a:avLst/>
          </a:prstGeom>
          <a:solidFill>
            <a:srgbClr val="635BFF"/>
          </a:solidFill>
          <a:ln w="12700">
            <a:solidFill>
              <a:srgbClr val="635BFF"/>
            </a:solidFill>
            <a:prstDash val="solid"/>
          </a:ln>
        </p:spPr>
      </p:sp>
      <p:sp>
        <p:nvSpPr>
          <p:cNvPr id="10" name="Text 7"/>
          <p:cNvSpPr/>
          <p:nvPr/>
        </p:nvSpPr>
        <p:spPr>
          <a:xfrm>
            <a:off x="841248" y="2880360"/>
            <a:ext cx="4370832" cy="1005840"/>
          </a:xfrm>
          <a:prstGeom prst="rect">
            <a:avLst/>
          </a:prstGeom>
          <a:noFill/>
          <a:ln/>
        </p:spPr>
        <p:txBody>
          <a:bodyPr wrap="square" lIns="0" tIns="0" rIns="0" bIns="0" rtlCol="0" anchor="t"/>
          <a:lstStyle/>
          <a:p>
            <a:pPr indent="0" marL="0">
              <a:lnSpc>
                <a:spcPct val="112000"/>
              </a:lnSpc>
              <a:buNone/>
            </a:pPr>
            <a:r>
              <a:rPr lang="en-US" sz="1600" b="1" dirty="0">
                <a:solidFill>
                  <a:srgbClr val="30313D"/>
                </a:solidFill>
                <a:latin typeface="Arial" pitchFamily="34" charset="0"/>
                <a:ea typeface="Arial" pitchFamily="34" charset="-122"/>
                <a:cs typeface="Arial" pitchFamily="34" charset="-120"/>
              </a:rPr>
              <a:t>It answers, and shows its sources.  </a:t>
            </a:r>
            <a:pPr indent="0" marL="0">
              <a:lnSpc>
                <a:spcPct val="112000"/>
              </a:lnSpc>
              <a:buNone/>
            </a:pPr>
            <a:r>
              <a:rPr lang="en-US" sz="1600" dirty="0">
                <a:solidFill>
                  <a:srgbClr val="5F6675"/>
                </a:solidFill>
                <a:latin typeface="Arial" pitchFamily="34" charset="0"/>
                <a:ea typeface="Arial" pitchFamily="34" charset="-122"/>
                <a:cs typeface="Arial" pitchFamily="34" charset="-120"/>
              </a:rPr>
              <a:t>Only from RealPage's own public pages.</a:t>
            </a:r>
            <a:endParaRPr lang="en-US" sz="1600" dirty="0"/>
          </a:p>
        </p:txBody>
      </p:sp>
      <p:sp>
        <p:nvSpPr>
          <p:cNvPr id="11" name="Shape 8"/>
          <p:cNvSpPr/>
          <p:nvPr/>
        </p:nvSpPr>
        <p:spPr>
          <a:xfrm>
            <a:off x="640080" y="4023360"/>
            <a:ext cx="45720" cy="859536"/>
          </a:xfrm>
          <a:prstGeom prst="rect">
            <a:avLst/>
          </a:prstGeom>
          <a:solidFill>
            <a:srgbClr val="635BFF"/>
          </a:solidFill>
          <a:ln w="12700">
            <a:solidFill>
              <a:srgbClr val="635BFF"/>
            </a:solidFill>
            <a:prstDash val="solid"/>
          </a:ln>
        </p:spPr>
      </p:sp>
      <p:sp>
        <p:nvSpPr>
          <p:cNvPr id="12" name="Text 9"/>
          <p:cNvSpPr/>
          <p:nvPr/>
        </p:nvSpPr>
        <p:spPr>
          <a:xfrm>
            <a:off x="841248" y="3977640"/>
            <a:ext cx="4370832" cy="1005840"/>
          </a:xfrm>
          <a:prstGeom prst="rect">
            <a:avLst/>
          </a:prstGeom>
          <a:noFill/>
          <a:ln/>
        </p:spPr>
        <p:txBody>
          <a:bodyPr wrap="square" lIns="0" tIns="0" rIns="0" bIns="0" rtlCol="0" anchor="t"/>
          <a:lstStyle/>
          <a:p>
            <a:pPr indent="0" marL="0">
              <a:lnSpc>
                <a:spcPct val="112000"/>
              </a:lnSpc>
              <a:buNone/>
            </a:pPr>
            <a:r>
              <a:rPr lang="en-US" sz="1600" b="1" dirty="0">
                <a:solidFill>
                  <a:srgbClr val="30313D"/>
                </a:solidFill>
                <a:latin typeface="Arial" pitchFamily="34" charset="0"/>
                <a:ea typeface="Arial" pitchFamily="34" charset="-122"/>
                <a:cs typeface="Arial" pitchFamily="34" charset="-120"/>
              </a:rPr>
              <a:t>Or it sends it to the right team.  </a:t>
            </a:r>
            <a:pPr indent="0" marL="0">
              <a:lnSpc>
                <a:spcPct val="112000"/>
              </a:lnSpc>
              <a:buNone/>
            </a:pPr>
            <a:r>
              <a:rPr lang="en-US" sz="1600" dirty="0">
                <a:solidFill>
                  <a:srgbClr val="5F6675"/>
                </a:solidFill>
                <a:latin typeface="Arial" pitchFamily="34" charset="0"/>
                <a:ea typeface="Arial" pitchFamily="34" charset="-122"/>
                <a:cs typeface="Arial" pitchFamily="34" charset="-120"/>
              </a:rPr>
              <a:t>When the question needs a person, it says who, and passes along what it found.</a:t>
            </a:r>
            <a:endParaRPr lang="en-US" sz="1600" dirty="0"/>
          </a:p>
        </p:txBody>
      </p:sp>
      <p:sp>
        <p:nvSpPr>
          <p:cNvPr id="13" name="Shape 10"/>
          <p:cNvSpPr/>
          <p:nvPr/>
        </p:nvSpPr>
        <p:spPr>
          <a:xfrm>
            <a:off x="5504688" y="1755648"/>
            <a:ext cx="6044184" cy="3798189"/>
          </a:xfrm>
          <a:prstGeom prst="rect">
            <a:avLst/>
          </a:prstGeom>
          <a:solidFill>
            <a:srgbClr val="D9DFE8"/>
          </a:solidFill>
          <a:ln w="12700">
            <a:solidFill>
              <a:srgbClr val="D9DFE8"/>
            </a:solidFill>
            <a:prstDash val="solid"/>
          </a:ln>
        </p:spPr>
      </p:sp>
      <p:pic>
        <p:nvPicPr>
          <p:cNvPr id="14" name="Image 0" descr="/Users/hamzasaraswat/Documents/Projects/RP_Demo/deck/shots/answer.png">    </p:cNvPr>
          <p:cNvPicPr>
            <a:picLocks noChangeAspect="1"/>
          </p:cNvPicPr>
          <p:nvPr/>
        </p:nvPicPr>
        <p:blipFill>
          <a:blip r:embed="rId1"/>
          <a:stretch>
            <a:fillRect/>
          </a:stretch>
        </p:blipFill>
        <p:spPr>
          <a:xfrm>
            <a:off x="5532120" y="1783080"/>
            <a:ext cx="5989320" cy="3743325"/>
          </a:xfrm>
          <a:prstGeom prst="rect">
            <a:avLst/>
          </a:prstGeom>
        </p:spPr>
      </p:pic>
      <p:sp>
        <p:nvSpPr>
          <p:cNvPr id="15" name="Shape 11"/>
          <p:cNvSpPr/>
          <p:nvPr/>
        </p:nvSpPr>
        <p:spPr>
          <a:xfrm>
            <a:off x="640080" y="5669280"/>
            <a:ext cx="10911535" cy="566928"/>
          </a:xfrm>
          <a:prstGeom prst="roundRect">
            <a:avLst>
              <a:gd name="adj" fmla="val 9677"/>
            </a:avLst>
          </a:prstGeom>
          <a:solidFill>
            <a:srgbClr val="F0F0FF"/>
          </a:solidFill>
          <a:ln w="12700">
            <a:solidFill>
              <a:srgbClr val="635BFF"/>
            </a:solidFill>
            <a:prstDash val="solid"/>
          </a:ln>
        </p:spPr>
      </p:sp>
      <p:sp>
        <p:nvSpPr>
          <p:cNvPr id="16" name="Text 12"/>
          <p:cNvSpPr/>
          <p:nvPr/>
        </p:nvSpPr>
        <p:spPr>
          <a:xfrm>
            <a:off x="868680" y="5669280"/>
            <a:ext cx="10454335" cy="566928"/>
          </a:xfrm>
          <a:prstGeom prst="rect">
            <a:avLst/>
          </a:prstGeom>
          <a:noFill/>
          <a:ln/>
        </p:spPr>
        <p:txBody>
          <a:bodyPr wrap="square" lIns="0" tIns="0" rIns="0" bIns="0" rtlCol="0" anchor="ctr"/>
          <a:lstStyle/>
          <a:p>
            <a:pPr indent="0" marL="0">
              <a:buNone/>
            </a:pPr>
            <a:r>
              <a:rPr lang="en-US" sz="1500" b="1" dirty="0">
                <a:solidFill>
                  <a:srgbClr val="30313D"/>
                </a:solidFill>
                <a:latin typeface="Arial" pitchFamily="34" charset="0"/>
                <a:ea typeface="Arial" pitchFamily="34" charset="-122"/>
                <a:cs typeface="Arial" pitchFamily="34" charset="-120"/>
              </a:rPr>
              <a:t>Why this:  </a:t>
            </a:r>
            <a:pPr indent="0" marL="0">
              <a:buNone/>
            </a:pPr>
            <a:r>
              <a:rPr lang="en-US" sz="1500" dirty="0">
                <a:solidFill>
                  <a:srgbClr val="30313D"/>
                </a:solidFill>
                <a:latin typeface="Arial" pitchFamily="34" charset="0"/>
                <a:ea typeface="Arial" pitchFamily="34" charset="-122"/>
                <a:cs typeface="Arial" pitchFamily="34" charset="-120"/>
              </a:rPr>
              <a:t>RealPage has 63 products and has acquired more than 50 companies. Knowing who owns a question is hard.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411480"/>
            <a:ext cx="10911535"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HOW IT WORKS</a:t>
            </a:r>
            <a:endParaRPr lang="en-US" sz="1100" dirty="0"/>
          </a:p>
        </p:txBody>
      </p:sp>
      <p:sp>
        <p:nvSpPr>
          <p:cNvPr id="4" name="Text 2"/>
          <p:cNvSpPr/>
          <p:nvPr/>
        </p:nvSpPr>
        <p:spPr>
          <a:xfrm>
            <a:off x="640080" y="713232"/>
            <a:ext cx="10911535" cy="731520"/>
          </a:xfrm>
          <a:prstGeom prst="rect">
            <a:avLst/>
          </a:prstGeom>
          <a:noFill/>
          <a:ln/>
        </p:spPr>
        <p:txBody>
          <a:bodyPr wrap="square" lIns="0" tIns="0" rIns="0" bIns="0" rtlCol="0" anchor="t"/>
          <a:lstStyle/>
          <a:p>
            <a:pPr indent="0" marL="0">
              <a:buNone/>
            </a:pPr>
            <a:r>
              <a:rPr lang="en-US" sz="3200" dirty="0">
                <a:solidFill>
                  <a:srgbClr val="30313D"/>
                </a:solidFill>
                <a:latin typeface="Georgia" pitchFamily="34" charset="0"/>
                <a:ea typeface="Georgia" pitchFamily="34" charset="-122"/>
                <a:cs typeface="Georgia" pitchFamily="34" charset="-120"/>
              </a:rPr>
              <a:t>What happens before you ask, and when you do.</a:t>
            </a:r>
            <a:endParaRPr lang="en-US" sz="3200" dirty="0"/>
          </a:p>
        </p:txBody>
      </p:sp>
      <p:sp>
        <p:nvSpPr>
          <p:cNvPr id="5" name="Text 3"/>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3</a:t>
            </a:r>
            <a:endParaRPr lang="en-US" sz="900" dirty="0"/>
          </a:p>
        </p:txBody>
      </p:sp>
      <p:sp>
        <p:nvSpPr>
          <p:cNvPr id="7" name="Text 4"/>
          <p:cNvSpPr/>
          <p:nvPr/>
        </p:nvSpPr>
        <p:spPr>
          <a:xfrm>
            <a:off x="640080" y="1627632"/>
            <a:ext cx="10911535" cy="237744"/>
          </a:xfrm>
          <a:prstGeom prst="rect">
            <a:avLst/>
          </a:prstGeom>
          <a:noFill/>
          <a:ln/>
        </p:spPr>
        <p:txBody>
          <a:bodyPr wrap="square" lIns="0" tIns="0" rIns="0" bIns="0" rtlCol="0" anchor="ctr"/>
          <a:lstStyle/>
          <a:p>
            <a:pPr indent="0" marL="0">
              <a:buNone/>
            </a:pPr>
            <a:r>
              <a:rPr lang="en-US" sz="1000" b="1" spc="300" kern="0" dirty="0">
                <a:solidFill>
                  <a:srgbClr val="5F6675"/>
                </a:solidFill>
                <a:latin typeface="Courier New" pitchFamily="34" charset="0"/>
                <a:ea typeface="Courier New" pitchFamily="34" charset="-122"/>
                <a:cs typeface="Courier New" pitchFamily="34" charset="-120"/>
              </a:rPr>
              <a:t>BEFORE ANY QUESTION</a:t>
            </a:r>
            <a:endParaRPr lang="en-US" sz="1000" dirty="0"/>
          </a:p>
        </p:txBody>
      </p:sp>
      <p:sp>
        <p:nvSpPr>
          <p:cNvPr id="8" name="Shape 5"/>
          <p:cNvSpPr/>
          <p:nvPr/>
        </p:nvSpPr>
        <p:spPr>
          <a:xfrm>
            <a:off x="640080" y="1920240"/>
            <a:ext cx="5318608" cy="1600200"/>
          </a:xfrm>
          <a:prstGeom prst="roundRect">
            <a:avLst>
              <a:gd name="adj" fmla="val 3429"/>
            </a:avLst>
          </a:prstGeom>
          <a:solidFill>
            <a:srgbClr val="F6F9FC"/>
          </a:solidFill>
          <a:ln w="9525">
            <a:solidFill>
              <a:srgbClr val="D9DFE8"/>
            </a:solidFill>
            <a:prstDash val="solid"/>
          </a:ln>
        </p:spPr>
      </p:sp>
      <p:sp>
        <p:nvSpPr>
          <p:cNvPr id="9" name="Text 6"/>
          <p:cNvSpPr/>
          <p:nvPr/>
        </p:nvSpPr>
        <p:spPr>
          <a:xfrm>
            <a:off x="841248" y="2048256"/>
            <a:ext cx="4916272" cy="310896"/>
          </a:xfrm>
          <a:prstGeom prst="rect">
            <a:avLst/>
          </a:prstGeom>
          <a:noFill/>
          <a:ln/>
        </p:spPr>
        <p:txBody>
          <a:bodyPr wrap="square" lIns="0" tIns="0" rIns="0" bIns="0" rtlCol="0" anchor="t"/>
          <a:lstStyle/>
          <a:p>
            <a:pPr indent="0" marL="0">
              <a:buNone/>
            </a:pPr>
            <a:r>
              <a:rPr lang="en-US" sz="1500" b="1" dirty="0">
                <a:solidFill>
                  <a:srgbClr val="30313D"/>
                </a:solidFill>
                <a:latin typeface="Arial" pitchFamily="34" charset="0"/>
                <a:ea typeface="Arial" pitchFamily="34" charset="-122"/>
                <a:cs typeface="Arial" pitchFamily="34" charset="-120"/>
              </a:rPr>
              <a:t>1. I read the public website.</a:t>
            </a:r>
            <a:endParaRPr lang="en-US" sz="1500" dirty="0"/>
          </a:p>
        </p:txBody>
      </p:sp>
      <p:sp>
        <p:nvSpPr>
          <p:cNvPr id="10" name="Text 7"/>
          <p:cNvSpPr/>
          <p:nvPr/>
        </p:nvSpPr>
        <p:spPr>
          <a:xfrm>
            <a:off x="841248" y="2377440"/>
            <a:ext cx="4916272" cy="1051560"/>
          </a:xfrm>
          <a:prstGeom prst="rect">
            <a:avLst/>
          </a:prstGeom>
          <a:noFill/>
          <a:ln/>
        </p:spPr>
        <p:txBody>
          <a:bodyPr wrap="square" lIns="0" tIns="0" rIns="0" bIns="0" rtlCol="0" anchor="t"/>
          <a:lstStyle/>
          <a:p>
            <a:pPr indent="0" marL="0">
              <a:lnSpc>
                <a:spcPct val="110000"/>
              </a:lnSpc>
              <a:buNone/>
            </a:pPr>
            <a:r>
              <a:rPr lang="en-US" sz="1350" dirty="0">
                <a:solidFill>
                  <a:srgbClr val="5F6675"/>
                </a:solidFill>
                <a:latin typeface="Arial" pitchFamily="34" charset="0"/>
                <a:ea typeface="Arial" pitchFamily="34" charset="-122"/>
                <a:cs typeface="Arial" pitchFamily="34" charset="-120"/>
              </a:rPr>
              <a:t>221 pages: product pages, customer case studies, press releases, and leadership bios.</a:t>
            </a:r>
            <a:endParaRPr lang="en-US" sz="1350" dirty="0"/>
          </a:p>
        </p:txBody>
      </p:sp>
      <p:sp>
        <p:nvSpPr>
          <p:cNvPr id="11" name="Shape 8"/>
          <p:cNvSpPr/>
          <p:nvPr/>
        </p:nvSpPr>
        <p:spPr>
          <a:xfrm>
            <a:off x="6233008" y="1920240"/>
            <a:ext cx="5318608" cy="1600200"/>
          </a:xfrm>
          <a:prstGeom prst="roundRect">
            <a:avLst>
              <a:gd name="adj" fmla="val 3429"/>
            </a:avLst>
          </a:prstGeom>
          <a:solidFill>
            <a:srgbClr val="F6F9FC"/>
          </a:solidFill>
          <a:ln w="9525">
            <a:solidFill>
              <a:srgbClr val="D9DFE8"/>
            </a:solidFill>
            <a:prstDash val="solid"/>
          </a:ln>
        </p:spPr>
      </p:sp>
      <p:sp>
        <p:nvSpPr>
          <p:cNvPr id="12" name="Text 9"/>
          <p:cNvSpPr/>
          <p:nvPr/>
        </p:nvSpPr>
        <p:spPr>
          <a:xfrm>
            <a:off x="6434176" y="2048256"/>
            <a:ext cx="4916272" cy="310896"/>
          </a:xfrm>
          <a:prstGeom prst="rect">
            <a:avLst/>
          </a:prstGeom>
          <a:noFill/>
          <a:ln/>
        </p:spPr>
        <p:txBody>
          <a:bodyPr wrap="square" lIns="0" tIns="0" rIns="0" bIns="0" rtlCol="0" anchor="t"/>
          <a:lstStyle/>
          <a:p>
            <a:pPr indent="0" marL="0">
              <a:buNone/>
            </a:pPr>
            <a:r>
              <a:rPr lang="en-US" sz="1500" b="1" dirty="0">
                <a:solidFill>
                  <a:srgbClr val="30313D"/>
                </a:solidFill>
                <a:latin typeface="Arial" pitchFamily="34" charset="0"/>
                <a:ea typeface="Arial" pitchFamily="34" charset="-122"/>
                <a:cs typeface="Arial" pitchFamily="34" charset="-120"/>
              </a:rPr>
              <a:t>2. I organized it two ways.</a:t>
            </a:r>
            <a:endParaRPr lang="en-US" sz="1500" dirty="0"/>
          </a:p>
        </p:txBody>
      </p:sp>
      <p:sp>
        <p:nvSpPr>
          <p:cNvPr id="13" name="Text 10"/>
          <p:cNvSpPr/>
          <p:nvPr/>
        </p:nvSpPr>
        <p:spPr>
          <a:xfrm>
            <a:off x="6434176" y="2377440"/>
            <a:ext cx="4916272" cy="1051560"/>
          </a:xfrm>
          <a:prstGeom prst="rect">
            <a:avLst/>
          </a:prstGeom>
          <a:noFill/>
          <a:ln/>
        </p:spPr>
        <p:txBody>
          <a:bodyPr wrap="square" lIns="0" tIns="0" rIns="0" bIns="0" rtlCol="0" anchor="t"/>
          <a:lstStyle/>
          <a:p>
            <a:pPr indent="0" marL="0">
              <a:lnSpc>
                <a:spcPct val="110000"/>
              </a:lnSpc>
              <a:buNone/>
            </a:pPr>
            <a:r>
              <a:rPr lang="en-US" sz="1250" b="1" dirty="0">
                <a:solidFill>
                  <a:srgbClr val="30313D"/>
                </a:solidFill>
                <a:latin typeface="Arial" pitchFamily="34" charset="0"/>
                <a:ea typeface="Arial" pitchFamily="34" charset="-122"/>
                <a:cs typeface="Arial" pitchFamily="34" charset="-120"/>
              </a:rPr>
              <a:t>A company map. </a:t>
            </a:r>
            <a:pPr indent="0" marL="0">
              <a:lnSpc>
                <a:spcPct val="110000"/>
              </a:lnSpc>
              <a:buNone/>
            </a:pPr>
            <a:r>
              <a:rPr lang="en-US" sz="1250" dirty="0">
                <a:solidFill>
                  <a:srgbClr val="5F6675"/>
                </a:solidFill>
                <a:latin typeface="Arial" pitchFamily="34" charset="0"/>
                <a:ea typeface="Arial" pitchFamily="34" charset="-122"/>
                <a:cs typeface="Arial" pitchFamily="34" charset="-120"/>
              </a:rPr>
              <a:t>One short file for each product, family, acquired company, customer, and executive: 157 files. It is how it knows what exists and who owns it.</a:t>
            </a:r>
            <a:endParaRPr lang="en-US" sz="1250" dirty="0"/>
          </a:p>
          <a:p>
            <a:pPr indent="0" marL="0">
              <a:lnSpc>
                <a:spcPct val="110000"/>
              </a:lnSpc>
              <a:buNone/>
            </a:pPr>
            <a:r>
              <a:rPr lang="en-US" sz="1250" b="1" dirty="0">
                <a:solidFill>
                  <a:srgbClr val="30313D"/>
                </a:solidFill>
                <a:latin typeface="Arial" pitchFamily="34" charset="0"/>
                <a:ea typeface="Arial" pitchFamily="34" charset="-122"/>
                <a:cs typeface="Arial" pitchFamily="34" charset="-120"/>
              </a:rPr>
              <a:t>Searchable text. </a:t>
            </a:r>
            <a:pPr indent="0" marL="0">
              <a:lnSpc>
                <a:spcPct val="110000"/>
              </a:lnSpc>
              <a:buNone/>
            </a:pPr>
            <a:r>
              <a:rPr lang="en-US" sz="1250" dirty="0">
                <a:solidFill>
                  <a:srgbClr val="5F6675"/>
                </a:solidFill>
                <a:latin typeface="Arial" pitchFamily="34" charset="0"/>
                <a:ea typeface="Arial" pitchFamily="34" charset="-122"/>
                <a:cs typeface="Arial" pitchFamily="34" charset="-120"/>
              </a:rPr>
              <a:t>Every page, split at its headings into 1,323 sections.</a:t>
            </a:r>
            <a:endParaRPr lang="en-US" sz="1250" dirty="0"/>
          </a:p>
        </p:txBody>
      </p:sp>
      <p:sp>
        <p:nvSpPr>
          <p:cNvPr id="14" name="Text 11"/>
          <p:cNvSpPr/>
          <p:nvPr/>
        </p:nvSpPr>
        <p:spPr>
          <a:xfrm>
            <a:off x="640080" y="3749040"/>
            <a:ext cx="10911535" cy="237744"/>
          </a:xfrm>
          <a:prstGeom prst="rect">
            <a:avLst/>
          </a:prstGeom>
          <a:noFill/>
          <a:ln/>
        </p:spPr>
        <p:txBody>
          <a:bodyPr wrap="square" lIns="0" tIns="0" rIns="0" bIns="0" rtlCol="0" anchor="ctr"/>
          <a:lstStyle/>
          <a:p>
            <a:pPr indent="0" marL="0">
              <a:buNone/>
            </a:pPr>
            <a:r>
              <a:rPr lang="en-US" sz="1000" b="1" spc="300" kern="0" dirty="0">
                <a:solidFill>
                  <a:srgbClr val="5F6675"/>
                </a:solidFill>
                <a:latin typeface="Courier New" pitchFamily="34" charset="0"/>
                <a:ea typeface="Courier New" pitchFamily="34" charset="-122"/>
                <a:cs typeface="Courier New" pitchFamily="34" charset="-120"/>
              </a:rPr>
              <a:t>WHEN YOU ASK</a:t>
            </a:r>
            <a:endParaRPr lang="en-US" sz="1000" dirty="0"/>
          </a:p>
        </p:txBody>
      </p:sp>
      <p:sp>
        <p:nvSpPr>
          <p:cNvPr id="15" name="Shape 12"/>
          <p:cNvSpPr/>
          <p:nvPr/>
        </p:nvSpPr>
        <p:spPr>
          <a:xfrm>
            <a:off x="640080" y="4041648"/>
            <a:ext cx="2453564" cy="1280160"/>
          </a:xfrm>
          <a:prstGeom prst="roundRect">
            <a:avLst>
              <a:gd name="adj" fmla="val 4286"/>
            </a:avLst>
          </a:prstGeom>
          <a:solidFill>
            <a:srgbClr val="F0F0FF"/>
          </a:solidFill>
          <a:ln w="12700">
            <a:solidFill>
              <a:srgbClr val="635BFF"/>
            </a:solidFill>
            <a:prstDash val="solid"/>
          </a:ln>
        </p:spPr>
      </p:sp>
      <p:sp>
        <p:nvSpPr>
          <p:cNvPr id="16" name="Text 13"/>
          <p:cNvSpPr/>
          <p:nvPr/>
        </p:nvSpPr>
        <p:spPr>
          <a:xfrm>
            <a:off x="804672" y="4169664"/>
            <a:ext cx="2124380" cy="329184"/>
          </a:xfrm>
          <a:prstGeom prst="rect">
            <a:avLst/>
          </a:prstGeom>
          <a:noFill/>
          <a:ln/>
        </p:spPr>
        <p:txBody>
          <a:bodyPr wrap="square" lIns="0" tIns="0" rIns="0" bIns="0" rtlCol="0" anchor="ctr"/>
          <a:lstStyle/>
          <a:p>
            <a:pPr indent="0" marL="0">
              <a:buNone/>
            </a:pPr>
            <a:r>
              <a:rPr lang="en-US" sz="1600" b="1" dirty="0">
                <a:solidFill>
                  <a:srgbClr val="30313D"/>
                </a:solidFill>
                <a:latin typeface="Arial" pitchFamily="34" charset="0"/>
                <a:ea typeface="Arial" pitchFamily="34" charset="-122"/>
                <a:cs typeface="Arial" pitchFamily="34" charset="-120"/>
              </a:rPr>
              <a:t>1. Understand</a:t>
            </a:r>
            <a:endParaRPr lang="en-US" sz="1600" dirty="0"/>
          </a:p>
        </p:txBody>
      </p:sp>
      <p:sp>
        <p:nvSpPr>
          <p:cNvPr id="17" name="Text 14"/>
          <p:cNvSpPr/>
          <p:nvPr/>
        </p:nvSpPr>
        <p:spPr>
          <a:xfrm>
            <a:off x="804672" y="4535424"/>
            <a:ext cx="2124380" cy="694944"/>
          </a:xfrm>
          <a:prstGeom prst="rect">
            <a:avLst/>
          </a:prstGeom>
          <a:noFill/>
          <a:ln/>
        </p:spPr>
        <p:txBody>
          <a:bodyPr wrap="square" lIns="0" tIns="0" rIns="0" bIns="0" rtlCol="0" anchor="t"/>
          <a:lstStyle/>
          <a:p>
            <a:pPr indent="0" marL="0">
              <a:lnSpc>
                <a:spcPct val="110000"/>
              </a:lnSpc>
              <a:buNone/>
            </a:pPr>
            <a:r>
              <a:rPr lang="en-US" sz="1250" dirty="0">
                <a:solidFill>
                  <a:srgbClr val="5F6675"/>
                </a:solidFill>
                <a:latin typeface="Arial" pitchFamily="34" charset="0"/>
                <a:ea typeface="Arial" pitchFamily="34" charset="-122"/>
                <a:cs typeface="Arial" pitchFamily="34" charset="-120"/>
              </a:rPr>
              <a:t>Which product is this about? Does it need a person?</a:t>
            </a:r>
            <a:endParaRPr lang="en-US" sz="1250" dirty="0"/>
          </a:p>
        </p:txBody>
      </p:sp>
      <p:sp>
        <p:nvSpPr>
          <p:cNvPr id="18" name="Text 15"/>
          <p:cNvSpPr/>
          <p:nvPr/>
        </p:nvSpPr>
        <p:spPr>
          <a:xfrm>
            <a:off x="3093644" y="4041648"/>
            <a:ext cx="365760" cy="128016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19" name="Shape 16"/>
          <p:cNvSpPr/>
          <p:nvPr/>
        </p:nvSpPr>
        <p:spPr>
          <a:xfrm>
            <a:off x="3459404" y="4041648"/>
            <a:ext cx="2453564" cy="1280160"/>
          </a:xfrm>
          <a:prstGeom prst="roundRect">
            <a:avLst>
              <a:gd name="adj" fmla="val 4286"/>
            </a:avLst>
          </a:prstGeom>
          <a:solidFill>
            <a:srgbClr val="F0F0FF"/>
          </a:solidFill>
          <a:ln w="12700">
            <a:solidFill>
              <a:srgbClr val="635BFF"/>
            </a:solidFill>
            <a:prstDash val="solid"/>
          </a:ln>
        </p:spPr>
      </p:sp>
      <p:sp>
        <p:nvSpPr>
          <p:cNvPr id="20" name="Text 17"/>
          <p:cNvSpPr/>
          <p:nvPr/>
        </p:nvSpPr>
        <p:spPr>
          <a:xfrm>
            <a:off x="3623996" y="4169664"/>
            <a:ext cx="2124380" cy="329184"/>
          </a:xfrm>
          <a:prstGeom prst="rect">
            <a:avLst/>
          </a:prstGeom>
          <a:noFill/>
          <a:ln/>
        </p:spPr>
        <p:txBody>
          <a:bodyPr wrap="square" lIns="0" tIns="0" rIns="0" bIns="0" rtlCol="0" anchor="ctr"/>
          <a:lstStyle/>
          <a:p>
            <a:pPr indent="0" marL="0">
              <a:buNone/>
            </a:pPr>
            <a:r>
              <a:rPr lang="en-US" sz="1600" b="1" dirty="0">
                <a:solidFill>
                  <a:srgbClr val="30313D"/>
                </a:solidFill>
                <a:latin typeface="Arial" pitchFamily="34" charset="0"/>
                <a:ea typeface="Arial" pitchFamily="34" charset="-122"/>
                <a:cs typeface="Arial" pitchFamily="34" charset="-120"/>
              </a:rPr>
              <a:t>2. Find</a:t>
            </a:r>
            <a:endParaRPr lang="en-US" sz="1600" dirty="0"/>
          </a:p>
        </p:txBody>
      </p:sp>
      <p:sp>
        <p:nvSpPr>
          <p:cNvPr id="21" name="Text 18"/>
          <p:cNvSpPr/>
          <p:nvPr/>
        </p:nvSpPr>
        <p:spPr>
          <a:xfrm>
            <a:off x="3623996" y="4535424"/>
            <a:ext cx="2124380" cy="694944"/>
          </a:xfrm>
          <a:prstGeom prst="rect">
            <a:avLst/>
          </a:prstGeom>
          <a:noFill/>
          <a:ln/>
        </p:spPr>
        <p:txBody>
          <a:bodyPr wrap="square" lIns="0" tIns="0" rIns="0" bIns="0" rtlCol="0" anchor="t"/>
          <a:lstStyle/>
          <a:p>
            <a:pPr indent="0" marL="0">
              <a:lnSpc>
                <a:spcPct val="110000"/>
              </a:lnSpc>
              <a:buNone/>
            </a:pPr>
            <a:r>
              <a:rPr lang="en-US" sz="1250" dirty="0">
                <a:solidFill>
                  <a:srgbClr val="5F6675"/>
                </a:solidFill>
                <a:latin typeface="Arial" pitchFamily="34" charset="0"/>
                <a:ea typeface="Arial" pitchFamily="34" charset="-122"/>
                <a:cs typeface="Arial" pitchFamily="34" charset="-120"/>
              </a:rPr>
              <a:t>Search the 1,323 sections for the ones that answer it.</a:t>
            </a:r>
            <a:endParaRPr lang="en-US" sz="1250" dirty="0"/>
          </a:p>
        </p:txBody>
      </p:sp>
      <p:sp>
        <p:nvSpPr>
          <p:cNvPr id="22" name="Text 19"/>
          <p:cNvSpPr/>
          <p:nvPr/>
        </p:nvSpPr>
        <p:spPr>
          <a:xfrm>
            <a:off x="5912968" y="4041648"/>
            <a:ext cx="365760" cy="128016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23" name="Shape 20"/>
          <p:cNvSpPr/>
          <p:nvPr/>
        </p:nvSpPr>
        <p:spPr>
          <a:xfrm>
            <a:off x="6278728" y="4041648"/>
            <a:ext cx="2453564" cy="1280160"/>
          </a:xfrm>
          <a:prstGeom prst="roundRect">
            <a:avLst>
              <a:gd name="adj" fmla="val 4286"/>
            </a:avLst>
          </a:prstGeom>
          <a:solidFill>
            <a:srgbClr val="F0F0FF"/>
          </a:solidFill>
          <a:ln w="12700">
            <a:solidFill>
              <a:srgbClr val="635BFF"/>
            </a:solidFill>
            <a:prstDash val="solid"/>
          </a:ln>
        </p:spPr>
      </p:sp>
      <p:sp>
        <p:nvSpPr>
          <p:cNvPr id="24" name="Text 21"/>
          <p:cNvSpPr/>
          <p:nvPr/>
        </p:nvSpPr>
        <p:spPr>
          <a:xfrm>
            <a:off x="6443320" y="4169664"/>
            <a:ext cx="2124380" cy="329184"/>
          </a:xfrm>
          <a:prstGeom prst="rect">
            <a:avLst/>
          </a:prstGeom>
          <a:noFill/>
          <a:ln/>
        </p:spPr>
        <p:txBody>
          <a:bodyPr wrap="square" lIns="0" tIns="0" rIns="0" bIns="0" rtlCol="0" anchor="ctr"/>
          <a:lstStyle/>
          <a:p>
            <a:pPr indent="0" marL="0">
              <a:buNone/>
            </a:pPr>
            <a:r>
              <a:rPr lang="en-US" sz="1600" b="1" dirty="0">
                <a:solidFill>
                  <a:srgbClr val="30313D"/>
                </a:solidFill>
                <a:latin typeface="Arial" pitchFamily="34" charset="0"/>
                <a:ea typeface="Arial" pitchFamily="34" charset="-122"/>
                <a:cs typeface="Arial" pitchFamily="34" charset="-120"/>
              </a:rPr>
              <a:t>3. Write</a:t>
            </a:r>
            <a:endParaRPr lang="en-US" sz="1600" dirty="0"/>
          </a:p>
        </p:txBody>
      </p:sp>
      <p:sp>
        <p:nvSpPr>
          <p:cNvPr id="25" name="Text 22"/>
          <p:cNvSpPr/>
          <p:nvPr/>
        </p:nvSpPr>
        <p:spPr>
          <a:xfrm>
            <a:off x="6443320" y="4535424"/>
            <a:ext cx="2124380" cy="694944"/>
          </a:xfrm>
          <a:prstGeom prst="rect">
            <a:avLst/>
          </a:prstGeom>
          <a:noFill/>
          <a:ln/>
        </p:spPr>
        <p:txBody>
          <a:bodyPr wrap="square" lIns="0" tIns="0" rIns="0" bIns="0" rtlCol="0" anchor="t"/>
          <a:lstStyle/>
          <a:p>
            <a:pPr indent="0" marL="0">
              <a:lnSpc>
                <a:spcPct val="110000"/>
              </a:lnSpc>
              <a:buNone/>
            </a:pPr>
            <a:r>
              <a:rPr lang="en-US" sz="1250" dirty="0">
                <a:solidFill>
                  <a:srgbClr val="5F6675"/>
                </a:solidFill>
                <a:latin typeface="Arial" pitchFamily="34" charset="0"/>
                <a:ea typeface="Arial" pitchFamily="34" charset="-122"/>
                <a:cs typeface="Arial" pitchFamily="34" charset="-120"/>
              </a:rPr>
              <a:t>Write the answer using only those sections.</a:t>
            </a:r>
            <a:endParaRPr lang="en-US" sz="1250" dirty="0"/>
          </a:p>
        </p:txBody>
      </p:sp>
      <p:sp>
        <p:nvSpPr>
          <p:cNvPr id="26" name="Text 23"/>
          <p:cNvSpPr/>
          <p:nvPr/>
        </p:nvSpPr>
        <p:spPr>
          <a:xfrm>
            <a:off x="8732291" y="4041648"/>
            <a:ext cx="365760" cy="128016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27" name="Shape 24"/>
          <p:cNvSpPr/>
          <p:nvPr/>
        </p:nvSpPr>
        <p:spPr>
          <a:xfrm>
            <a:off x="9098051" y="4041648"/>
            <a:ext cx="2453564" cy="1280160"/>
          </a:xfrm>
          <a:prstGeom prst="roundRect">
            <a:avLst>
              <a:gd name="adj" fmla="val 4286"/>
            </a:avLst>
          </a:prstGeom>
          <a:solidFill>
            <a:srgbClr val="F0F0FF"/>
          </a:solidFill>
          <a:ln w="12700">
            <a:solidFill>
              <a:srgbClr val="635BFF"/>
            </a:solidFill>
            <a:prstDash val="solid"/>
          </a:ln>
        </p:spPr>
      </p:sp>
      <p:sp>
        <p:nvSpPr>
          <p:cNvPr id="28" name="Text 25"/>
          <p:cNvSpPr/>
          <p:nvPr/>
        </p:nvSpPr>
        <p:spPr>
          <a:xfrm>
            <a:off x="9262643" y="4169664"/>
            <a:ext cx="2124380" cy="329184"/>
          </a:xfrm>
          <a:prstGeom prst="rect">
            <a:avLst/>
          </a:prstGeom>
          <a:noFill/>
          <a:ln/>
        </p:spPr>
        <p:txBody>
          <a:bodyPr wrap="square" lIns="0" tIns="0" rIns="0" bIns="0" rtlCol="0" anchor="ctr"/>
          <a:lstStyle/>
          <a:p>
            <a:pPr indent="0" marL="0">
              <a:buNone/>
            </a:pPr>
            <a:r>
              <a:rPr lang="en-US" sz="1600" b="1" dirty="0">
                <a:solidFill>
                  <a:srgbClr val="30313D"/>
                </a:solidFill>
                <a:latin typeface="Arial" pitchFamily="34" charset="0"/>
                <a:ea typeface="Arial" pitchFamily="34" charset="-122"/>
                <a:cs typeface="Arial" pitchFamily="34" charset="-120"/>
              </a:rPr>
              <a:t>4. Check</a:t>
            </a:r>
            <a:endParaRPr lang="en-US" sz="1600" dirty="0"/>
          </a:p>
        </p:txBody>
      </p:sp>
      <p:sp>
        <p:nvSpPr>
          <p:cNvPr id="29" name="Text 26"/>
          <p:cNvSpPr/>
          <p:nvPr/>
        </p:nvSpPr>
        <p:spPr>
          <a:xfrm>
            <a:off x="9262643" y="4535424"/>
            <a:ext cx="2124380" cy="694944"/>
          </a:xfrm>
          <a:prstGeom prst="rect">
            <a:avLst/>
          </a:prstGeom>
          <a:noFill/>
          <a:ln/>
        </p:spPr>
        <p:txBody>
          <a:bodyPr wrap="square" lIns="0" tIns="0" rIns="0" bIns="0" rtlCol="0" anchor="t"/>
          <a:lstStyle/>
          <a:p>
            <a:pPr indent="0" marL="0">
              <a:lnSpc>
                <a:spcPct val="110000"/>
              </a:lnSpc>
              <a:buNone/>
            </a:pPr>
            <a:r>
              <a:rPr lang="en-US" sz="1250" dirty="0">
                <a:solidFill>
                  <a:srgbClr val="5F6675"/>
                </a:solidFill>
                <a:latin typeface="Arial" pitchFamily="34" charset="0"/>
                <a:ea typeface="Arial" pitchFamily="34" charset="-122"/>
                <a:cs typeface="Arial" pitchFamily="34" charset="-120"/>
              </a:rPr>
              <a:t>Compare each sentence to its source before showing it.</a:t>
            </a:r>
            <a:endParaRPr lang="en-US" sz="1250" dirty="0"/>
          </a:p>
        </p:txBody>
      </p:sp>
      <p:sp>
        <p:nvSpPr>
          <p:cNvPr id="30" name="Text 27"/>
          <p:cNvSpPr/>
          <p:nvPr/>
        </p:nvSpPr>
        <p:spPr>
          <a:xfrm>
            <a:off x="640080" y="5486400"/>
            <a:ext cx="10911535" cy="365760"/>
          </a:xfrm>
          <a:prstGeom prst="rect">
            <a:avLst/>
          </a:prstGeom>
          <a:noFill/>
          <a:ln/>
        </p:spPr>
        <p:txBody>
          <a:bodyPr wrap="square" lIns="0" tIns="0" rIns="0" bIns="0" rtlCol="0" anchor="ctr"/>
          <a:lstStyle/>
          <a:p>
            <a:pPr indent="0" marL="0">
              <a:buNone/>
            </a:pPr>
            <a:r>
              <a:rPr lang="en-US" sz="1400" i="1" dirty="0">
                <a:solidFill>
                  <a:srgbClr val="5F6675"/>
                </a:solidFill>
                <a:latin typeface="Arial" pitchFamily="34" charset="0"/>
                <a:ea typeface="Arial" pitchFamily="34" charset="-122"/>
                <a:cs typeface="Arial" pitchFamily="34" charset="-120"/>
              </a:rPr>
              <a:t>If it needs a person, or nothing answers it, the question goes to the owning team instead.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411480"/>
            <a:ext cx="10911535"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WHY I MADE EACH CHOICE  ·  1 OF 3</a:t>
            </a:r>
            <a:endParaRPr lang="en-US" sz="1100" dirty="0"/>
          </a:p>
        </p:txBody>
      </p:sp>
      <p:sp>
        <p:nvSpPr>
          <p:cNvPr id="4" name="Text 2"/>
          <p:cNvSpPr/>
          <p:nvPr/>
        </p:nvSpPr>
        <p:spPr>
          <a:xfrm>
            <a:off x="640080" y="713232"/>
            <a:ext cx="10911535" cy="731520"/>
          </a:xfrm>
          <a:prstGeom prst="rect">
            <a:avLst/>
          </a:prstGeom>
          <a:noFill/>
          <a:ln/>
        </p:spPr>
        <p:txBody>
          <a:bodyPr wrap="square" lIns="0" tIns="0" rIns="0" bIns="0" rtlCol="0" anchor="t"/>
          <a:lstStyle/>
          <a:p>
            <a:pPr indent="0" marL="0">
              <a:buNone/>
            </a:pPr>
            <a:r>
              <a:rPr lang="en-US" sz="3200" dirty="0">
                <a:solidFill>
                  <a:srgbClr val="30313D"/>
                </a:solidFill>
                <a:latin typeface="Georgia" pitchFamily="34" charset="0"/>
                <a:ea typeface="Georgia" pitchFamily="34" charset="-122"/>
                <a:cs typeface="Georgia" pitchFamily="34" charset="-120"/>
              </a:rPr>
              <a:t>Jev makes the decisions. Claude does the writing.</a:t>
            </a:r>
            <a:endParaRPr lang="en-US" sz="3200" dirty="0"/>
          </a:p>
        </p:txBody>
      </p:sp>
      <p:sp>
        <p:nvSpPr>
          <p:cNvPr id="5" name="Text 3"/>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4</a:t>
            </a:r>
            <a:endParaRPr lang="en-US" sz="900" dirty="0"/>
          </a:p>
        </p:txBody>
      </p:sp>
      <p:sp>
        <p:nvSpPr>
          <p:cNvPr id="7" name="Text 4"/>
          <p:cNvSpPr/>
          <p:nvPr/>
        </p:nvSpPr>
        <p:spPr>
          <a:xfrm>
            <a:off x="640080" y="1481328"/>
            <a:ext cx="10911535" cy="365760"/>
          </a:xfrm>
          <a:prstGeom prst="rect">
            <a:avLst/>
          </a:prstGeom>
          <a:noFill/>
          <a:ln/>
        </p:spPr>
        <p:txBody>
          <a:bodyPr wrap="square" lIns="0" tIns="0" rIns="0" bIns="0" rtlCol="0" anchor="ctr"/>
          <a:lstStyle/>
          <a:p>
            <a:pPr indent="0" marL="0">
              <a:buNone/>
            </a:pPr>
            <a:r>
              <a:rPr lang="en-US" sz="1450" dirty="0">
                <a:solidFill>
                  <a:srgbClr val="5F6675"/>
                </a:solidFill>
                <a:latin typeface="Arial" pitchFamily="34" charset="0"/>
                <a:ea typeface="Arial" pitchFamily="34" charset="-122"/>
                <a:cs typeface="Arial" pitchFamily="34" charset="-120"/>
              </a:rPr>
              <a:t>Jev is a decision model. It does not write text. You give it a question with fixed answers, and it tells you how likely each one is.</a:t>
            </a:r>
            <a:endParaRPr lang="en-US" sz="1450" dirty="0"/>
          </a:p>
        </p:txBody>
      </p:sp>
      <p:sp>
        <p:nvSpPr>
          <p:cNvPr id="8" name="Shape 5"/>
          <p:cNvSpPr/>
          <p:nvPr/>
        </p:nvSpPr>
        <p:spPr>
          <a:xfrm>
            <a:off x="8297904" y="1984248"/>
            <a:ext cx="3281143" cy="3941064"/>
          </a:xfrm>
          <a:prstGeom prst="rect">
            <a:avLst/>
          </a:prstGeom>
          <a:solidFill>
            <a:srgbClr val="D9DFE8"/>
          </a:solidFill>
          <a:ln w="12700">
            <a:solidFill>
              <a:srgbClr val="D9DFE8"/>
            </a:solidFill>
            <a:prstDash val="solid"/>
          </a:ln>
        </p:spPr>
      </p:sp>
      <p:pic>
        <p:nvPicPr>
          <p:cNvPr id="9" name="Image 0" descr="/Users/hamzasaraswat/Documents/Projects/RP_Demo/deck/shots/jev-panel.png">    </p:cNvPr>
          <p:cNvPicPr>
            <a:picLocks noChangeAspect="1"/>
          </p:cNvPicPr>
          <p:nvPr/>
        </p:nvPicPr>
        <p:blipFill>
          <a:blip r:embed="rId1"/>
          <a:stretch>
            <a:fillRect/>
          </a:stretch>
        </p:blipFill>
        <p:spPr>
          <a:xfrm>
            <a:off x="8325336" y="2011680"/>
            <a:ext cx="3226279" cy="3886200"/>
          </a:xfrm>
          <a:prstGeom prst="rect">
            <a:avLst/>
          </a:prstGeom>
        </p:spPr>
      </p:pic>
      <p:sp>
        <p:nvSpPr>
          <p:cNvPr id="10" name="Shape 6"/>
          <p:cNvSpPr/>
          <p:nvPr/>
        </p:nvSpPr>
        <p:spPr>
          <a:xfrm>
            <a:off x="640080" y="2011680"/>
            <a:ext cx="7365216" cy="768096"/>
          </a:xfrm>
          <a:prstGeom prst="roundRect">
            <a:avLst>
              <a:gd name="adj" fmla="val 7143"/>
            </a:avLst>
          </a:prstGeom>
          <a:solidFill>
            <a:srgbClr val="F6F9FC"/>
          </a:solidFill>
          <a:ln w="9525">
            <a:solidFill>
              <a:srgbClr val="D9DFE8"/>
            </a:solidFill>
            <a:prstDash val="solid"/>
          </a:ln>
        </p:spPr>
      </p:sp>
      <p:sp>
        <p:nvSpPr>
          <p:cNvPr id="11" name="Text 7"/>
          <p:cNvSpPr/>
          <p:nvPr/>
        </p:nvSpPr>
        <p:spPr>
          <a:xfrm>
            <a:off x="749808" y="2011680"/>
            <a:ext cx="365760" cy="768096"/>
          </a:xfrm>
          <a:prstGeom prst="rect">
            <a:avLst/>
          </a:prstGeom>
          <a:noFill/>
          <a:ln/>
        </p:spPr>
        <p:txBody>
          <a:bodyPr wrap="square" lIns="0" tIns="0" rIns="0" bIns="0" rtlCol="0" anchor="ctr"/>
          <a:lstStyle/>
          <a:p>
            <a:pPr algn="ctr" indent="0" marL="0">
              <a:buNone/>
            </a:pPr>
            <a:r>
              <a:rPr lang="en-US" sz="2400" dirty="0">
                <a:solidFill>
                  <a:srgbClr val="635BFF"/>
                </a:solidFill>
                <a:latin typeface="Georgia" pitchFamily="34" charset="0"/>
                <a:ea typeface="Georgia" pitchFamily="34" charset="-122"/>
                <a:cs typeface="Georgia" pitchFamily="34" charset="-120"/>
              </a:rPr>
              <a:t>1</a:t>
            </a:r>
            <a:endParaRPr lang="en-US" sz="2400" dirty="0"/>
          </a:p>
        </p:txBody>
      </p:sp>
      <p:sp>
        <p:nvSpPr>
          <p:cNvPr id="12" name="Text 8"/>
          <p:cNvSpPr/>
          <p:nvPr/>
        </p:nvSpPr>
        <p:spPr>
          <a:xfrm>
            <a:off x="1188720" y="2011680"/>
            <a:ext cx="6679416" cy="768096"/>
          </a:xfrm>
          <a:prstGeom prst="rect">
            <a:avLst/>
          </a:prstGeom>
          <a:noFill/>
          <a:ln/>
        </p:spPr>
        <p:txBody>
          <a:bodyPr wrap="square" lIns="0" tIns="0" rIns="0" bIns="0" rtlCol="0" anchor="ctr"/>
          <a:lstStyle/>
          <a:p>
            <a:pPr indent="0" marL="0">
              <a:lnSpc>
                <a:spcPct val="108000"/>
              </a:lnSpc>
              <a:buNone/>
            </a:pPr>
            <a:r>
              <a:rPr lang="en-US" sz="1350" b="1" dirty="0">
                <a:solidFill>
                  <a:srgbClr val="30313D"/>
                </a:solidFill>
                <a:latin typeface="Arial" pitchFamily="34" charset="0"/>
                <a:ea typeface="Arial" pitchFamily="34" charset="-122"/>
                <a:cs typeface="Arial" pitchFamily="34" charset="-120"/>
              </a:rPr>
              <a:t>It returns a number, not a paragraph.</a:t>
            </a:r>
            <a:endParaRPr lang="en-US" sz="1350" dirty="0"/>
          </a:p>
          <a:p>
            <a:pPr indent="0" marL="0">
              <a:lnSpc>
                <a:spcPct val="108000"/>
              </a:lnSpc>
              <a:buNone/>
            </a:pPr>
            <a:r>
              <a:rPr lang="en-US" sz="1200" dirty="0">
                <a:solidFill>
                  <a:srgbClr val="5F6675"/>
                </a:solidFill>
                <a:latin typeface="Arial" pitchFamily="34" charset="0"/>
                <a:ea typeface="Arial" pitchFamily="34" charset="-122"/>
                <a:cs typeface="Arial" pitchFamily="34" charset="-120"/>
              </a:rPr>
              <a:t>"Property Management: 100%." My code sets the cutoff: under 60% sure, a person decides.</a:t>
            </a:r>
            <a:endParaRPr lang="en-US" sz="1350" dirty="0"/>
          </a:p>
        </p:txBody>
      </p:sp>
      <p:sp>
        <p:nvSpPr>
          <p:cNvPr id="13" name="Shape 9"/>
          <p:cNvSpPr/>
          <p:nvPr/>
        </p:nvSpPr>
        <p:spPr>
          <a:xfrm>
            <a:off x="640080" y="2871216"/>
            <a:ext cx="7365216" cy="768096"/>
          </a:xfrm>
          <a:prstGeom prst="roundRect">
            <a:avLst>
              <a:gd name="adj" fmla="val 7143"/>
            </a:avLst>
          </a:prstGeom>
          <a:solidFill>
            <a:srgbClr val="F6F9FC"/>
          </a:solidFill>
          <a:ln w="9525">
            <a:solidFill>
              <a:srgbClr val="D9DFE8"/>
            </a:solidFill>
            <a:prstDash val="solid"/>
          </a:ln>
        </p:spPr>
      </p:sp>
      <p:sp>
        <p:nvSpPr>
          <p:cNvPr id="14" name="Text 10"/>
          <p:cNvSpPr/>
          <p:nvPr/>
        </p:nvSpPr>
        <p:spPr>
          <a:xfrm>
            <a:off x="749808" y="2871216"/>
            <a:ext cx="365760" cy="768096"/>
          </a:xfrm>
          <a:prstGeom prst="rect">
            <a:avLst/>
          </a:prstGeom>
          <a:noFill/>
          <a:ln/>
        </p:spPr>
        <p:txBody>
          <a:bodyPr wrap="square" lIns="0" tIns="0" rIns="0" bIns="0" rtlCol="0" anchor="ctr"/>
          <a:lstStyle/>
          <a:p>
            <a:pPr algn="ctr" indent="0" marL="0">
              <a:buNone/>
            </a:pPr>
            <a:r>
              <a:rPr lang="en-US" sz="2400" dirty="0">
                <a:solidFill>
                  <a:srgbClr val="635BFF"/>
                </a:solidFill>
                <a:latin typeface="Georgia" pitchFamily="34" charset="0"/>
                <a:ea typeface="Georgia" pitchFamily="34" charset="-122"/>
                <a:cs typeface="Georgia" pitchFamily="34" charset="-120"/>
              </a:rPr>
              <a:t>2</a:t>
            </a:r>
            <a:endParaRPr lang="en-US" sz="2400" dirty="0"/>
          </a:p>
        </p:txBody>
      </p:sp>
      <p:sp>
        <p:nvSpPr>
          <p:cNvPr id="15" name="Text 11"/>
          <p:cNvSpPr/>
          <p:nvPr/>
        </p:nvSpPr>
        <p:spPr>
          <a:xfrm>
            <a:off x="1188720" y="2871216"/>
            <a:ext cx="6679416" cy="768096"/>
          </a:xfrm>
          <a:prstGeom prst="rect">
            <a:avLst/>
          </a:prstGeom>
          <a:noFill/>
          <a:ln/>
        </p:spPr>
        <p:txBody>
          <a:bodyPr wrap="square" lIns="0" tIns="0" rIns="0" bIns="0" rtlCol="0" anchor="ctr"/>
          <a:lstStyle/>
          <a:p>
            <a:pPr indent="0" marL="0">
              <a:lnSpc>
                <a:spcPct val="108000"/>
              </a:lnSpc>
              <a:buNone/>
            </a:pPr>
            <a:r>
              <a:rPr lang="en-US" sz="1350" b="1" dirty="0">
                <a:solidFill>
                  <a:srgbClr val="30313D"/>
                </a:solidFill>
                <a:latin typeface="Arial" pitchFamily="34" charset="0"/>
                <a:ea typeface="Arial" pitchFamily="34" charset="-122"/>
                <a:cs typeface="Arial" pitchFamily="34" charset="-120"/>
              </a:rPr>
              <a:t>It is fast.</a:t>
            </a:r>
            <a:endParaRPr lang="en-US" sz="1350" dirty="0"/>
          </a:p>
          <a:p>
            <a:pPr indent="0" marL="0">
              <a:lnSpc>
                <a:spcPct val="108000"/>
              </a:lnSpc>
              <a:buNone/>
            </a:pPr>
            <a:r>
              <a:rPr lang="en-US" sz="1200" dirty="0">
                <a:solidFill>
                  <a:srgbClr val="5F6675"/>
                </a:solidFill>
                <a:latin typeface="Arial" pitchFamily="34" charset="0"/>
                <a:ea typeface="Arial" pitchFamily="34" charset="-122"/>
                <a:cs typeface="Arial" pitchFamily="34" charset="-120"/>
              </a:rPr>
              <a:t>About a quarter of a second per decision. That is why the routing updates while you are still typing.</a:t>
            </a:r>
            <a:endParaRPr lang="en-US" sz="1350" dirty="0"/>
          </a:p>
        </p:txBody>
      </p:sp>
      <p:sp>
        <p:nvSpPr>
          <p:cNvPr id="16" name="Shape 12"/>
          <p:cNvSpPr/>
          <p:nvPr/>
        </p:nvSpPr>
        <p:spPr>
          <a:xfrm>
            <a:off x="640080" y="3730752"/>
            <a:ext cx="7365216" cy="768096"/>
          </a:xfrm>
          <a:prstGeom prst="roundRect">
            <a:avLst>
              <a:gd name="adj" fmla="val 7143"/>
            </a:avLst>
          </a:prstGeom>
          <a:solidFill>
            <a:srgbClr val="F6F9FC"/>
          </a:solidFill>
          <a:ln w="9525">
            <a:solidFill>
              <a:srgbClr val="D9DFE8"/>
            </a:solidFill>
            <a:prstDash val="solid"/>
          </a:ln>
        </p:spPr>
      </p:sp>
      <p:sp>
        <p:nvSpPr>
          <p:cNvPr id="17" name="Text 13"/>
          <p:cNvSpPr/>
          <p:nvPr/>
        </p:nvSpPr>
        <p:spPr>
          <a:xfrm>
            <a:off x="749808" y="3730752"/>
            <a:ext cx="365760" cy="768096"/>
          </a:xfrm>
          <a:prstGeom prst="rect">
            <a:avLst/>
          </a:prstGeom>
          <a:noFill/>
          <a:ln/>
        </p:spPr>
        <p:txBody>
          <a:bodyPr wrap="square" lIns="0" tIns="0" rIns="0" bIns="0" rtlCol="0" anchor="ctr"/>
          <a:lstStyle/>
          <a:p>
            <a:pPr algn="ctr" indent="0" marL="0">
              <a:buNone/>
            </a:pPr>
            <a:r>
              <a:rPr lang="en-US" sz="2400" dirty="0">
                <a:solidFill>
                  <a:srgbClr val="635BFF"/>
                </a:solidFill>
                <a:latin typeface="Georgia" pitchFamily="34" charset="0"/>
                <a:ea typeface="Georgia" pitchFamily="34" charset="-122"/>
                <a:cs typeface="Georgia" pitchFamily="34" charset="-120"/>
              </a:rPr>
              <a:t>3</a:t>
            </a:r>
            <a:endParaRPr lang="en-US" sz="2400" dirty="0"/>
          </a:p>
        </p:txBody>
      </p:sp>
      <p:sp>
        <p:nvSpPr>
          <p:cNvPr id="18" name="Text 14"/>
          <p:cNvSpPr/>
          <p:nvPr/>
        </p:nvSpPr>
        <p:spPr>
          <a:xfrm>
            <a:off x="1188720" y="3730752"/>
            <a:ext cx="6679416" cy="768096"/>
          </a:xfrm>
          <a:prstGeom prst="rect">
            <a:avLst/>
          </a:prstGeom>
          <a:noFill/>
          <a:ln/>
        </p:spPr>
        <p:txBody>
          <a:bodyPr wrap="square" lIns="0" tIns="0" rIns="0" bIns="0" rtlCol="0" anchor="ctr"/>
          <a:lstStyle/>
          <a:p>
            <a:pPr indent="0" marL="0">
              <a:lnSpc>
                <a:spcPct val="108000"/>
              </a:lnSpc>
              <a:buNone/>
            </a:pPr>
            <a:r>
              <a:rPr lang="en-US" sz="1350" b="1" dirty="0">
                <a:solidFill>
                  <a:srgbClr val="30313D"/>
                </a:solidFill>
                <a:latin typeface="Arial" pitchFamily="34" charset="0"/>
                <a:ea typeface="Arial" pitchFamily="34" charset="-122"/>
                <a:cs typeface="Arial" pitchFamily="34" charset="-120"/>
              </a:rPr>
              <a:t>It is cheap.</a:t>
            </a:r>
            <a:endParaRPr lang="en-US" sz="1350" dirty="0"/>
          </a:p>
          <a:p>
            <a:pPr indent="0" marL="0">
              <a:lnSpc>
                <a:spcPct val="108000"/>
              </a:lnSpc>
              <a:buNone/>
            </a:pPr>
            <a:r>
              <a:rPr lang="en-US" sz="1200" dirty="0">
                <a:solidFill>
                  <a:srgbClr val="5F6675"/>
                </a:solidFill>
                <a:latin typeface="Arial" pitchFamily="34" charset="0"/>
                <a:ea typeface="Arial" pitchFamily="34" charset="-122"/>
                <a:cs typeface="Arial" pitchFamily="34" charset="-120"/>
              </a:rPr>
              <a:t>One answer uses about 17 decisions. Together they cost about a tenth of the one writing call.</a:t>
            </a:r>
            <a:endParaRPr lang="en-US" sz="1350" dirty="0"/>
          </a:p>
        </p:txBody>
      </p:sp>
      <p:sp>
        <p:nvSpPr>
          <p:cNvPr id="19" name="Shape 15"/>
          <p:cNvSpPr/>
          <p:nvPr/>
        </p:nvSpPr>
        <p:spPr>
          <a:xfrm>
            <a:off x="640080" y="4590288"/>
            <a:ext cx="7365216" cy="768096"/>
          </a:xfrm>
          <a:prstGeom prst="roundRect">
            <a:avLst>
              <a:gd name="adj" fmla="val 7143"/>
            </a:avLst>
          </a:prstGeom>
          <a:solidFill>
            <a:srgbClr val="F6F9FC"/>
          </a:solidFill>
          <a:ln w="9525">
            <a:solidFill>
              <a:srgbClr val="D9DFE8"/>
            </a:solidFill>
            <a:prstDash val="solid"/>
          </a:ln>
        </p:spPr>
      </p:sp>
      <p:sp>
        <p:nvSpPr>
          <p:cNvPr id="20" name="Text 16"/>
          <p:cNvSpPr/>
          <p:nvPr/>
        </p:nvSpPr>
        <p:spPr>
          <a:xfrm>
            <a:off x="749808" y="4590288"/>
            <a:ext cx="365760" cy="768096"/>
          </a:xfrm>
          <a:prstGeom prst="rect">
            <a:avLst/>
          </a:prstGeom>
          <a:noFill/>
          <a:ln/>
        </p:spPr>
        <p:txBody>
          <a:bodyPr wrap="square" lIns="0" tIns="0" rIns="0" bIns="0" rtlCol="0" anchor="ctr"/>
          <a:lstStyle/>
          <a:p>
            <a:pPr algn="ctr" indent="0" marL="0">
              <a:buNone/>
            </a:pPr>
            <a:r>
              <a:rPr lang="en-US" sz="2400" dirty="0">
                <a:solidFill>
                  <a:srgbClr val="635BFF"/>
                </a:solidFill>
                <a:latin typeface="Georgia" pitchFamily="34" charset="0"/>
                <a:ea typeface="Georgia" pitchFamily="34" charset="-122"/>
                <a:cs typeface="Georgia" pitchFamily="34" charset="-120"/>
              </a:rPr>
              <a:t>4</a:t>
            </a:r>
            <a:endParaRPr lang="en-US" sz="2400" dirty="0"/>
          </a:p>
        </p:txBody>
      </p:sp>
      <p:sp>
        <p:nvSpPr>
          <p:cNvPr id="21" name="Text 17"/>
          <p:cNvSpPr/>
          <p:nvPr/>
        </p:nvSpPr>
        <p:spPr>
          <a:xfrm>
            <a:off x="1188720" y="4590288"/>
            <a:ext cx="6679416" cy="768096"/>
          </a:xfrm>
          <a:prstGeom prst="rect">
            <a:avLst/>
          </a:prstGeom>
          <a:noFill/>
          <a:ln/>
        </p:spPr>
        <p:txBody>
          <a:bodyPr wrap="square" lIns="0" tIns="0" rIns="0" bIns="0" rtlCol="0" anchor="ctr"/>
          <a:lstStyle/>
          <a:p>
            <a:pPr indent="0" marL="0">
              <a:lnSpc>
                <a:spcPct val="108000"/>
              </a:lnSpc>
              <a:buNone/>
            </a:pPr>
            <a:r>
              <a:rPr lang="en-US" sz="1350" b="1" dirty="0">
                <a:solidFill>
                  <a:srgbClr val="30313D"/>
                </a:solidFill>
                <a:latin typeface="Arial" pitchFamily="34" charset="0"/>
                <a:ea typeface="Arial" pitchFamily="34" charset="-122"/>
                <a:cs typeface="Arial" pitchFamily="34" charset="-120"/>
              </a:rPr>
              <a:t>It turns one fuzzy question into small clear ones.</a:t>
            </a:r>
            <a:endParaRPr lang="en-US" sz="1350" dirty="0"/>
          </a:p>
          <a:p>
            <a:pPr indent="0" marL="0">
              <a:lnSpc>
                <a:spcPct val="108000"/>
              </a:lnSpc>
              <a:buNone/>
            </a:pPr>
            <a:r>
              <a:rPr lang="en-US" sz="1200" dirty="0">
                <a:solidFill>
                  <a:srgbClr val="5F6675"/>
                </a:solidFill>
                <a:latin typeface="Arial" pitchFamily="34" charset="0"/>
                <a:ea typeface="Arial" pitchFamily="34" charset="-122"/>
                <a:cs typeface="Arial" pitchFamily="34" charset="-120"/>
              </a:rPr>
              <a:t>"Should we answer this?" becomes: Is the writer a resident? Does it need account records? Is it about billing?</a:t>
            </a:r>
            <a:endParaRPr lang="en-US" sz="1350" dirty="0"/>
          </a:p>
        </p:txBody>
      </p:sp>
      <p:sp>
        <p:nvSpPr>
          <p:cNvPr id="22" name="Text 18"/>
          <p:cNvSpPr/>
          <p:nvPr/>
        </p:nvSpPr>
        <p:spPr>
          <a:xfrm>
            <a:off x="640080" y="5541264"/>
            <a:ext cx="7365216" cy="384048"/>
          </a:xfrm>
          <a:prstGeom prst="rect">
            <a:avLst/>
          </a:prstGeom>
          <a:noFill/>
          <a:ln/>
        </p:spPr>
        <p:txBody>
          <a:bodyPr wrap="square" lIns="0" tIns="0" rIns="0" bIns="0" rtlCol="0" anchor="ctr"/>
          <a:lstStyle/>
          <a:p>
            <a:pPr indent="0" marL="0">
              <a:buNone/>
            </a:pPr>
            <a:r>
              <a:rPr lang="en-US" sz="1200" b="1" dirty="0">
                <a:solidFill>
                  <a:srgbClr val="30313D"/>
                </a:solidFill>
                <a:latin typeface="Arial" pitchFamily="34" charset="0"/>
                <a:ea typeface="Arial" pitchFamily="34" charset="-122"/>
                <a:cs typeface="Arial" pitchFamily="34" charset="-120"/>
              </a:rPr>
              <a:t>Where I used it:  </a:t>
            </a:r>
            <a:pPr indent="0" marL="0">
              <a:buNone/>
            </a:pPr>
            <a:r>
              <a:rPr lang="en-US" sz="1200" dirty="0">
                <a:solidFill>
                  <a:srgbClr val="5F6675"/>
                </a:solidFill>
                <a:latin typeface="Arial" pitchFamily="34" charset="0"/>
                <a:ea typeface="Arial" pitchFamily="34" charset="-122"/>
                <a:cs typeface="Arial" pitchFamily="34" charset="-120"/>
              </a:rPr>
              <a:t>which product  ·  what kind of question  ·  does this page answer it  ·  does this sentence match its source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411480"/>
            <a:ext cx="10911535"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WHY I MADE EACH CHOICE  ·  2 OF 3</a:t>
            </a:r>
            <a:endParaRPr lang="en-US" sz="1100" dirty="0"/>
          </a:p>
        </p:txBody>
      </p:sp>
      <p:sp>
        <p:nvSpPr>
          <p:cNvPr id="4" name="Text 2"/>
          <p:cNvSpPr/>
          <p:nvPr/>
        </p:nvSpPr>
        <p:spPr>
          <a:xfrm>
            <a:off x="640080" y="713232"/>
            <a:ext cx="10911535" cy="731520"/>
          </a:xfrm>
          <a:prstGeom prst="rect">
            <a:avLst/>
          </a:prstGeom>
          <a:noFill/>
          <a:ln/>
        </p:spPr>
        <p:txBody>
          <a:bodyPr wrap="square" lIns="0" tIns="0" rIns="0" bIns="0" rtlCol="0" anchor="t"/>
          <a:lstStyle/>
          <a:p>
            <a:pPr indent="0" marL="0">
              <a:buNone/>
            </a:pPr>
            <a:r>
              <a:rPr lang="en-US" sz="3200" dirty="0">
                <a:solidFill>
                  <a:srgbClr val="30313D"/>
                </a:solidFill>
                <a:latin typeface="Georgia" pitchFamily="34" charset="0"/>
                <a:ea typeface="Georgia" pitchFamily="34" charset="-122"/>
                <a:cs typeface="Georgia" pitchFamily="34" charset="-120"/>
              </a:rPr>
              <a:t>The simplest search that worked. And what I would use next.</a:t>
            </a:r>
            <a:endParaRPr lang="en-US" sz="3200" dirty="0"/>
          </a:p>
        </p:txBody>
      </p:sp>
      <p:sp>
        <p:nvSpPr>
          <p:cNvPr id="5" name="Text 3"/>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5</a:t>
            </a:r>
            <a:endParaRPr lang="en-US" sz="900" dirty="0"/>
          </a:p>
        </p:txBody>
      </p:sp>
      <p:sp>
        <p:nvSpPr>
          <p:cNvPr id="7" name="Shape 4"/>
          <p:cNvSpPr/>
          <p:nvPr/>
        </p:nvSpPr>
        <p:spPr>
          <a:xfrm>
            <a:off x="640080" y="1517904"/>
            <a:ext cx="3484778" cy="1170432"/>
          </a:xfrm>
          <a:prstGeom prst="roundRect">
            <a:avLst>
              <a:gd name="adj" fmla="val 4688"/>
            </a:avLst>
          </a:prstGeom>
          <a:solidFill>
            <a:srgbClr val="F6F9FC"/>
          </a:solidFill>
          <a:ln w="9525">
            <a:solidFill>
              <a:srgbClr val="D9DFE8"/>
            </a:solidFill>
            <a:prstDash val="solid"/>
          </a:ln>
        </p:spPr>
      </p:sp>
      <p:sp>
        <p:nvSpPr>
          <p:cNvPr id="8" name="Text 5"/>
          <p:cNvSpPr/>
          <p:nvPr/>
        </p:nvSpPr>
        <p:spPr>
          <a:xfrm>
            <a:off x="841248" y="1645920"/>
            <a:ext cx="3082442" cy="310896"/>
          </a:xfrm>
          <a:prstGeom prst="rect">
            <a:avLst/>
          </a:prstGeom>
          <a:noFill/>
          <a:ln/>
        </p:spPr>
        <p:txBody>
          <a:bodyPr wrap="square" lIns="0" tIns="0" rIns="0" bIns="0" rtlCol="0" anchor="t"/>
          <a:lstStyle/>
          <a:p>
            <a:pPr indent="0" marL="0">
              <a:buNone/>
            </a:pPr>
            <a:r>
              <a:rPr lang="en-US" sz="1400" b="1" dirty="0">
                <a:solidFill>
                  <a:srgbClr val="30313D"/>
                </a:solidFill>
                <a:latin typeface="Arial" pitchFamily="34" charset="0"/>
                <a:ea typeface="Arial" pitchFamily="34" charset="-122"/>
                <a:cs typeface="Arial" pitchFamily="34" charset="-120"/>
              </a:rPr>
              <a:t>It is small.</a:t>
            </a:r>
            <a:endParaRPr lang="en-US" sz="1400" dirty="0"/>
          </a:p>
        </p:txBody>
      </p:sp>
      <p:sp>
        <p:nvSpPr>
          <p:cNvPr id="9" name="Text 6"/>
          <p:cNvSpPr/>
          <p:nvPr/>
        </p:nvSpPr>
        <p:spPr>
          <a:xfrm>
            <a:off x="841248" y="1975104"/>
            <a:ext cx="3082442" cy="621792"/>
          </a:xfrm>
          <a:prstGeom prst="rect">
            <a:avLst/>
          </a:prstGeom>
          <a:noFill/>
          <a:ln/>
        </p:spPr>
        <p:txBody>
          <a:bodyPr wrap="square" lIns="0" tIns="0" rIns="0" bIns="0" rtlCol="0" anchor="t"/>
          <a:lstStyle/>
          <a:p>
            <a:pPr indent="0" marL="0">
              <a:lnSpc>
                <a:spcPct val="110000"/>
              </a:lnSpc>
              <a:buNone/>
            </a:pPr>
            <a:r>
              <a:rPr lang="en-US" sz="1150" dirty="0">
                <a:solidFill>
                  <a:srgbClr val="5F6675"/>
                </a:solidFill>
                <a:latin typeface="Arial" pitchFamily="34" charset="0"/>
                <a:ea typeface="Arial" pitchFamily="34" charset="-122"/>
                <a:cs typeface="Arial" pitchFamily="34" charset="-120"/>
              </a:rPr>
              <a:t>221 pages. A keyword search over them takes 7 milliseconds and costs nothing.</a:t>
            </a:r>
            <a:endParaRPr lang="en-US" sz="1150" dirty="0"/>
          </a:p>
        </p:txBody>
      </p:sp>
      <p:sp>
        <p:nvSpPr>
          <p:cNvPr id="10" name="Shape 7"/>
          <p:cNvSpPr/>
          <p:nvPr/>
        </p:nvSpPr>
        <p:spPr>
          <a:xfrm>
            <a:off x="4353458" y="1517904"/>
            <a:ext cx="3484778" cy="1170432"/>
          </a:xfrm>
          <a:prstGeom prst="roundRect">
            <a:avLst>
              <a:gd name="adj" fmla="val 4688"/>
            </a:avLst>
          </a:prstGeom>
          <a:solidFill>
            <a:srgbClr val="F6F9FC"/>
          </a:solidFill>
          <a:ln w="9525">
            <a:solidFill>
              <a:srgbClr val="D9DFE8"/>
            </a:solidFill>
            <a:prstDash val="solid"/>
          </a:ln>
        </p:spPr>
      </p:sp>
      <p:sp>
        <p:nvSpPr>
          <p:cNvPr id="11" name="Text 8"/>
          <p:cNvSpPr/>
          <p:nvPr/>
        </p:nvSpPr>
        <p:spPr>
          <a:xfrm>
            <a:off x="4554626" y="1645920"/>
            <a:ext cx="3082442" cy="310896"/>
          </a:xfrm>
          <a:prstGeom prst="rect">
            <a:avLst/>
          </a:prstGeom>
          <a:noFill/>
          <a:ln/>
        </p:spPr>
        <p:txBody>
          <a:bodyPr wrap="square" lIns="0" tIns="0" rIns="0" bIns="0" rtlCol="0" anchor="t"/>
          <a:lstStyle/>
          <a:p>
            <a:pPr indent="0" marL="0">
              <a:buNone/>
            </a:pPr>
            <a:r>
              <a:rPr lang="en-US" sz="1400" b="1" dirty="0">
                <a:solidFill>
                  <a:srgbClr val="30313D"/>
                </a:solidFill>
                <a:latin typeface="Arial" pitchFamily="34" charset="0"/>
                <a:ea typeface="Arial" pitchFamily="34" charset="-122"/>
                <a:cs typeface="Arial" pitchFamily="34" charset="-120"/>
              </a:rPr>
              <a:t>People name the product.</a:t>
            </a:r>
            <a:endParaRPr lang="en-US" sz="1400" dirty="0"/>
          </a:p>
        </p:txBody>
      </p:sp>
      <p:sp>
        <p:nvSpPr>
          <p:cNvPr id="12" name="Text 9"/>
          <p:cNvSpPr/>
          <p:nvPr/>
        </p:nvSpPr>
        <p:spPr>
          <a:xfrm>
            <a:off x="4554626" y="1975104"/>
            <a:ext cx="3082442" cy="621792"/>
          </a:xfrm>
          <a:prstGeom prst="rect">
            <a:avLst/>
          </a:prstGeom>
          <a:noFill/>
          <a:ln/>
        </p:spPr>
        <p:txBody>
          <a:bodyPr wrap="square" lIns="0" tIns="0" rIns="0" bIns="0" rtlCol="0" anchor="t"/>
          <a:lstStyle/>
          <a:p>
            <a:pPr indent="0" marL="0">
              <a:lnSpc>
                <a:spcPct val="110000"/>
              </a:lnSpc>
              <a:buNone/>
            </a:pPr>
            <a:r>
              <a:rPr lang="en-US" sz="1150" dirty="0">
                <a:solidFill>
                  <a:srgbClr val="5F6675"/>
                </a:solidFill>
                <a:latin typeface="Arial" pitchFamily="34" charset="0"/>
                <a:ea typeface="Arial" pitchFamily="34" charset="-122"/>
                <a:cs typeface="Arial" pitchFamily="34" charset="-120"/>
              </a:rPr>
              <a:t>"Does Vendor Credentialing check workers' comp?" The words asked are the words on the page.</a:t>
            </a:r>
            <a:endParaRPr lang="en-US" sz="1150" dirty="0"/>
          </a:p>
        </p:txBody>
      </p:sp>
      <p:sp>
        <p:nvSpPr>
          <p:cNvPr id="13" name="Shape 10"/>
          <p:cNvSpPr/>
          <p:nvPr/>
        </p:nvSpPr>
        <p:spPr>
          <a:xfrm>
            <a:off x="8066837" y="1517904"/>
            <a:ext cx="3484778" cy="1170432"/>
          </a:xfrm>
          <a:prstGeom prst="roundRect">
            <a:avLst>
              <a:gd name="adj" fmla="val 4688"/>
            </a:avLst>
          </a:prstGeom>
          <a:solidFill>
            <a:srgbClr val="F6F9FC"/>
          </a:solidFill>
          <a:ln w="9525">
            <a:solidFill>
              <a:srgbClr val="D9DFE8"/>
            </a:solidFill>
            <a:prstDash val="solid"/>
          </a:ln>
        </p:spPr>
      </p:sp>
      <p:sp>
        <p:nvSpPr>
          <p:cNvPr id="14" name="Text 11"/>
          <p:cNvSpPr/>
          <p:nvPr/>
        </p:nvSpPr>
        <p:spPr>
          <a:xfrm>
            <a:off x="8268005" y="1645920"/>
            <a:ext cx="3082442" cy="310896"/>
          </a:xfrm>
          <a:prstGeom prst="rect">
            <a:avLst/>
          </a:prstGeom>
          <a:noFill/>
          <a:ln/>
        </p:spPr>
        <p:txBody>
          <a:bodyPr wrap="square" lIns="0" tIns="0" rIns="0" bIns="0" rtlCol="0" anchor="t"/>
          <a:lstStyle/>
          <a:p>
            <a:pPr indent="0" marL="0">
              <a:buNone/>
            </a:pPr>
            <a:r>
              <a:rPr lang="en-US" sz="1400" b="1" dirty="0">
                <a:solidFill>
                  <a:srgbClr val="30313D"/>
                </a:solidFill>
                <a:latin typeface="Arial" pitchFamily="34" charset="0"/>
                <a:ea typeface="Arial" pitchFamily="34" charset="-122"/>
                <a:cs typeface="Arial" pitchFamily="34" charset="-120"/>
              </a:rPr>
              <a:t>I checked.</a:t>
            </a:r>
            <a:endParaRPr lang="en-US" sz="1400" dirty="0"/>
          </a:p>
        </p:txBody>
      </p:sp>
      <p:sp>
        <p:nvSpPr>
          <p:cNvPr id="15" name="Text 12"/>
          <p:cNvSpPr/>
          <p:nvPr/>
        </p:nvSpPr>
        <p:spPr>
          <a:xfrm>
            <a:off x="8268005" y="1975104"/>
            <a:ext cx="3082442" cy="621792"/>
          </a:xfrm>
          <a:prstGeom prst="rect">
            <a:avLst/>
          </a:prstGeom>
          <a:noFill/>
          <a:ln/>
        </p:spPr>
        <p:txBody>
          <a:bodyPr wrap="square" lIns="0" tIns="0" rIns="0" bIns="0" rtlCol="0" anchor="t"/>
          <a:lstStyle/>
          <a:p>
            <a:pPr indent="0" marL="0">
              <a:lnSpc>
                <a:spcPct val="110000"/>
              </a:lnSpc>
              <a:buNone/>
            </a:pPr>
            <a:r>
              <a:rPr lang="en-US" sz="1150" dirty="0">
                <a:solidFill>
                  <a:srgbClr val="5F6675"/>
                </a:solidFill>
                <a:latin typeface="Arial" pitchFamily="34" charset="0"/>
                <a:ea typeface="Arial" pitchFamily="34" charset="-122"/>
                <a:cs typeface="Arial" pitchFamily="34" charset="-120"/>
              </a:rPr>
              <a:t>It found the right page for all 18 test questions that had an answer.</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834640"/>
          <a:ext cx="10911535" cy="914400"/>
        </p:xfrm>
        <a:graphic>
          <a:graphicData uri="http://schemas.openxmlformats.org/drawingml/2006/table">
            <a:tbl>
              <a:tblPr/>
              <a:tblGrid>
                <a:gridCol w="2240280"/>
                <a:gridCol w="2971800"/>
                <a:gridCol w="2606040"/>
                <a:gridCol w="3093415"/>
              </a:tblGrid>
              <a:tr h="429768">
                <a:tc>
                  <a:txBody>
                    <a:bodyPr/>
                    <a:lstStyle/>
                    <a:p>
                      <a:pPr indent="0" marL="0">
                        <a:buNone/>
                      </a:pPr>
                      <a:r>
                        <a:rPr lang="en-US" sz="1000" b="1" dirty="0">
                          <a:solidFill>
                            <a:srgbClr val="635BFF"/>
                          </a:solidFill>
                          <a:latin typeface="Courier New" pitchFamily="34" charset="0"/>
                          <a:ea typeface="Courier New" pitchFamily="34" charset="-122"/>
                          <a:cs typeface="Courier New" pitchFamily="34" charset="-120"/>
                        </a:rPr>
                        <a:t>OPTION</a:t>
                      </a:r>
                      <a:endParaRPr lang="en-US" sz="1000" dirty="0">
                        <a:latin typeface="Courier New" charset="0"/>
                        <a:ea typeface="Courier New" charset="0"/>
                        <a:cs typeface="Courier New"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FFFFF"/>
                    </a:solidFill>
                  </a:tcPr>
                </a:tc>
                <a:tc>
                  <a:txBody>
                    <a:bodyPr/>
                    <a:lstStyle/>
                    <a:p>
                      <a:pPr indent="0" marL="0">
                        <a:buNone/>
                      </a:pPr>
                      <a:r>
                        <a:rPr lang="en-US" sz="1000" b="1" dirty="0">
                          <a:solidFill>
                            <a:srgbClr val="635BFF"/>
                          </a:solidFill>
                          <a:latin typeface="Courier New" pitchFamily="34" charset="0"/>
                          <a:ea typeface="Courier New" pitchFamily="34" charset="-122"/>
                          <a:cs typeface="Courier New" pitchFamily="34" charset="-120"/>
                        </a:rPr>
                        <a:t>WHAT IT IS</a:t>
                      </a:r>
                      <a:endParaRPr lang="en-US" sz="1000" dirty="0">
                        <a:latin typeface="Courier New" charset="0"/>
                        <a:ea typeface="Courier New" charset="0"/>
                        <a:cs typeface="Courier New"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FFFFF"/>
                    </a:solidFill>
                  </a:tcPr>
                </a:tc>
                <a:tc>
                  <a:txBody>
                    <a:bodyPr/>
                    <a:lstStyle/>
                    <a:p>
                      <a:pPr indent="0" marL="0">
                        <a:buNone/>
                      </a:pPr>
                      <a:r>
                        <a:rPr lang="en-US" sz="1000" b="1" dirty="0">
                          <a:solidFill>
                            <a:srgbClr val="635BFF"/>
                          </a:solidFill>
                          <a:latin typeface="Courier New" pitchFamily="34" charset="0"/>
                          <a:ea typeface="Courier New" pitchFamily="34" charset="-122"/>
                          <a:cs typeface="Courier New" pitchFamily="34" charset="-120"/>
                        </a:rPr>
                        <a:t>USE IT WHEN</a:t>
                      </a:r>
                      <a:endParaRPr lang="en-US" sz="1000" dirty="0">
                        <a:latin typeface="Courier New" charset="0"/>
                        <a:ea typeface="Courier New" charset="0"/>
                        <a:cs typeface="Courier New"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FFFFF"/>
                    </a:solidFill>
                  </a:tcPr>
                </a:tc>
                <a:tc>
                  <a:txBody>
                    <a:bodyPr/>
                    <a:lstStyle/>
                    <a:p>
                      <a:pPr indent="0" marL="0">
                        <a:buNone/>
                      </a:pPr>
                      <a:r>
                        <a:rPr lang="en-US" sz="1000" b="1" dirty="0">
                          <a:solidFill>
                            <a:srgbClr val="635BFF"/>
                          </a:solidFill>
                          <a:latin typeface="Courier New" pitchFamily="34" charset="0"/>
                          <a:ea typeface="Courier New" pitchFamily="34" charset="-122"/>
                          <a:cs typeface="Courier New" pitchFamily="34" charset="-120"/>
                        </a:rPr>
                        <a:t>EXAMPLE</a:t>
                      </a:r>
                      <a:endParaRPr lang="en-US" sz="1000" dirty="0">
                        <a:latin typeface="Courier New" charset="0"/>
                        <a:ea typeface="Courier New" charset="0"/>
                        <a:cs typeface="Courier New"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30313D"/>
                          </a:solidFill>
                          <a:latin typeface="Arial" pitchFamily="34" charset="0"/>
                          <a:ea typeface="Arial" pitchFamily="34" charset="-122"/>
                          <a:cs typeface="Arial" pitchFamily="34" charset="-120"/>
                        </a:rPr>
                        <a:t>Keyword search  (chosen)</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0F0FF"/>
                    </a:solidFill>
                  </a:tcPr>
                </a:tc>
                <a:tc>
                  <a:txBody>
                    <a:bodyPr/>
                    <a:lstStyle/>
                    <a:p>
                      <a:pPr indent="0" marL="0">
                        <a:buNone/>
                      </a:pPr>
                      <a:r>
                        <a:rPr lang="en-US" sz="1050" dirty="0">
                          <a:solidFill>
                            <a:srgbClr val="30313D"/>
                          </a:solidFill>
                          <a:latin typeface="Arial" pitchFamily="34" charset="0"/>
                          <a:ea typeface="Arial" pitchFamily="34" charset="-122"/>
                          <a:cs typeface="Arial" pitchFamily="34" charset="-120"/>
                        </a:rPr>
                        <a:t>Match the words in the question to words on the page</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0F0FF"/>
                    </a:solidFill>
                  </a:tcPr>
                </a:tc>
                <a:tc>
                  <a:txBody>
                    <a:bodyPr/>
                    <a:lstStyle/>
                    <a:p>
                      <a:pPr indent="0" marL="0">
                        <a:buNone/>
                      </a:pPr>
                      <a:r>
                        <a:rPr lang="en-US" sz="1050" dirty="0">
                          <a:solidFill>
                            <a:srgbClr val="30313D"/>
                          </a:solidFill>
                          <a:latin typeface="Arial" pitchFamily="34" charset="0"/>
                          <a:ea typeface="Arial" pitchFamily="34" charset="-122"/>
                          <a:cs typeface="Arial" pitchFamily="34" charset="-120"/>
                        </a:rPr>
                        <a:t>People use the same words the pages use</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0F0FF"/>
                    </a:solidFill>
                  </a:tcPr>
                </a:tc>
                <a:tc>
                  <a:txBody>
                    <a:bodyPr/>
                    <a:lstStyle/>
                    <a:p>
                      <a:pPr indent="0" marL="0">
                        <a:buNone/>
                      </a:pPr>
                      <a:r>
                        <a:rPr lang="en-US" sz="1050" dirty="0">
                          <a:solidFill>
                            <a:srgbClr val="30313D"/>
                          </a:solidFill>
                          <a:latin typeface="Arial" pitchFamily="34" charset="0"/>
                          <a:ea typeface="Arial" pitchFamily="34" charset="-122"/>
                          <a:cs typeface="Arial" pitchFamily="34" charset="-120"/>
                        </a:rPr>
                        <a:t>A product help site. This project</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0F0FF"/>
                    </a:solidFill>
                  </a:tcPr>
                </a:tc>
              </a:tr>
              <a:tr h="429768">
                <a:tc>
                  <a:txBody>
                    <a:bodyPr/>
                    <a:lstStyle/>
                    <a:p>
                      <a:pPr indent="0" marL="0">
                        <a:buNone/>
                      </a:pPr>
                      <a:r>
                        <a:rPr lang="en-US" sz="1050" b="1" dirty="0">
                          <a:solidFill>
                            <a:srgbClr val="30313D"/>
                          </a:solidFill>
                          <a:latin typeface="Arial" pitchFamily="34" charset="0"/>
                          <a:ea typeface="Arial" pitchFamily="34" charset="-122"/>
                          <a:cs typeface="Arial" pitchFamily="34" charset="-120"/>
                        </a:rPr>
                        <a:t>Query rewriting</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A model rewrites the question into better search words first</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People use shorthand the pages do not</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Staff type "COI". The page says "certificate of insurance"</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r>
              <a:tr h="429768">
                <a:tc>
                  <a:txBody>
                    <a:bodyPr/>
                    <a:lstStyle/>
                    <a:p>
                      <a:pPr indent="0" marL="0">
                        <a:buNone/>
                      </a:pPr>
                      <a:r>
                        <a:rPr lang="en-US" sz="1050" b="1" dirty="0">
                          <a:solidFill>
                            <a:srgbClr val="30313D"/>
                          </a:solidFill>
                          <a:latin typeface="Arial" pitchFamily="34" charset="0"/>
                          <a:ea typeface="Arial" pitchFamily="34" charset="-122"/>
                          <a:cs typeface="Arial" pitchFamily="34" charset="-120"/>
                        </a:rPr>
                        <a:t>Keyword plus embeddings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Also match by meaning, not only by words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People describe a problem in their own words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"My tenant can't pay online" has to find "resident payment portal errors"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r>
              <a:tr h="429768">
                <a:tc>
                  <a:txBody>
                    <a:bodyPr/>
                    <a:lstStyle/>
                    <a:p>
                      <a:pPr indent="0" marL="0">
                        <a:buNone/>
                      </a:pPr>
                      <a:r>
                        <a:rPr lang="en-US" sz="1050" b="1" dirty="0">
                          <a:solidFill>
                            <a:srgbClr val="30313D"/>
                          </a:solidFill>
                          <a:latin typeface="Arial" pitchFamily="34" charset="0"/>
                          <a:ea typeface="Arial" pitchFamily="34" charset="-122"/>
                          <a:cs typeface="Arial" pitchFamily="34" charset="-120"/>
                        </a:rPr>
                        <a:t>Embed at question time</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Work out meaning on the spot. Nothing is stored</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Content changes every hour</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A live ticket queue, or a news feed</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r>
              <a:tr h="429768">
                <a:tc>
                  <a:txBody>
                    <a:bodyPr/>
                    <a:lstStyle/>
                    <a:p>
                      <a:pPr indent="0" marL="0">
                        <a:buNone/>
                      </a:pPr>
                      <a:r>
                        <a:rPr lang="en-US" sz="1050" b="1" dirty="0">
                          <a:solidFill>
                            <a:srgbClr val="30313D"/>
                          </a:solidFill>
                          <a:latin typeface="Arial" pitchFamily="34" charset="0"/>
                          <a:ea typeface="Arial" pitchFamily="34" charset="-122"/>
                          <a:cs typeface="Arial" pitchFamily="34" charset="-120"/>
                        </a:rPr>
                        <a:t>Pre-embed popular pages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Store meaning for the busiest pages only</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A few pages get most of the traffic</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A large wiki where 20% of pages get 80% of visits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r>
              <a:tr h="429768">
                <a:tc>
                  <a:txBody>
                    <a:bodyPr/>
                    <a:lstStyle/>
                    <a:p>
                      <a:pPr indent="0" marL="0">
                        <a:buNone/>
                      </a:pPr>
                      <a:r>
                        <a:rPr lang="en-US" sz="1050" b="1" dirty="0">
                          <a:solidFill>
                            <a:srgbClr val="30313D"/>
                          </a:solidFill>
                          <a:latin typeface="Arial" pitchFamily="34" charset="0"/>
                          <a:ea typeface="Arial" pitchFamily="34" charset="-122"/>
                          <a:cs typeface="Arial" pitchFamily="34" charset="-120"/>
                        </a:rPr>
                        <a:t>Full vector database</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Store meaning for everything</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Very high volume, and content rarely changes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Millions of past support chats, searched thousands of times a day</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r>
            </a:tbl>
          </a:graphicData>
        </a:graphic>
      </p:graphicFrame>
      <p:sp>
        <p:nvSpPr>
          <p:cNvPr id="17" name="Text 13"/>
          <p:cNvSpPr/>
          <p:nvPr/>
        </p:nvSpPr>
        <p:spPr>
          <a:xfrm>
            <a:off x="640080" y="5961888"/>
            <a:ext cx="10911535" cy="365760"/>
          </a:xfrm>
          <a:prstGeom prst="rect">
            <a:avLst/>
          </a:prstGeom>
          <a:noFill/>
          <a:ln/>
        </p:spPr>
        <p:txBody>
          <a:bodyPr wrap="square" lIns="0" tIns="0" rIns="0" bIns="0" rtlCol="0" anchor="ctr"/>
          <a:lstStyle/>
          <a:p>
            <a:pPr indent="0" marL="0">
              <a:buNone/>
            </a:pPr>
            <a:r>
              <a:rPr lang="en-US" sz="1350" b="1" dirty="0">
                <a:solidFill>
                  <a:srgbClr val="30313D"/>
                </a:solidFill>
                <a:latin typeface="Arial" pitchFamily="34" charset="0"/>
                <a:ea typeface="Arial" pitchFamily="34" charset="-122"/>
                <a:cs typeface="Arial" pitchFamily="34" charset="-120"/>
              </a:rPr>
              <a:t>When I would move up:  </a:t>
            </a:r>
            <a:pPr indent="0" marL="0">
              <a:buNone/>
            </a:pPr>
            <a:r>
              <a:rPr lang="en-US" sz="1350" dirty="0">
                <a:solidFill>
                  <a:srgbClr val="5F6675"/>
                </a:solidFill>
                <a:latin typeface="Arial" pitchFamily="34" charset="0"/>
                <a:ea typeface="Arial" pitchFamily="34" charset="-122"/>
                <a:cs typeface="Arial" pitchFamily="34" charset="-120"/>
              </a:rPr>
              <a:t>when people start asking in words the pages do not use. The next step is query rewriting, not a vector database.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411480"/>
            <a:ext cx="10911535"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WHY I MADE EACH CHOICE  ·  3 OF 3</a:t>
            </a:r>
            <a:endParaRPr lang="en-US" sz="1100" dirty="0"/>
          </a:p>
        </p:txBody>
      </p:sp>
      <p:sp>
        <p:nvSpPr>
          <p:cNvPr id="4" name="Text 2"/>
          <p:cNvSpPr/>
          <p:nvPr/>
        </p:nvSpPr>
        <p:spPr>
          <a:xfrm>
            <a:off x="640080" y="713232"/>
            <a:ext cx="10911535" cy="731520"/>
          </a:xfrm>
          <a:prstGeom prst="rect">
            <a:avLst/>
          </a:prstGeom>
          <a:noFill/>
          <a:ln/>
        </p:spPr>
        <p:txBody>
          <a:bodyPr wrap="square" lIns="0" tIns="0" rIns="0" bIns="0" rtlCol="0" anchor="t"/>
          <a:lstStyle/>
          <a:p>
            <a:pPr indent="0" marL="0">
              <a:buNone/>
            </a:pPr>
            <a:r>
              <a:rPr lang="en-US" sz="3200" dirty="0">
                <a:solidFill>
                  <a:srgbClr val="30313D"/>
                </a:solidFill>
                <a:latin typeface="Georgia" pitchFamily="34" charset="0"/>
                <a:ea typeface="Georgia" pitchFamily="34" charset="-122"/>
                <a:cs typeface="Georgia" pitchFamily="34" charset="-120"/>
              </a:rPr>
              <a:t>The company map is how a question finds its owner.</a:t>
            </a:r>
            <a:endParaRPr lang="en-US" sz="3200" dirty="0"/>
          </a:p>
        </p:txBody>
      </p:sp>
      <p:sp>
        <p:nvSpPr>
          <p:cNvPr id="5" name="Text 3"/>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6</a:t>
            </a:r>
            <a:endParaRPr lang="en-US" sz="900" dirty="0"/>
          </a:p>
        </p:txBody>
      </p:sp>
      <p:sp>
        <p:nvSpPr>
          <p:cNvPr id="7" name="Shape 4"/>
          <p:cNvSpPr/>
          <p:nvPr/>
        </p:nvSpPr>
        <p:spPr>
          <a:xfrm>
            <a:off x="640080" y="1536192"/>
            <a:ext cx="2439848" cy="502920"/>
          </a:xfrm>
          <a:prstGeom prst="roundRect">
            <a:avLst>
              <a:gd name="adj" fmla="val 18182"/>
            </a:avLst>
          </a:prstGeom>
          <a:solidFill>
            <a:srgbClr val="F0F0FF"/>
          </a:solidFill>
          <a:ln w="12700">
            <a:solidFill>
              <a:srgbClr val="635BFF"/>
            </a:solidFill>
            <a:prstDash val="solid"/>
          </a:ln>
        </p:spPr>
      </p:sp>
      <p:sp>
        <p:nvSpPr>
          <p:cNvPr id="8" name="Text 5"/>
          <p:cNvSpPr/>
          <p:nvPr/>
        </p:nvSpPr>
        <p:spPr>
          <a:xfrm>
            <a:off x="640080" y="1536192"/>
            <a:ext cx="2439848" cy="502920"/>
          </a:xfrm>
          <a:prstGeom prst="rect">
            <a:avLst/>
          </a:prstGeom>
          <a:noFill/>
          <a:ln/>
        </p:spPr>
        <p:txBody>
          <a:bodyPr wrap="square" lIns="0" tIns="0" rIns="0" bIns="0" rtlCol="0" anchor="ctr"/>
          <a:lstStyle/>
          <a:p>
            <a:pPr algn="ctr" indent="0" marL="0">
              <a:buNone/>
            </a:pPr>
            <a:r>
              <a:rPr lang="en-US" sz="1300" b="1" dirty="0">
                <a:solidFill>
                  <a:srgbClr val="30313D"/>
                </a:solidFill>
                <a:latin typeface="Arial" pitchFamily="34" charset="0"/>
                <a:ea typeface="Arial" pitchFamily="34" charset="-122"/>
                <a:cs typeface="Arial" pitchFamily="34" charset="-120"/>
              </a:rPr>
              <a:t>Compliance Depot</a:t>
            </a:r>
            <a:endParaRPr lang="en-US" sz="1300" dirty="0"/>
          </a:p>
        </p:txBody>
      </p:sp>
      <p:sp>
        <p:nvSpPr>
          <p:cNvPr id="9" name="Text 6"/>
          <p:cNvSpPr/>
          <p:nvPr/>
        </p:nvSpPr>
        <p:spPr>
          <a:xfrm>
            <a:off x="640080" y="2084832"/>
            <a:ext cx="2439848" cy="256032"/>
          </a:xfrm>
          <a:prstGeom prst="rect">
            <a:avLst/>
          </a:prstGeom>
          <a:noFill/>
          <a:ln/>
        </p:spPr>
        <p:txBody>
          <a:bodyPr wrap="square" lIns="0" tIns="0" rIns="0" bIns="0" rtlCol="0" anchor="ctr"/>
          <a:lstStyle/>
          <a:p>
            <a:pPr algn="ctr" indent="0" marL="0">
              <a:buNone/>
            </a:pPr>
            <a:r>
              <a:rPr lang="en-US" sz="1100" i="1" dirty="0">
                <a:solidFill>
                  <a:srgbClr val="5F6675"/>
                </a:solidFill>
                <a:latin typeface="Arial" pitchFamily="34" charset="0"/>
                <a:ea typeface="Arial" pitchFamily="34" charset="-122"/>
                <a:cs typeface="Arial" pitchFamily="34" charset="-120"/>
              </a:rPr>
              <a:t>the company it came from</a:t>
            </a:r>
            <a:endParaRPr lang="en-US" sz="1100" dirty="0"/>
          </a:p>
        </p:txBody>
      </p:sp>
      <p:sp>
        <p:nvSpPr>
          <p:cNvPr id="10" name="Text 7"/>
          <p:cNvSpPr/>
          <p:nvPr/>
        </p:nvSpPr>
        <p:spPr>
          <a:xfrm>
            <a:off x="3079928" y="1536192"/>
            <a:ext cx="384048" cy="50292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11" name="Shape 8"/>
          <p:cNvSpPr/>
          <p:nvPr/>
        </p:nvSpPr>
        <p:spPr>
          <a:xfrm>
            <a:off x="3463976" y="1536192"/>
            <a:ext cx="2439848" cy="502920"/>
          </a:xfrm>
          <a:prstGeom prst="roundRect">
            <a:avLst>
              <a:gd name="adj" fmla="val 18182"/>
            </a:avLst>
          </a:prstGeom>
          <a:solidFill>
            <a:srgbClr val="F0F0FF"/>
          </a:solidFill>
          <a:ln w="12700">
            <a:solidFill>
              <a:srgbClr val="635BFF"/>
            </a:solidFill>
            <a:prstDash val="solid"/>
          </a:ln>
        </p:spPr>
      </p:sp>
      <p:sp>
        <p:nvSpPr>
          <p:cNvPr id="12" name="Text 9"/>
          <p:cNvSpPr/>
          <p:nvPr/>
        </p:nvSpPr>
        <p:spPr>
          <a:xfrm>
            <a:off x="3463976" y="1536192"/>
            <a:ext cx="2439848" cy="502920"/>
          </a:xfrm>
          <a:prstGeom prst="rect">
            <a:avLst/>
          </a:prstGeom>
          <a:noFill/>
          <a:ln/>
        </p:spPr>
        <p:txBody>
          <a:bodyPr wrap="square" lIns="0" tIns="0" rIns="0" bIns="0" rtlCol="0" anchor="ctr"/>
          <a:lstStyle/>
          <a:p>
            <a:pPr algn="ctr" indent="0" marL="0">
              <a:buNone/>
            </a:pPr>
            <a:r>
              <a:rPr lang="en-US" sz="1300" b="1" dirty="0">
                <a:solidFill>
                  <a:srgbClr val="30313D"/>
                </a:solidFill>
                <a:latin typeface="Arial" pitchFamily="34" charset="0"/>
                <a:ea typeface="Arial" pitchFamily="34" charset="-122"/>
                <a:cs typeface="Arial" pitchFamily="34" charset="-120"/>
              </a:rPr>
              <a:t>Vendor Credentialing</a:t>
            </a:r>
            <a:endParaRPr lang="en-US" sz="1300" dirty="0"/>
          </a:p>
        </p:txBody>
      </p:sp>
      <p:sp>
        <p:nvSpPr>
          <p:cNvPr id="13" name="Text 10"/>
          <p:cNvSpPr/>
          <p:nvPr/>
        </p:nvSpPr>
        <p:spPr>
          <a:xfrm>
            <a:off x="3463976" y="2084832"/>
            <a:ext cx="2439848" cy="256032"/>
          </a:xfrm>
          <a:prstGeom prst="rect">
            <a:avLst/>
          </a:prstGeom>
          <a:noFill/>
          <a:ln/>
        </p:spPr>
        <p:txBody>
          <a:bodyPr wrap="square" lIns="0" tIns="0" rIns="0" bIns="0" rtlCol="0" anchor="ctr"/>
          <a:lstStyle/>
          <a:p>
            <a:pPr algn="ctr" indent="0" marL="0">
              <a:buNone/>
            </a:pPr>
            <a:r>
              <a:rPr lang="en-US" sz="1100" i="1" dirty="0">
                <a:solidFill>
                  <a:srgbClr val="5F6675"/>
                </a:solidFill>
                <a:latin typeface="Arial" pitchFamily="34" charset="0"/>
                <a:ea typeface="Arial" pitchFamily="34" charset="-122"/>
                <a:cs typeface="Arial" pitchFamily="34" charset="-120"/>
              </a:rPr>
              <a:t>the product</a:t>
            </a:r>
            <a:endParaRPr lang="en-US" sz="1100" dirty="0"/>
          </a:p>
        </p:txBody>
      </p:sp>
      <p:sp>
        <p:nvSpPr>
          <p:cNvPr id="14" name="Text 11"/>
          <p:cNvSpPr/>
          <p:nvPr/>
        </p:nvSpPr>
        <p:spPr>
          <a:xfrm>
            <a:off x="5903824" y="1536192"/>
            <a:ext cx="384048" cy="50292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15" name="Shape 12"/>
          <p:cNvSpPr/>
          <p:nvPr/>
        </p:nvSpPr>
        <p:spPr>
          <a:xfrm>
            <a:off x="6287872" y="1536192"/>
            <a:ext cx="2439848" cy="502920"/>
          </a:xfrm>
          <a:prstGeom prst="roundRect">
            <a:avLst>
              <a:gd name="adj" fmla="val 18182"/>
            </a:avLst>
          </a:prstGeom>
          <a:solidFill>
            <a:srgbClr val="F0F0FF"/>
          </a:solidFill>
          <a:ln w="12700">
            <a:solidFill>
              <a:srgbClr val="635BFF"/>
            </a:solidFill>
            <a:prstDash val="solid"/>
          </a:ln>
        </p:spPr>
      </p:sp>
      <p:sp>
        <p:nvSpPr>
          <p:cNvPr id="16" name="Text 13"/>
          <p:cNvSpPr/>
          <p:nvPr/>
        </p:nvSpPr>
        <p:spPr>
          <a:xfrm>
            <a:off x="6287872" y="1536192"/>
            <a:ext cx="2439848" cy="502920"/>
          </a:xfrm>
          <a:prstGeom prst="rect">
            <a:avLst/>
          </a:prstGeom>
          <a:noFill/>
          <a:ln/>
        </p:spPr>
        <p:txBody>
          <a:bodyPr wrap="square" lIns="0" tIns="0" rIns="0" bIns="0" rtlCol="0" anchor="ctr"/>
          <a:lstStyle/>
          <a:p>
            <a:pPr algn="ctr" indent="0" marL="0">
              <a:buNone/>
            </a:pPr>
            <a:r>
              <a:rPr lang="en-US" sz="1300" b="1" dirty="0">
                <a:solidFill>
                  <a:srgbClr val="30313D"/>
                </a:solidFill>
                <a:latin typeface="Arial" pitchFamily="34" charset="0"/>
                <a:ea typeface="Arial" pitchFamily="34" charset="-122"/>
                <a:cs typeface="Arial" pitchFamily="34" charset="-120"/>
              </a:rPr>
              <a:t>Spend &amp; Vendor Management</a:t>
            </a:r>
            <a:endParaRPr lang="en-US" sz="1300" dirty="0"/>
          </a:p>
        </p:txBody>
      </p:sp>
      <p:sp>
        <p:nvSpPr>
          <p:cNvPr id="17" name="Text 14"/>
          <p:cNvSpPr/>
          <p:nvPr/>
        </p:nvSpPr>
        <p:spPr>
          <a:xfrm>
            <a:off x="6287872" y="2084832"/>
            <a:ext cx="2439848" cy="256032"/>
          </a:xfrm>
          <a:prstGeom prst="rect">
            <a:avLst/>
          </a:prstGeom>
          <a:noFill/>
          <a:ln/>
        </p:spPr>
        <p:txBody>
          <a:bodyPr wrap="square" lIns="0" tIns="0" rIns="0" bIns="0" rtlCol="0" anchor="ctr"/>
          <a:lstStyle/>
          <a:p>
            <a:pPr algn="ctr" indent="0" marL="0">
              <a:buNone/>
            </a:pPr>
            <a:r>
              <a:rPr lang="en-US" sz="1100" i="1" dirty="0">
                <a:solidFill>
                  <a:srgbClr val="5F6675"/>
                </a:solidFill>
                <a:latin typeface="Arial" pitchFamily="34" charset="0"/>
                <a:ea typeface="Arial" pitchFamily="34" charset="-122"/>
                <a:cs typeface="Arial" pitchFamily="34" charset="-120"/>
              </a:rPr>
              <a:t>its family</a:t>
            </a:r>
            <a:endParaRPr lang="en-US" sz="1100" dirty="0"/>
          </a:p>
        </p:txBody>
      </p:sp>
      <p:sp>
        <p:nvSpPr>
          <p:cNvPr id="18" name="Text 15"/>
          <p:cNvSpPr/>
          <p:nvPr/>
        </p:nvSpPr>
        <p:spPr>
          <a:xfrm>
            <a:off x="8727719" y="1536192"/>
            <a:ext cx="384048" cy="50292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19" name="Shape 16"/>
          <p:cNvSpPr/>
          <p:nvPr/>
        </p:nvSpPr>
        <p:spPr>
          <a:xfrm>
            <a:off x="9111767" y="1536192"/>
            <a:ext cx="2439848" cy="502920"/>
          </a:xfrm>
          <a:prstGeom prst="roundRect">
            <a:avLst>
              <a:gd name="adj" fmla="val 18182"/>
            </a:avLst>
          </a:prstGeom>
          <a:solidFill>
            <a:srgbClr val="F0F0FF"/>
          </a:solidFill>
          <a:ln w="12700">
            <a:solidFill>
              <a:srgbClr val="635BFF"/>
            </a:solidFill>
            <a:prstDash val="solid"/>
          </a:ln>
        </p:spPr>
      </p:sp>
      <p:sp>
        <p:nvSpPr>
          <p:cNvPr id="20" name="Text 17"/>
          <p:cNvSpPr/>
          <p:nvPr/>
        </p:nvSpPr>
        <p:spPr>
          <a:xfrm>
            <a:off x="9111767" y="1536192"/>
            <a:ext cx="2439848" cy="502920"/>
          </a:xfrm>
          <a:prstGeom prst="rect">
            <a:avLst/>
          </a:prstGeom>
          <a:noFill/>
          <a:ln/>
        </p:spPr>
        <p:txBody>
          <a:bodyPr wrap="square" lIns="0" tIns="0" rIns="0" bIns="0" rtlCol="0" anchor="ctr"/>
          <a:lstStyle/>
          <a:p>
            <a:pPr algn="ctr" indent="0" marL="0">
              <a:buNone/>
            </a:pPr>
            <a:r>
              <a:rPr lang="en-US" sz="1300" b="1" dirty="0">
                <a:solidFill>
                  <a:srgbClr val="30313D"/>
                </a:solidFill>
                <a:latin typeface="Arial" pitchFamily="34" charset="0"/>
                <a:ea typeface="Arial" pitchFamily="34" charset="-122"/>
                <a:cs typeface="Arial" pitchFamily="34" charset="-120"/>
              </a:rPr>
              <a:t>Owning team</a:t>
            </a:r>
            <a:endParaRPr lang="en-US" sz="1300" dirty="0"/>
          </a:p>
        </p:txBody>
      </p:sp>
      <p:sp>
        <p:nvSpPr>
          <p:cNvPr id="21" name="Text 18"/>
          <p:cNvSpPr/>
          <p:nvPr/>
        </p:nvSpPr>
        <p:spPr>
          <a:xfrm>
            <a:off x="9111767" y="2084832"/>
            <a:ext cx="2439848" cy="256032"/>
          </a:xfrm>
          <a:prstGeom prst="rect">
            <a:avLst/>
          </a:prstGeom>
          <a:noFill/>
          <a:ln/>
        </p:spPr>
        <p:txBody>
          <a:bodyPr wrap="square" lIns="0" tIns="0" rIns="0" bIns="0" rtlCol="0" anchor="ctr"/>
          <a:lstStyle/>
          <a:p>
            <a:pPr algn="ctr" indent="0" marL="0">
              <a:buNone/>
            </a:pPr>
            <a:r>
              <a:rPr lang="en-US" sz="1100" i="1" dirty="0">
                <a:solidFill>
                  <a:srgbClr val="5F6675"/>
                </a:solidFill>
                <a:latin typeface="Arial" pitchFamily="34" charset="0"/>
                <a:ea typeface="Arial" pitchFamily="34" charset="-122"/>
                <a:cs typeface="Arial" pitchFamily="34" charset="-120"/>
              </a:rPr>
              <a:t>who to send it to</a:t>
            </a:r>
            <a:endParaRPr lang="en-US" sz="1100" dirty="0"/>
          </a:p>
        </p:txBody>
      </p:sp>
      <p:sp>
        <p:nvSpPr>
          <p:cNvPr id="22" name="Shape 19"/>
          <p:cNvSpPr/>
          <p:nvPr/>
        </p:nvSpPr>
        <p:spPr>
          <a:xfrm>
            <a:off x="640080" y="2587752"/>
            <a:ext cx="45720" cy="256032"/>
          </a:xfrm>
          <a:prstGeom prst="rect">
            <a:avLst/>
          </a:prstGeom>
          <a:solidFill>
            <a:srgbClr val="635BFF"/>
          </a:solidFill>
          <a:ln w="12700">
            <a:solidFill>
              <a:srgbClr val="635BFF"/>
            </a:solidFill>
            <a:prstDash val="solid"/>
          </a:ln>
        </p:spPr>
      </p:sp>
      <p:sp>
        <p:nvSpPr>
          <p:cNvPr id="23" name="Text 20"/>
          <p:cNvSpPr/>
          <p:nvPr/>
        </p:nvSpPr>
        <p:spPr>
          <a:xfrm>
            <a:off x="841248" y="2542032"/>
            <a:ext cx="10710367" cy="402336"/>
          </a:xfrm>
          <a:prstGeom prst="rect">
            <a:avLst/>
          </a:prstGeom>
          <a:noFill/>
          <a:ln/>
        </p:spPr>
        <p:txBody>
          <a:bodyPr wrap="square" lIns="0" tIns="0" rIns="0" bIns="0" rtlCol="0" anchor="t"/>
          <a:lstStyle/>
          <a:p>
            <a:pPr indent="0" marL="0">
              <a:lnSpc>
                <a:spcPct val="112000"/>
              </a:lnSpc>
              <a:buNone/>
            </a:pPr>
            <a:r>
              <a:rPr lang="en-US" sz="1350" b="1" dirty="0">
                <a:solidFill>
                  <a:srgbClr val="30313D"/>
                </a:solidFill>
                <a:latin typeface="Arial" pitchFamily="34" charset="0"/>
                <a:ea typeface="Arial" pitchFamily="34" charset="-122"/>
                <a:cs typeface="Arial" pitchFamily="34" charset="-120"/>
              </a:rPr>
              <a:t>What it is.  </a:t>
            </a:r>
            <a:pPr indent="0" marL="0">
              <a:lnSpc>
                <a:spcPct val="112000"/>
              </a:lnSpc>
              <a:buNone/>
            </a:pPr>
            <a:r>
              <a:rPr lang="en-US" sz="1350" dirty="0">
                <a:solidFill>
                  <a:srgbClr val="5F6675"/>
                </a:solidFill>
                <a:latin typeface="Arial" pitchFamily="34" charset="0"/>
                <a:ea typeface="Arial" pitchFamily="34" charset="-122"/>
                <a:cs typeface="Arial" pitchFamily="34" charset="-120"/>
              </a:rPr>
              <a:t>The "company knowledge graph" from your brief: every product, its family, where it came from, and who owns it.</a:t>
            </a:r>
            <a:endParaRPr lang="en-US" sz="1350" dirty="0"/>
          </a:p>
        </p:txBody>
      </p:sp>
      <p:sp>
        <p:nvSpPr>
          <p:cNvPr id="24" name="Shape 21"/>
          <p:cNvSpPr/>
          <p:nvPr/>
        </p:nvSpPr>
        <p:spPr>
          <a:xfrm>
            <a:off x="640080" y="3081528"/>
            <a:ext cx="45720" cy="256032"/>
          </a:xfrm>
          <a:prstGeom prst="rect">
            <a:avLst/>
          </a:prstGeom>
          <a:solidFill>
            <a:srgbClr val="635BFF"/>
          </a:solidFill>
          <a:ln w="12700">
            <a:solidFill>
              <a:srgbClr val="635BFF"/>
            </a:solidFill>
            <a:prstDash val="solid"/>
          </a:ln>
        </p:spPr>
      </p:sp>
      <p:sp>
        <p:nvSpPr>
          <p:cNvPr id="25" name="Text 22"/>
          <p:cNvSpPr/>
          <p:nvPr/>
        </p:nvSpPr>
        <p:spPr>
          <a:xfrm>
            <a:off x="841248" y="3035808"/>
            <a:ext cx="10710367" cy="402336"/>
          </a:xfrm>
          <a:prstGeom prst="rect">
            <a:avLst/>
          </a:prstGeom>
          <a:noFill/>
          <a:ln/>
        </p:spPr>
        <p:txBody>
          <a:bodyPr wrap="square" lIns="0" tIns="0" rIns="0" bIns="0" rtlCol="0" anchor="t"/>
          <a:lstStyle/>
          <a:p>
            <a:pPr indent="0" marL="0">
              <a:lnSpc>
                <a:spcPct val="112000"/>
              </a:lnSpc>
              <a:buNone/>
            </a:pPr>
            <a:r>
              <a:rPr lang="en-US" sz="1350" b="1" dirty="0">
                <a:solidFill>
                  <a:srgbClr val="30313D"/>
                </a:solidFill>
                <a:latin typeface="Arial" pitchFamily="34" charset="0"/>
                <a:ea typeface="Arial" pitchFamily="34" charset="-122"/>
                <a:cs typeface="Arial" pitchFamily="34" charset="-120"/>
              </a:rPr>
              <a:t>Why I built it.  </a:t>
            </a:r>
            <a:pPr indent="0" marL="0">
              <a:lnSpc>
                <a:spcPct val="112000"/>
              </a:lnSpc>
              <a:buNone/>
            </a:pPr>
            <a:r>
              <a:rPr lang="en-US" sz="1350" dirty="0">
                <a:solidFill>
                  <a:srgbClr val="5F6675"/>
                </a:solidFill>
                <a:latin typeface="Arial" pitchFamily="34" charset="0"/>
                <a:ea typeface="Arial" pitchFamily="34" charset="-122"/>
                <a:cs typeface="Arial" pitchFamily="34" charset="-120"/>
              </a:rPr>
              <a:t>Without it, the assistant can answer a question but cannot say whose question it is.</a:t>
            </a:r>
            <a:endParaRPr lang="en-US" sz="1350" dirty="0"/>
          </a:p>
        </p:txBody>
      </p:sp>
      <p:sp>
        <p:nvSpPr>
          <p:cNvPr id="26" name="Shape 23"/>
          <p:cNvSpPr/>
          <p:nvPr/>
        </p:nvSpPr>
        <p:spPr>
          <a:xfrm>
            <a:off x="640080" y="3575304"/>
            <a:ext cx="45720" cy="256032"/>
          </a:xfrm>
          <a:prstGeom prst="rect">
            <a:avLst/>
          </a:prstGeom>
          <a:solidFill>
            <a:srgbClr val="635BFF"/>
          </a:solidFill>
          <a:ln w="12700">
            <a:solidFill>
              <a:srgbClr val="635BFF"/>
            </a:solidFill>
            <a:prstDash val="solid"/>
          </a:ln>
        </p:spPr>
      </p:sp>
      <p:sp>
        <p:nvSpPr>
          <p:cNvPr id="27" name="Text 24"/>
          <p:cNvSpPr/>
          <p:nvPr/>
        </p:nvSpPr>
        <p:spPr>
          <a:xfrm>
            <a:off x="841248" y="3529584"/>
            <a:ext cx="10710367" cy="402336"/>
          </a:xfrm>
          <a:prstGeom prst="rect">
            <a:avLst/>
          </a:prstGeom>
          <a:noFill/>
          <a:ln/>
        </p:spPr>
        <p:txBody>
          <a:bodyPr wrap="square" lIns="0" tIns="0" rIns="0" bIns="0" rtlCol="0" anchor="t"/>
          <a:lstStyle/>
          <a:p>
            <a:pPr indent="0" marL="0">
              <a:lnSpc>
                <a:spcPct val="112000"/>
              </a:lnSpc>
              <a:buNone/>
            </a:pPr>
            <a:r>
              <a:rPr lang="en-US" sz="1350" b="1" dirty="0">
                <a:solidFill>
                  <a:srgbClr val="30313D"/>
                </a:solidFill>
                <a:latin typeface="Arial" pitchFamily="34" charset="0"/>
                <a:ea typeface="Arial" pitchFamily="34" charset="-122"/>
                <a:cs typeface="Arial" pitchFamily="34" charset="-120"/>
              </a:rPr>
              <a:t>Where the structure comes from.  </a:t>
            </a:r>
            <a:pPr indent="0" marL="0">
              <a:lnSpc>
                <a:spcPct val="112000"/>
              </a:lnSpc>
              <a:buNone/>
            </a:pPr>
            <a:r>
              <a:rPr lang="en-US" sz="1350" dirty="0">
                <a:solidFill>
                  <a:srgbClr val="5F6675"/>
                </a:solidFill>
                <a:latin typeface="Arial" pitchFamily="34" charset="0"/>
                <a:ea typeface="Arial" pitchFamily="34" charset="-122"/>
                <a:cs typeface="Arial" pitchFamily="34" charset="-120"/>
              </a:rPr>
              <a:t>RealPage's own website menu. I did not invent the families.</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4187952"/>
          <a:ext cx="10911535" cy="914400"/>
        </p:xfrm>
        <a:graphic>
          <a:graphicData uri="http://schemas.openxmlformats.org/drawingml/2006/table">
            <a:tbl>
              <a:tblPr/>
              <a:tblGrid>
                <a:gridCol w="2651760"/>
                <a:gridCol w="4023360"/>
                <a:gridCol w="4236415"/>
              </a:tblGrid>
              <a:tr h="411480">
                <a:tc>
                  <a:txBody>
                    <a:bodyPr/>
                    <a:lstStyle/>
                    <a:p>
                      <a:pPr indent="0" marL="0">
                        <a:buNone/>
                      </a:pPr>
                      <a:r>
                        <a:rPr lang="en-US" sz="1000" b="1" dirty="0">
                          <a:solidFill>
                            <a:srgbClr val="635BFF"/>
                          </a:solidFill>
                          <a:latin typeface="Courier New" pitchFamily="34" charset="0"/>
                          <a:ea typeface="Courier New" pitchFamily="34" charset="-122"/>
                          <a:cs typeface="Courier New" pitchFamily="34" charset="-120"/>
                        </a:rPr>
                        <a:t>HOW TO STORE IT</a:t>
                      </a:r>
                      <a:endParaRPr lang="en-US" sz="1000" dirty="0">
                        <a:latin typeface="Courier New" charset="0"/>
                        <a:ea typeface="Courier New" charset="0"/>
                        <a:cs typeface="Courier New"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FFFFF"/>
                    </a:solidFill>
                  </a:tcPr>
                </a:tc>
                <a:tc>
                  <a:txBody>
                    <a:bodyPr/>
                    <a:lstStyle/>
                    <a:p>
                      <a:pPr indent="0" marL="0">
                        <a:buNone/>
                      </a:pPr>
                      <a:r>
                        <a:rPr lang="en-US" sz="1000" b="1" dirty="0">
                          <a:solidFill>
                            <a:srgbClr val="635BFF"/>
                          </a:solidFill>
                          <a:latin typeface="Courier New" pitchFamily="34" charset="0"/>
                          <a:ea typeface="Courier New" pitchFamily="34" charset="-122"/>
                          <a:cs typeface="Courier New" pitchFamily="34" charset="-120"/>
                        </a:rPr>
                        <a:t>USE IT WHEN</a:t>
                      </a:r>
                      <a:endParaRPr lang="en-US" sz="1000" dirty="0">
                        <a:latin typeface="Courier New" charset="0"/>
                        <a:ea typeface="Courier New" charset="0"/>
                        <a:cs typeface="Courier New"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FFFFF"/>
                    </a:solidFill>
                  </a:tcPr>
                </a:tc>
                <a:tc>
                  <a:txBody>
                    <a:bodyPr/>
                    <a:lstStyle/>
                    <a:p>
                      <a:pPr indent="0" marL="0">
                        <a:buNone/>
                      </a:pPr>
                      <a:r>
                        <a:rPr lang="en-US" sz="1000" b="1" dirty="0">
                          <a:solidFill>
                            <a:srgbClr val="635BFF"/>
                          </a:solidFill>
                          <a:latin typeface="Courier New" pitchFamily="34" charset="0"/>
                          <a:ea typeface="Courier New" pitchFamily="34" charset="-122"/>
                          <a:cs typeface="Courier New" pitchFamily="34" charset="-120"/>
                        </a:rPr>
                        <a:t>EXAMPLE</a:t>
                      </a:r>
                      <a:endParaRPr lang="en-US" sz="1000" dirty="0">
                        <a:latin typeface="Courier New" charset="0"/>
                        <a:ea typeface="Courier New" charset="0"/>
                        <a:cs typeface="Courier New"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30313D"/>
                          </a:solidFill>
                          <a:latin typeface="Arial" pitchFamily="34" charset="0"/>
                          <a:ea typeface="Arial" pitchFamily="34" charset="-122"/>
                          <a:cs typeface="Arial" pitchFamily="34" charset="-120"/>
                        </a:rPr>
                        <a:t>Linked markdown files  (chosen)</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0F0FF"/>
                    </a:solidFill>
                  </a:tcPr>
                </a:tc>
                <a:tc>
                  <a:txBody>
                    <a:bodyPr/>
                    <a:lstStyle/>
                    <a:p>
                      <a:pPr indent="0" marL="0">
                        <a:buNone/>
                      </a:pPr>
                      <a:r>
                        <a:rPr lang="en-US" sz="1050" dirty="0">
                          <a:solidFill>
                            <a:srgbClr val="30313D"/>
                          </a:solidFill>
                          <a:latin typeface="Arial" pitchFamily="34" charset="0"/>
                          <a:ea typeface="Arial" pitchFamily="34" charset="-122"/>
                          <a:cs typeface="Arial" pitchFamily="34" charset="-120"/>
                        </a:rPr>
                        <a:t>A few hundred to a few thousand entries that people need to read and fix</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0F0FF"/>
                    </a:solidFill>
                  </a:tcPr>
                </a:tc>
                <a:tc>
                  <a:txBody>
                    <a:bodyPr/>
                    <a:lstStyle/>
                    <a:p>
                      <a:pPr indent="0" marL="0">
                        <a:buNone/>
                      </a:pPr>
                      <a:r>
                        <a:rPr lang="en-US" sz="1050" dirty="0">
                          <a:solidFill>
                            <a:srgbClr val="30313D"/>
                          </a:solidFill>
                          <a:latin typeface="Arial" pitchFamily="34" charset="0"/>
                          <a:ea typeface="Arial" pitchFamily="34" charset="-122"/>
                          <a:cs typeface="Arial" pitchFamily="34" charset="-120"/>
                        </a:rPr>
                        <a:t>This project: 157 entries. Anyone can open a file and correct it</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0F0FF"/>
                    </a:solidFill>
                  </a:tcPr>
                </a:tc>
              </a:tr>
              <a:tr h="411480">
                <a:tc>
                  <a:txBody>
                    <a:bodyPr/>
                    <a:lstStyle/>
                    <a:p>
                      <a:pPr indent="0" marL="0">
                        <a:buNone/>
                      </a:pPr>
                      <a:r>
                        <a:rPr lang="en-US" sz="1050" b="1" dirty="0">
                          <a:solidFill>
                            <a:srgbClr val="30313D"/>
                          </a:solidFill>
                          <a:latin typeface="Arial" pitchFamily="34" charset="0"/>
                          <a:ea typeface="Arial" pitchFamily="34" charset="-122"/>
                          <a:cs typeface="Arial" pitchFamily="34" charset="-120"/>
                        </a:rPr>
                        <a:t>Auto-generated graph</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You have a pile of documents and do not know what is in it yet</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Drop in 500 mixed files and ask "what are the main topics here?"</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r>
              <a:tr h="411480">
                <a:tc>
                  <a:txBody>
                    <a:bodyPr/>
                    <a:lstStyle/>
                    <a:p>
                      <a:pPr indent="0" marL="0">
                        <a:buNone/>
                      </a:pPr>
                      <a:r>
                        <a:rPr lang="en-US" sz="1050" b="1" dirty="0">
                          <a:solidFill>
                            <a:srgbClr val="30313D"/>
                          </a:solidFill>
                          <a:latin typeface="Arial" pitchFamily="34" charset="0"/>
                          <a:ea typeface="Arial" pitchFamily="34" charset="-122"/>
                          <a:cs typeface="Arial" pitchFamily="34" charset="-120"/>
                        </a:rPr>
                        <a:t>Graph database</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You need to follow long chains across millions of records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"Which customers are affected if we retire this product?"</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r>
              <a:tr h="411480">
                <a:tc>
                  <a:txBody>
                    <a:bodyPr/>
                    <a:lstStyle/>
                    <a:p>
                      <a:pPr indent="0" marL="0">
                        <a:buNone/>
                      </a:pPr>
                      <a:r>
                        <a:rPr lang="en-US" sz="1050" b="1" dirty="0">
                          <a:solidFill>
                            <a:srgbClr val="30313D"/>
                          </a:solidFill>
                          <a:latin typeface="Arial" pitchFamily="34" charset="0"/>
                          <a:ea typeface="Arial" pitchFamily="34" charset="-122"/>
                          <a:cs typeface="Arial" pitchFamily="34" charset="-120"/>
                        </a:rPr>
                        <a:t>Managed knowledge platform</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Many live sources that must stay in sync, with permissions</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c>
                  <a:txBody>
                    <a:bodyPr/>
                    <a:lstStyle/>
                    <a:p>
                      <a:pPr indent="0" marL="0">
                        <a:buNone/>
                      </a:pPr>
                      <a:r>
                        <a:rPr lang="en-US" sz="1050" dirty="0">
                          <a:solidFill>
                            <a:srgbClr val="5F6675"/>
                          </a:solidFill>
                          <a:latin typeface="Arial" pitchFamily="34" charset="0"/>
                          <a:ea typeface="Arial" pitchFamily="34" charset="-122"/>
                          <a:cs typeface="Arial" pitchFamily="34" charset="-120"/>
                        </a:rPr>
                        <a:t>Chat history, a wiki, and a ticket system, searched together</a:t>
                      </a:r>
                      <a:endParaRPr lang="en-US" sz="1050" dirty="0">
                        <a:latin typeface="Arial" charset="0"/>
                        <a:ea typeface="Arial" charset="0"/>
                        <a:cs typeface="Arial" charset="0"/>
                      </a:endParaRPr>
                    </a:p>
                  </a:txBody>
                  <a:tcPr marL="109728" marR="109728" marT="27432" marB="27432" anchor="ctr">
                    <a:lnL w="9525" cap="flat" cmpd="sng" algn="ctr">
                      <a:solidFill>
                        <a:srgbClr val="D9DFE8"/>
                      </a:solidFill>
                      <a:prstDash val="solid"/>
                      <a:round/>
                      <a:headEnd type="none" w="med" len="med"/>
                      <a:tailEnd type="none" w="med" len="med"/>
                    </a:lnL>
                    <a:lnR w="9525" cap="flat" cmpd="sng" algn="ctr">
                      <a:solidFill>
                        <a:srgbClr val="D9DFE8"/>
                      </a:solidFill>
                      <a:prstDash val="solid"/>
                      <a:round/>
                      <a:headEnd type="none" w="med" len="med"/>
                      <a:tailEnd type="none" w="med" len="med"/>
                    </a:lnR>
                    <a:lnT w="9525" cap="flat" cmpd="sng" algn="ctr">
                      <a:solidFill>
                        <a:srgbClr val="D9DFE8"/>
                      </a:solidFill>
                      <a:prstDash val="solid"/>
                      <a:round/>
                      <a:headEnd type="none" w="med" len="med"/>
                      <a:tailEnd type="none" w="med" len="med"/>
                    </a:lnT>
                    <a:lnB w="9525" cap="flat" cmpd="sng" algn="ctr">
                      <a:solidFill>
                        <a:srgbClr val="D9DFE8"/>
                      </a:solidFill>
                      <a:prstDash val="solid"/>
                      <a:round/>
                      <a:headEnd type="none" w="med" len="med"/>
                      <a:tailEnd type="none" w="med" len="med"/>
                    </a:lnB>
                    <a:solidFill>
                      <a:srgbClr val="F6F9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411480"/>
            <a:ext cx="10911535"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WHERE THIS PATTERN COMES FROM</a:t>
            </a:r>
            <a:endParaRPr lang="en-US" sz="1100" dirty="0"/>
          </a:p>
        </p:txBody>
      </p:sp>
      <p:sp>
        <p:nvSpPr>
          <p:cNvPr id="4" name="Text 2"/>
          <p:cNvSpPr/>
          <p:nvPr/>
        </p:nvSpPr>
        <p:spPr>
          <a:xfrm>
            <a:off x="640080" y="713232"/>
            <a:ext cx="10911535" cy="731520"/>
          </a:xfrm>
          <a:prstGeom prst="rect">
            <a:avLst/>
          </a:prstGeom>
          <a:noFill/>
          <a:ln/>
        </p:spPr>
        <p:txBody>
          <a:bodyPr wrap="square" lIns="0" tIns="0" rIns="0" bIns="0" rtlCol="0" anchor="t"/>
          <a:lstStyle/>
          <a:p>
            <a:pPr indent="0" marL="0">
              <a:buNone/>
            </a:pPr>
            <a:r>
              <a:rPr lang="en-US" sz="3200" dirty="0">
                <a:solidFill>
                  <a:srgbClr val="30313D"/>
                </a:solidFill>
                <a:latin typeface="Georgia" pitchFamily="34" charset="0"/>
                <a:ea typeface="Georgia" pitchFamily="34" charset="-122"/>
                <a:cs typeface="Georgia" pitchFamily="34" charset="-120"/>
              </a:rPr>
              <a:t>This is the pattern I run in production.</a:t>
            </a:r>
            <a:endParaRPr lang="en-US" sz="3200" dirty="0"/>
          </a:p>
        </p:txBody>
      </p:sp>
      <p:sp>
        <p:nvSpPr>
          <p:cNvPr id="5" name="Text 3"/>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7</a:t>
            </a:r>
            <a:endParaRPr lang="en-US" sz="900" dirty="0"/>
          </a:p>
        </p:txBody>
      </p:sp>
      <p:sp>
        <p:nvSpPr>
          <p:cNvPr id="7" name="Shape 4"/>
          <p:cNvSpPr/>
          <p:nvPr/>
        </p:nvSpPr>
        <p:spPr>
          <a:xfrm>
            <a:off x="640080" y="1691640"/>
            <a:ext cx="10911535" cy="932688"/>
          </a:xfrm>
          <a:prstGeom prst="roundRect">
            <a:avLst>
              <a:gd name="adj" fmla="val 5882"/>
            </a:avLst>
          </a:prstGeom>
          <a:solidFill>
            <a:srgbClr val="F6F9FC"/>
          </a:solidFill>
          <a:ln w="9525">
            <a:solidFill>
              <a:srgbClr val="D9DFE8"/>
            </a:solidFill>
            <a:prstDash val="solid"/>
          </a:ln>
        </p:spPr>
      </p:sp>
      <p:sp>
        <p:nvSpPr>
          <p:cNvPr id="8" name="Text 5"/>
          <p:cNvSpPr/>
          <p:nvPr/>
        </p:nvSpPr>
        <p:spPr>
          <a:xfrm>
            <a:off x="868680" y="1691640"/>
            <a:ext cx="2514600" cy="932688"/>
          </a:xfrm>
          <a:prstGeom prst="rect">
            <a:avLst/>
          </a:prstGeom>
          <a:noFill/>
          <a:ln/>
        </p:spPr>
        <p:txBody>
          <a:bodyPr wrap="square" lIns="0" tIns="0" rIns="0" bIns="0" rtlCol="0" anchor="ctr"/>
          <a:lstStyle/>
          <a:p>
            <a:pPr indent="0" marL="0">
              <a:buNone/>
            </a:pPr>
            <a:r>
              <a:rPr lang="en-US" sz="1700" dirty="0">
                <a:solidFill>
                  <a:srgbClr val="30313D"/>
                </a:solidFill>
                <a:latin typeface="Georgia" pitchFamily="34" charset="0"/>
                <a:ea typeface="Georgia" pitchFamily="34" charset="-122"/>
                <a:cs typeface="Georgia" pitchFamily="34" charset="-120"/>
              </a:rPr>
              <a:t>Teams it serves</a:t>
            </a:r>
            <a:endParaRPr lang="en-US" sz="1700" dirty="0"/>
          </a:p>
        </p:txBody>
      </p:sp>
      <p:sp>
        <p:nvSpPr>
          <p:cNvPr id="9" name="Shape 6"/>
          <p:cNvSpPr/>
          <p:nvPr/>
        </p:nvSpPr>
        <p:spPr>
          <a:xfrm>
            <a:off x="3474720" y="1847088"/>
            <a:ext cx="1863776" cy="621792"/>
          </a:xfrm>
          <a:prstGeom prst="roundRect">
            <a:avLst>
              <a:gd name="adj" fmla="val 8824"/>
            </a:avLst>
          </a:prstGeom>
          <a:solidFill>
            <a:srgbClr val="FFFFFF"/>
          </a:solidFill>
          <a:ln w="9525">
            <a:solidFill>
              <a:srgbClr val="D9DFE8"/>
            </a:solidFill>
            <a:prstDash val="solid"/>
          </a:ln>
        </p:spPr>
      </p:sp>
      <p:sp>
        <p:nvSpPr>
          <p:cNvPr id="10" name="Text 7"/>
          <p:cNvSpPr/>
          <p:nvPr/>
        </p:nvSpPr>
        <p:spPr>
          <a:xfrm>
            <a:off x="3520440" y="1847088"/>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IT support</a:t>
            </a:r>
            <a:endParaRPr lang="en-US" sz="1200" dirty="0"/>
          </a:p>
        </p:txBody>
      </p:sp>
      <p:sp>
        <p:nvSpPr>
          <p:cNvPr id="11" name="Shape 8"/>
          <p:cNvSpPr/>
          <p:nvPr/>
        </p:nvSpPr>
        <p:spPr>
          <a:xfrm>
            <a:off x="5448224" y="1847088"/>
            <a:ext cx="1863776" cy="621792"/>
          </a:xfrm>
          <a:prstGeom prst="roundRect">
            <a:avLst>
              <a:gd name="adj" fmla="val 8824"/>
            </a:avLst>
          </a:prstGeom>
          <a:solidFill>
            <a:srgbClr val="FFFFFF"/>
          </a:solidFill>
          <a:ln w="9525">
            <a:solidFill>
              <a:srgbClr val="D9DFE8"/>
            </a:solidFill>
            <a:prstDash val="solid"/>
          </a:ln>
        </p:spPr>
      </p:sp>
      <p:sp>
        <p:nvSpPr>
          <p:cNvPr id="12" name="Text 9"/>
          <p:cNvSpPr/>
          <p:nvPr/>
        </p:nvSpPr>
        <p:spPr>
          <a:xfrm>
            <a:off x="5493944" y="1847088"/>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Customer support</a:t>
            </a:r>
            <a:endParaRPr lang="en-US" sz="1200" dirty="0"/>
          </a:p>
        </p:txBody>
      </p:sp>
      <p:sp>
        <p:nvSpPr>
          <p:cNvPr id="13" name="Shape 10"/>
          <p:cNvSpPr/>
          <p:nvPr/>
        </p:nvSpPr>
        <p:spPr>
          <a:xfrm>
            <a:off x="7421728" y="1847088"/>
            <a:ext cx="1863776" cy="621792"/>
          </a:xfrm>
          <a:prstGeom prst="roundRect">
            <a:avLst>
              <a:gd name="adj" fmla="val 8824"/>
            </a:avLst>
          </a:prstGeom>
          <a:solidFill>
            <a:srgbClr val="FFFFFF"/>
          </a:solidFill>
          <a:ln w="9525">
            <a:solidFill>
              <a:srgbClr val="D9DFE8"/>
            </a:solidFill>
            <a:prstDash val="solid"/>
          </a:ln>
        </p:spPr>
      </p:sp>
      <p:sp>
        <p:nvSpPr>
          <p:cNvPr id="14" name="Text 11"/>
          <p:cNvSpPr/>
          <p:nvPr/>
        </p:nvSpPr>
        <p:spPr>
          <a:xfrm>
            <a:off x="7467448" y="1847088"/>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Customer success</a:t>
            </a:r>
            <a:endParaRPr lang="en-US" sz="1200" dirty="0"/>
          </a:p>
        </p:txBody>
      </p:sp>
      <p:sp>
        <p:nvSpPr>
          <p:cNvPr id="15" name="Shape 12"/>
          <p:cNvSpPr/>
          <p:nvPr/>
        </p:nvSpPr>
        <p:spPr>
          <a:xfrm>
            <a:off x="9395231" y="1847088"/>
            <a:ext cx="1863776" cy="621792"/>
          </a:xfrm>
          <a:prstGeom prst="roundRect">
            <a:avLst>
              <a:gd name="adj" fmla="val 8824"/>
            </a:avLst>
          </a:prstGeom>
          <a:solidFill>
            <a:srgbClr val="FFFFFF"/>
          </a:solidFill>
          <a:ln w="9525">
            <a:solidFill>
              <a:srgbClr val="D9DFE8"/>
            </a:solidFill>
            <a:prstDash val="solid"/>
          </a:ln>
        </p:spPr>
      </p:sp>
      <p:sp>
        <p:nvSpPr>
          <p:cNvPr id="16" name="Text 13"/>
          <p:cNvSpPr/>
          <p:nvPr/>
        </p:nvSpPr>
        <p:spPr>
          <a:xfrm>
            <a:off x="9440951" y="1847088"/>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Sales (next)</a:t>
            </a:r>
            <a:endParaRPr lang="en-US" sz="1200" dirty="0"/>
          </a:p>
        </p:txBody>
      </p:sp>
      <p:sp>
        <p:nvSpPr>
          <p:cNvPr id="17" name="Shape 14"/>
          <p:cNvSpPr/>
          <p:nvPr/>
        </p:nvSpPr>
        <p:spPr>
          <a:xfrm>
            <a:off x="640080" y="2752344"/>
            <a:ext cx="10911535" cy="932688"/>
          </a:xfrm>
          <a:prstGeom prst="roundRect">
            <a:avLst>
              <a:gd name="adj" fmla="val 5882"/>
            </a:avLst>
          </a:prstGeom>
          <a:solidFill>
            <a:srgbClr val="F0F0FF"/>
          </a:solidFill>
          <a:ln w="15875">
            <a:solidFill>
              <a:srgbClr val="635BFF"/>
            </a:solidFill>
            <a:prstDash val="solid"/>
          </a:ln>
        </p:spPr>
      </p:sp>
      <p:sp>
        <p:nvSpPr>
          <p:cNvPr id="18" name="Text 15"/>
          <p:cNvSpPr/>
          <p:nvPr/>
        </p:nvSpPr>
        <p:spPr>
          <a:xfrm>
            <a:off x="868680" y="2752344"/>
            <a:ext cx="2514600" cy="932688"/>
          </a:xfrm>
          <a:prstGeom prst="rect">
            <a:avLst/>
          </a:prstGeom>
          <a:noFill/>
          <a:ln/>
        </p:spPr>
        <p:txBody>
          <a:bodyPr wrap="square" lIns="0" tIns="0" rIns="0" bIns="0" rtlCol="0" anchor="ctr"/>
          <a:lstStyle/>
          <a:p>
            <a:pPr indent="0" marL="0">
              <a:buNone/>
            </a:pPr>
            <a:r>
              <a:rPr lang="en-US" sz="1700" dirty="0">
                <a:solidFill>
                  <a:srgbClr val="30313D"/>
                </a:solidFill>
                <a:latin typeface="Georgia" pitchFamily="34" charset="0"/>
                <a:ea typeface="Georgia" pitchFamily="34" charset="-122"/>
                <a:cs typeface="Georgia" pitchFamily="34" charset="-120"/>
              </a:rPr>
              <a:t>Company-wide agent harness</a:t>
            </a:r>
            <a:endParaRPr lang="en-US" sz="1700" dirty="0"/>
          </a:p>
        </p:txBody>
      </p:sp>
      <p:sp>
        <p:nvSpPr>
          <p:cNvPr id="19" name="Shape 16"/>
          <p:cNvSpPr/>
          <p:nvPr/>
        </p:nvSpPr>
        <p:spPr>
          <a:xfrm>
            <a:off x="3474720" y="2907792"/>
            <a:ext cx="1863776" cy="621792"/>
          </a:xfrm>
          <a:prstGeom prst="roundRect">
            <a:avLst>
              <a:gd name="adj" fmla="val 8824"/>
            </a:avLst>
          </a:prstGeom>
          <a:solidFill>
            <a:srgbClr val="FFFFFF"/>
          </a:solidFill>
          <a:ln w="9525">
            <a:solidFill>
              <a:srgbClr val="D9DFE8"/>
            </a:solidFill>
            <a:prstDash val="solid"/>
          </a:ln>
        </p:spPr>
      </p:sp>
      <p:sp>
        <p:nvSpPr>
          <p:cNvPr id="20" name="Text 17"/>
          <p:cNvSpPr/>
          <p:nvPr/>
        </p:nvSpPr>
        <p:spPr>
          <a:xfrm>
            <a:off x="3520440" y="2907792"/>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One agent core</a:t>
            </a:r>
            <a:endParaRPr lang="en-US" sz="1200" dirty="0"/>
          </a:p>
        </p:txBody>
      </p:sp>
      <p:sp>
        <p:nvSpPr>
          <p:cNvPr id="21" name="Shape 18"/>
          <p:cNvSpPr/>
          <p:nvPr/>
        </p:nvSpPr>
        <p:spPr>
          <a:xfrm>
            <a:off x="5448224" y="2907792"/>
            <a:ext cx="1863776" cy="621792"/>
          </a:xfrm>
          <a:prstGeom prst="roundRect">
            <a:avLst>
              <a:gd name="adj" fmla="val 8824"/>
            </a:avLst>
          </a:prstGeom>
          <a:solidFill>
            <a:srgbClr val="FFFFFF"/>
          </a:solidFill>
          <a:ln w="9525">
            <a:solidFill>
              <a:srgbClr val="D9DFE8"/>
            </a:solidFill>
            <a:prstDash val="solid"/>
          </a:ln>
        </p:spPr>
      </p:sp>
      <p:sp>
        <p:nvSpPr>
          <p:cNvPr id="22" name="Text 19"/>
          <p:cNvSpPr/>
          <p:nvPr/>
        </p:nvSpPr>
        <p:spPr>
          <a:xfrm>
            <a:off x="5493944" y="2907792"/>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Per-team tools</a:t>
            </a:r>
            <a:endParaRPr lang="en-US" sz="1200" dirty="0"/>
          </a:p>
        </p:txBody>
      </p:sp>
      <p:sp>
        <p:nvSpPr>
          <p:cNvPr id="23" name="Shape 20"/>
          <p:cNvSpPr/>
          <p:nvPr/>
        </p:nvSpPr>
        <p:spPr>
          <a:xfrm>
            <a:off x="7421728" y="2907792"/>
            <a:ext cx="1863776" cy="621792"/>
          </a:xfrm>
          <a:prstGeom prst="roundRect">
            <a:avLst>
              <a:gd name="adj" fmla="val 8824"/>
            </a:avLst>
          </a:prstGeom>
          <a:solidFill>
            <a:srgbClr val="FFFFFF"/>
          </a:solidFill>
          <a:ln w="9525">
            <a:solidFill>
              <a:srgbClr val="D9DFE8"/>
            </a:solidFill>
            <a:prstDash val="solid"/>
          </a:ln>
        </p:spPr>
      </p:sp>
      <p:sp>
        <p:nvSpPr>
          <p:cNvPr id="24" name="Text 21"/>
          <p:cNvSpPr/>
          <p:nvPr/>
        </p:nvSpPr>
        <p:spPr>
          <a:xfrm>
            <a:off x="7467448" y="2907792"/>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Versioned prompts</a:t>
            </a:r>
            <a:endParaRPr lang="en-US" sz="1200" dirty="0"/>
          </a:p>
        </p:txBody>
      </p:sp>
      <p:sp>
        <p:nvSpPr>
          <p:cNvPr id="25" name="Shape 22"/>
          <p:cNvSpPr/>
          <p:nvPr/>
        </p:nvSpPr>
        <p:spPr>
          <a:xfrm>
            <a:off x="9395231" y="2907792"/>
            <a:ext cx="1863776" cy="621792"/>
          </a:xfrm>
          <a:prstGeom prst="roundRect">
            <a:avLst>
              <a:gd name="adj" fmla="val 8824"/>
            </a:avLst>
          </a:prstGeom>
          <a:solidFill>
            <a:srgbClr val="FFFFFF"/>
          </a:solidFill>
          <a:ln w="9525">
            <a:solidFill>
              <a:srgbClr val="D9DFE8"/>
            </a:solidFill>
            <a:prstDash val="solid"/>
          </a:ln>
        </p:spPr>
      </p:sp>
      <p:sp>
        <p:nvSpPr>
          <p:cNvPr id="26" name="Text 23"/>
          <p:cNvSpPr/>
          <p:nvPr/>
        </p:nvSpPr>
        <p:spPr>
          <a:xfrm>
            <a:off x="9440951" y="2907792"/>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Tests on real transcripts</a:t>
            </a:r>
            <a:endParaRPr lang="en-US" sz="1200" dirty="0"/>
          </a:p>
        </p:txBody>
      </p:sp>
      <p:sp>
        <p:nvSpPr>
          <p:cNvPr id="27" name="Shape 24"/>
          <p:cNvSpPr/>
          <p:nvPr/>
        </p:nvSpPr>
        <p:spPr>
          <a:xfrm>
            <a:off x="640080" y="3813048"/>
            <a:ext cx="10911535" cy="932688"/>
          </a:xfrm>
          <a:prstGeom prst="roundRect">
            <a:avLst>
              <a:gd name="adj" fmla="val 5882"/>
            </a:avLst>
          </a:prstGeom>
          <a:solidFill>
            <a:srgbClr val="F0F0FF"/>
          </a:solidFill>
          <a:ln w="15875">
            <a:solidFill>
              <a:srgbClr val="635BFF"/>
            </a:solidFill>
            <a:prstDash val="solid"/>
          </a:ln>
        </p:spPr>
      </p:sp>
      <p:sp>
        <p:nvSpPr>
          <p:cNvPr id="28" name="Text 25"/>
          <p:cNvSpPr/>
          <p:nvPr/>
        </p:nvSpPr>
        <p:spPr>
          <a:xfrm>
            <a:off x="868680" y="3813048"/>
            <a:ext cx="2514600" cy="932688"/>
          </a:xfrm>
          <a:prstGeom prst="rect">
            <a:avLst/>
          </a:prstGeom>
          <a:noFill/>
          <a:ln/>
        </p:spPr>
        <p:txBody>
          <a:bodyPr wrap="square" lIns="0" tIns="0" rIns="0" bIns="0" rtlCol="0" anchor="ctr"/>
          <a:lstStyle/>
          <a:p>
            <a:pPr indent="0" marL="0">
              <a:buNone/>
            </a:pPr>
            <a:r>
              <a:rPr lang="en-US" sz="1700" dirty="0">
                <a:solidFill>
                  <a:srgbClr val="30313D"/>
                </a:solidFill>
                <a:latin typeface="Georgia" pitchFamily="34" charset="0"/>
                <a:ea typeface="Georgia" pitchFamily="34" charset="-122"/>
                <a:cs typeface="Georgia" pitchFamily="34" charset="-120"/>
              </a:rPr>
              <a:t>Universal knowledge layer</a:t>
            </a:r>
            <a:endParaRPr lang="en-US" sz="1700" dirty="0"/>
          </a:p>
        </p:txBody>
      </p:sp>
      <p:sp>
        <p:nvSpPr>
          <p:cNvPr id="29" name="Shape 26"/>
          <p:cNvSpPr/>
          <p:nvPr/>
        </p:nvSpPr>
        <p:spPr>
          <a:xfrm>
            <a:off x="3474720" y="3968496"/>
            <a:ext cx="2521610" cy="621792"/>
          </a:xfrm>
          <a:prstGeom prst="roundRect">
            <a:avLst>
              <a:gd name="adj" fmla="val 8824"/>
            </a:avLst>
          </a:prstGeom>
          <a:solidFill>
            <a:srgbClr val="FFFFFF"/>
          </a:solidFill>
          <a:ln w="9525">
            <a:solidFill>
              <a:srgbClr val="D9DFE8"/>
            </a:solidFill>
            <a:prstDash val="solid"/>
          </a:ln>
        </p:spPr>
      </p:sp>
      <p:sp>
        <p:nvSpPr>
          <p:cNvPr id="30" name="Text 27"/>
          <p:cNvSpPr/>
          <p:nvPr/>
        </p:nvSpPr>
        <p:spPr>
          <a:xfrm>
            <a:off x="3520440" y="3968496"/>
            <a:ext cx="2430170"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One place to search</a:t>
            </a:r>
            <a:endParaRPr lang="en-US" sz="1200" dirty="0"/>
          </a:p>
        </p:txBody>
      </p:sp>
      <p:sp>
        <p:nvSpPr>
          <p:cNvPr id="31" name="Shape 28"/>
          <p:cNvSpPr/>
          <p:nvPr/>
        </p:nvSpPr>
        <p:spPr>
          <a:xfrm>
            <a:off x="6106058" y="3968496"/>
            <a:ext cx="2521610" cy="621792"/>
          </a:xfrm>
          <a:prstGeom prst="roundRect">
            <a:avLst>
              <a:gd name="adj" fmla="val 8824"/>
            </a:avLst>
          </a:prstGeom>
          <a:solidFill>
            <a:srgbClr val="FFFFFF"/>
          </a:solidFill>
          <a:ln w="9525">
            <a:solidFill>
              <a:srgbClr val="D9DFE8"/>
            </a:solidFill>
            <a:prstDash val="solid"/>
          </a:ln>
        </p:spPr>
      </p:sp>
      <p:sp>
        <p:nvSpPr>
          <p:cNvPr id="32" name="Text 29"/>
          <p:cNvSpPr/>
          <p:nvPr/>
        </p:nvSpPr>
        <p:spPr>
          <a:xfrm>
            <a:off x="6151778" y="3968496"/>
            <a:ext cx="2430170"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Every answer cited</a:t>
            </a:r>
            <a:endParaRPr lang="en-US" sz="1200" dirty="0"/>
          </a:p>
        </p:txBody>
      </p:sp>
      <p:sp>
        <p:nvSpPr>
          <p:cNvPr id="33" name="Shape 30"/>
          <p:cNvSpPr/>
          <p:nvPr/>
        </p:nvSpPr>
        <p:spPr>
          <a:xfrm>
            <a:off x="8737397" y="3968496"/>
            <a:ext cx="2521610" cy="621792"/>
          </a:xfrm>
          <a:prstGeom prst="roundRect">
            <a:avLst>
              <a:gd name="adj" fmla="val 8824"/>
            </a:avLst>
          </a:prstGeom>
          <a:solidFill>
            <a:srgbClr val="FFFFFF"/>
          </a:solidFill>
          <a:ln w="9525">
            <a:solidFill>
              <a:srgbClr val="D9DFE8"/>
            </a:solidFill>
            <a:prstDash val="solid"/>
          </a:ln>
        </p:spPr>
      </p:sp>
      <p:sp>
        <p:nvSpPr>
          <p:cNvPr id="34" name="Text 31"/>
          <p:cNvSpPr/>
          <p:nvPr/>
        </p:nvSpPr>
        <p:spPr>
          <a:xfrm>
            <a:off x="8783117" y="3968496"/>
            <a:ext cx="2430170"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Verified answers saved</a:t>
            </a:r>
            <a:endParaRPr lang="en-US" sz="1200" dirty="0"/>
          </a:p>
        </p:txBody>
      </p:sp>
      <p:sp>
        <p:nvSpPr>
          <p:cNvPr id="35" name="Shape 32"/>
          <p:cNvSpPr/>
          <p:nvPr/>
        </p:nvSpPr>
        <p:spPr>
          <a:xfrm>
            <a:off x="640080" y="4873752"/>
            <a:ext cx="10911535" cy="932688"/>
          </a:xfrm>
          <a:prstGeom prst="roundRect">
            <a:avLst>
              <a:gd name="adj" fmla="val 5882"/>
            </a:avLst>
          </a:prstGeom>
          <a:solidFill>
            <a:srgbClr val="F6F9FC"/>
          </a:solidFill>
          <a:ln w="9525">
            <a:solidFill>
              <a:srgbClr val="D9DFE8"/>
            </a:solidFill>
            <a:prstDash val="solid"/>
          </a:ln>
        </p:spPr>
      </p:sp>
      <p:sp>
        <p:nvSpPr>
          <p:cNvPr id="36" name="Text 33"/>
          <p:cNvSpPr/>
          <p:nvPr/>
        </p:nvSpPr>
        <p:spPr>
          <a:xfrm>
            <a:off x="868680" y="4873752"/>
            <a:ext cx="2514600" cy="932688"/>
          </a:xfrm>
          <a:prstGeom prst="rect">
            <a:avLst/>
          </a:prstGeom>
          <a:noFill/>
          <a:ln/>
        </p:spPr>
        <p:txBody>
          <a:bodyPr wrap="square" lIns="0" tIns="0" rIns="0" bIns="0" rtlCol="0" anchor="ctr"/>
          <a:lstStyle/>
          <a:p>
            <a:pPr indent="0" marL="0">
              <a:buNone/>
            </a:pPr>
            <a:r>
              <a:rPr lang="en-US" sz="1700" dirty="0">
                <a:solidFill>
                  <a:srgbClr val="30313D"/>
                </a:solidFill>
                <a:latin typeface="Georgia" pitchFamily="34" charset="0"/>
                <a:ea typeface="Georgia" pitchFamily="34" charset="-122"/>
                <a:cs typeface="Georgia" pitchFamily="34" charset="-120"/>
              </a:rPr>
              <a:t>Connectors into company systems</a:t>
            </a:r>
            <a:endParaRPr lang="en-US" sz="1700" dirty="0"/>
          </a:p>
        </p:txBody>
      </p:sp>
      <p:sp>
        <p:nvSpPr>
          <p:cNvPr id="37" name="Shape 34"/>
          <p:cNvSpPr/>
          <p:nvPr/>
        </p:nvSpPr>
        <p:spPr>
          <a:xfrm>
            <a:off x="3474720" y="5029200"/>
            <a:ext cx="1863776" cy="621792"/>
          </a:xfrm>
          <a:prstGeom prst="roundRect">
            <a:avLst>
              <a:gd name="adj" fmla="val 8824"/>
            </a:avLst>
          </a:prstGeom>
          <a:solidFill>
            <a:srgbClr val="FFFFFF"/>
          </a:solidFill>
          <a:ln w="9525">
            <a:solidFill>
              <a:srgbClr val="D9DFE8"/>
            </a:solidFill>
            <a:prstDash val="solid"/>
          </a:ln>
        </p:spPr>
      </p:sp>
      <p:sp>
        <p:nvSpPr>
          <p:cNvPr id="38" name="Text 35"/>
          <p:cNvSpPr/>
          <p:nvPr/>
        </p:nvSpPr>
        <p:spPr>
          <a:xfrm>
            <a:off x="3520440" y="5029200"/>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Data warehouse (Metabase API)</a:t>
            </a:r>
            <a:endParaRPr lang="en-US" sz="1200" dirty="0"/>
          </a:p>
        </p:txBody>
      </p:sp>
      <p:sp>
        <p:nvSpPr>
          <p:cNvPr id="39" name="Shape 36"/>
          <p:cNvSpPr/>
          <p:nvPr/>
        </p:nvSpPr>
        <p:spPr>
          <a:xfrm>
            <a:off x="5448224" y="5029200"/>
            <a:ext cx="1863776" cy="621792"/>
          </a:xfrm>
          <a:prstGeom prst="roundRect">
            <a:avLst>
              <a:gd name="adj" fmla="val 8824"/>
            </a:avLst>
          </a:prstGeom>
          <a:solidFill>
            <a:srgbClr val="FFFFFF"/>
          </a:solidFill>
          <a:ln w="9525">
            <a:solidFill>
              <a:srgbClr val="D9DFE8"/>
            </a:solidFill>
            <a:prstDash val="solid"/>
          </a:ln>
        </p:spPr>
      </p:sp>
      <p:sp>
        <p:nvSpPr>
          <p:cNvPr id="40" name="Text 37"/>
          <p:cNvSpPr/>
          <p:nvPr/>
        </p:nvSpPr>
        <p:spPr>
          <a:xfrm>
            <a:off x="5493944" y="5029200"/>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Slack history, backfilled</a:t>
            </a:r>
            <a:endParaRPr lang="en-US" sz="1200" dirty="0"/>
          </a:p>
        </p:txBody>
      </p:sp>
      <p:sp>
        <p:nvSpPr>
          <p:cNvPr id="41" name="Shape 38"/>
          <p:cNvSpPr/>
          <p:nvPr/>
        </p:nvSpPr>
        <p:spPr>
          <a:xfrm>
            <a:off x="7421728" y="5029200"/>
            <a:ext cx="1863776" cy="621792"/>
          </a:xfrm>
          <a:prstGeom prst="roundRect">
            <a:avLst>
              <a:gd name="adj" fmla="val 8824"/>
            </a:avLst>
          </a:prstGeom>
          <a:solidFill>
            <a:srgbClr val="FFFFFF"/>
          </a:solidFill>
          <a:ln w="9525">
            <a:solidFill>
              <a:srgbClr val="D9DFE8"/>
            </a:solidFill>
            <a:prstDash val="solid"/>
          </a:ln>
        </p:spPr>
      </p:sp>
      <p:sp>
        <p:nvSpPr>
          <p:cNvPr id="42" name="Text 39"/>
          <p:cNvSpPr/>
          <p:nvPr/>
        </p:nvSpPr>
        <p:spPr>
          <a:xfrm>
            <a:off x="7467448" y="5029200"/>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Jira and Linear tickets</a:t>
            </a:r>
            <a:endParaRPr lang="en-US" sz="1200" dirty="0"/>
          </a:p>
        </p:txBody>
      </p:sp>
      <p:sp>
        <p:nvSpPr>
          <p:cNvPr id="43" name="Shape 40"/>
          <p:cNvSpPr/>
          <p:nvPr/>
        </p:nvSpPr>
        <p:spPr>
          <a:xfrm>
            <a:off x="9395231" y="5029200"/>
            <a:ext cx="1863776" cy="621792"/>
          </a:xfrm>
          <a:prstGeom prst="roundRect">
            <a:avLst>
              <a:gd name="adj" fmla="val 8824"/>
            </a:avLst>
          </a:prstGeom>
          <a:solidFill>
            <a:srgbClr val="FFFFFF"/>
          </a:solidFill>
          <a:ln w="9525">
            <a:solidFill>
              <a:srgbClr val="D9DFE8"/>
            </a:solidFill>
            <a:prstDash val="solid"/>
          </a:ln>
        </p:spPr>
      </p:sp>
      <p:sp>
        <p:nvSpPr>
          <p:cNvPr id="44" name="Text 41"/>
          <p:cNvSpPr/>
          <p:nvPr/>
        </p:nvSpPr>
        <p:spPr>
          <a:xfrm>
            <a:off x="9440951" y="5029200"/>
            <a:ext cx="1772336" cy="621792"/>
          </a:xfrm>
          <a:prstGeom prst="rect">
            <a:avLst/>
          </a:prstGeom>
          <a:noFill/>
          <a:ln/>
        </p:spPr>
        <p:txBody>
          <a:bodyPr wrap="square" lIns="0" tIns="0" rIns="0" bIns="0" rtlCol="0" anchor="ctr"/>
          <a:lstStyle/>
          <a:p>
            <a:pPr algn="ctr" indent="0" marL="0">
              <a:buNone/>
            </a:pPr>
            <a:r>
              <a:rPr lang="en-US" sz="1200" dirty="0">
                <a:solidFill>
                  <a:srgbClr val="30313D"/>
                </a:solidFill>
                <a:latin typeface="Arial" pitchFamily="34" charset="0"/>
                <a:ea typeface="Arial" pitchFamily="34" charset="-122"/>
                <a:cs typeface="Arial" pitchFamily="34" charset="-120"/>
              </a:rPr>
              <a:t>Wiki and help center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411480"/>
            <a:ext cx="10911535"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WHAT THAT HAS PRODUCED</a:t>
            </a:r>
            <a:endParaRPr lang="en-US" sz="1100" dirty="0"/>
          </a:p>
        </p:txBody>
      </p:sp>
      <p:sp>
        <p:nvSpPr>
          <p:cNvPr id="4" name="Text 2"/>
          <p:cNvSpPr/>
          <p:nvPr/>
        </p:nvSpPr>
        <p:spPr>
          <a:xfrm>
            <a:off x="640080" y="713232"/>
            <a:ext cx="10911535" cy="731520"/>
          </a:xfrm>
          <a:prstGeom prst="rect">
            <a:avLst/>
          </a:prstGeom>
          <a:noFill/>
          <a:ln/>
        </p:spPr>
        <p:txBody>
          <a:bodyPr wrap="square" lIns="0" tIns="0" rIns="0" bIns="0" rtlCol="0" anchor="t"/>
          <a:lstStyle/>
          <a:p>
            <a:pPr indent="0" marL="0">
              <a:buNone/>
            </a:pPr>
            <a:r>
              <a:rPr lang="en-US" sz="3200" dirty="0">
                <a:solidFill>
                  <a:srgbClr val="30313D"/>
                </a:solidFill>
                <a:latin typeface="Georgia" pitchFamily="34" charset="0"/>
                <a:ea typeface="Georgia" pitchFamily="34" charset="-122"/>
                <a:cs typeface="Georgia" pitchFamily="34" charset="-120"/>
              </a:rPr>
              <a:t>One foundation. Fourteen tools.</a:t>
            </a:r>
            <a:endParaRPr lang="en-US" sz="3200" dirty="0"/>
          </a:p>
        </p:txBody>
      </p:sp>
      <p:sp>
        <p:nvSpPr>
          <p:cNvPr id="5" name="Text 3"/>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8</a:t>
            </a:r>
            <a:endParaRPr lang="en-US" sz="900" dirty="0"/>
          </a:p>
        </p:txBody>
      </p:sp>
      <p:sp>
        <p:nvSpPr>
          <p:cNvPr id="7" name="Shape 4"/>
          <p:cNvSpPr/>
          <p:nvPr/>
        </p:nvSpPr>
        <p:spPr>
          <a:xfrm>
            <a:off x="640080" y="1691640"/>
            <a:ext cx="2556434" cy="1828800"/>
          </a:xfrm>
          <a:prstGeom prst="roundRect">
            <a:avLst>
              <a:gd name="adj" fmla="val 4000"/>
            </a:avLst>
          </a:prstGeom>
          <a:solidFill>
            <a:srgbClr val="F6F9FC"/>
          </a:solidFill>
          <a:ln w="9525">
            <a:solidFill>
              <a:srgbClr val="D9DFE8"/>
            </a:solidFill>
            <a:prstDash val="solid"/>
          </a:ln>
        </p:spPr>
      </p:sp>
      <p:sp>
        <p:nvSpPr>
          <p:cNvPr id="8" name="Text 5"/>
          <p:cNvSpPr/>
          <p:nvPr/>
        </p:nvSpPr>
        <p:spPr>
          <a:xfrm>
            <a:off x="868680" y="1856232"/>
            <a:ext cx="2099234" cy="731520"/>
          </a:xfrm>
          <a:prstGeom prst="rect">
            <a:avLst/>
          </a:prstGeom>
          <a:noFill/>
          <a:ln/>
        </p:spPr>
        <p:txBody>
          <a:bodyPr wrap="square" lIns="0" tIns="0" rIns="0" bIns="0" rtlCol="0" anchor="ctr"/>
          <a:lstStyle/>
          <a:p>
            <a:pPr indent="0" marL="0">
              <a:buNone/>
            </a:pPr>
            <a:r>
              <a:rPr lang="en-US" sz="4000" dirty="0">
                <a:solidFill>
                  <a:srgbClr val="635BFF"/>
                </a:solidFill>
                <a:latin typeface="Georgia" pitchFamily="34" charset="0"/>
                <a:ea typeface="Georgia" pitchFamily="34" charset="-122"/>
                <a:cs typeface="Georgia" pitchFamily="34" charset="-120"/>
              </a:rPr>
              <a:t>14</a:t>
            </a:r>
            <a:endParaRPr lang="en-US" sz="4000" dirty="0"/>
          </a:p>
        </p:txBody>
      </p:sp>
      <p:sp>
        <p:nvSpPr>
          <p:cNvPr id="9" name="Text 6"/>
          <p:cNvSpPr/>
          <p:nvPr/>
        </p:nvSpPr>
        <p:spPr>
          <a:xfrm>
            <a:off x="868680" y="2587752"/>
            <a:ext cx="2099234" cy="274320"/>
          </a:xfrm>
          <a:prstGeom prst="rect">
            <a:avLst/>
          </a:prstGeom>
          <a:noFill/>
          <a:ln/>
        </p:spPr>
        <p:txBody>
          <a:bodyPr wrap="square" lIns="0" tIns="0" rIns="0" bIns="0" rtlCol="0" anchor="ctr"/>
          <a:lstStyle/>
          <a:p>
            <a:pPr indent="0" marL="0">
              <a:buNone/>
            </a:pPr>
            <a:r>
              <a:rPr lang="en-US" sz="1300" b="1" dirty="0">
                <a:solidFill>
                  <a:srgbClr val="30313D"/>
                </a:solidFill>
                <a:latin typeface="Arial" pitchFamily="34" charset="0"/>
                <a:ea typeface="Arial" pitchFamily="34" charset="-122"/>
                <a:cs typeface="Arial" pitchFamily="34" charset="-120"/>
              </a:rPr>
              <a:t>AI tools in production</a:t>
            </a:r>
            <a:endParaRPr lang="en-US" sz="1300" dirty="0"/>
          </a:p>
        </p:txBody>
      </p:sp>
      <p:sp>
        <p:nvSpPr>
          <p:cNvPr id="10" name="Text 7"/>
          <p:cNvSpPr/>
          <p:nvPr/>
        </p:nvSpPr>
        <p:spPr>
          <a:xfrm>
            <a:off x="868680" y="2862072"/>
            <a:ext cx="2099234" cy="585216"/>
          </a:xfrm>
          <a:prstGeom prst="rect">
            <a:avLst/>
          </a:prstGeom>
          <a:noFill/>
          <a:ln/>
        </p:spPr>
        <p:txBody>
          <a:bodyPr wrap="square" lIns="0" tIns="0" rIns="0" bIns="0" rtlCol="0" anchor="t"/>
          <a:lstStyle/>
          <a:p>
            <a:pPr indent="0" marL="0">
              <a:buNone/>
            </a:pPr>
            <a:r>
              <a:rPr lang="en-US" sz="1100" dirty="0">
                <a:solidFill>
                  <a:srgbClr val="5F6675"/>
                </a:solidFill>
                <a:latin typeface="Arial" pitchFamily="34" charset="0"/>
                <a:ea typeface="Arial" pitchFamily="34" charset="-122"/>
                <a:cs typeface="Arial" pitchFamily="34" charset="-120"/>
              </a:rPr>
              <a:t>Across eight departments. Up from one Slack bot in January.</a:t>
            </a:r>
            <a:endParaRPr lang="en-US" sz="1100" dirty="0"/>
          </a:p>
        </p:txBody>
      </p:sp>
      <p:sp>
        <p:nvSpPr>
          <p:cNvPr id="11" name="Shape 8"/>
          <p:cNvSpPr/>
          <p:nvPr/>
        </p:nvSpPr>
        <p:spPr>
          <a:xfrm>
            <a:off x="3425114" y="1691640"/>
            <a:ext cx="2556434" cy="1828800"/>
          </a:xfrm>
          <a:prstGeom prst="roundRect">
            <a:avLst>
              <a:gd name="adj" fmla="val 4000"/>
            </a:avLst>
          </a:prstGeom>
          <a:solidFill>
            <a:srgbClr val="F6F9FC"/>
          </a:solidFill>
          <a:ln w="9525">
            <a:solidFill>
              <a:srgbClr val="D9DFE8"/>
            </a:solidFill>
            <a:prstDash val="solid"/>
          </a:ln>
        </p:spPr>
      </p:sp>
      <p:sp>
        <p:nvSpPr>
          <p:cNvPr id="12" name="Text 9"/>
          <p:cNvSpPr/>
          <p:nvPr/>
        </p:nvSpPr>
        <p:spPr>
          <a:xfrm>
            <a:off x="3653714" y="1856232"/>
            <a:ext cx="2099234" cy="731520"/>
          </a:xfrm>
          <a:prstGeom prst="rect">
            <a:avLst/>
          </a:prstGeom>
          <a:noFill/>
          <a:ln/>
        </p:spPr>
        <p:txBody>
          <a:bodyPr wrap="square" lIns="0" tIns="0" rIns="0" bIns="0" rtlCol="0" anchor="ctr"/>
          <a:lstStyle/>
          <a:p>
            <a:pPr indent="0" marL="0">
              <a:buNone/>
            </a:pPr>
            <a:r>
              <a:rPr lang="en-US" sz="4000" dirty="0">
                <a:solidFill>
                  <a:srgbClr val="30313D"/>
                </a:solidFill>
                <a:latin typeface="Georgia" pitchFamily="34" charset="0"/>
                <a:ea typeface="Georgia" pitchFamily="34" charset="-122"/>
                <a:cs typeface="Georgia" pitchFamily="34" charset="-120"/>
              </a:rPr>
              <a:t>2,200+</a:t>
            </a:r>
            <a:endParaRPr lang="en-US" sz="4000" dirty="0"/>
          </a:p>
        </p:txBody>
      </p:sp>
      <p:sp>
        <p:nvSpPr>
          <p:cNvPr id="13" name="Text 10"/>
          <p:cNvSpPr/>
          <p:nvPr/>
        </p:nvSpPr>
        <p:spPr>
          <a:xfrm>
            <a:off x="3653714" y="2587752"/>
            <a:ext cx="2099234" cy="274320"/>
          </a:xfrm>
          <a:prstGeom prst="rect">
            <a:avLst/>
          </a:prstGeom>
          <a:noFill/>
          <a:ln/>
        </p:spPr>
        <p:txBody>
          <a:bodyPr wrap="square" lIns="0" tIns="0" rIns="0" bIns="0" rtlCol="0" anchor="ctr"/>
          <a:lstStyle/>
          <a:p>
            <a:pPr indent="0" marL="0">
              <a:buNone/>
            </a:pPr>
            <a:r>
              <a:rPr lang="en-US" sz="1300" b="1" dirty="0">
                <a:solidFill>
                  <a:srgbClr val="30313D"/>
                </a:solidFill>
                <a:latin typeface="Arial" pitchFamily="34" charset="0"/>
                <a:ea typeface="Arial" pitchFamily="34" charset="-122"/>
                <a:cs typeface="Arial" pitchFamily="34" charset="-120"/>
              </a:rPr>
              <a:t>Questions answered</a:t>
            </a:r>
            <a:endParaRPr lang="en-US" sz="1300" dirty="0"/>
          </a:p>
        </p:txBody>
      </p:sp>
      <p:sp>
        <p:nvSpPr>
          <p:cNvPr id="14" name="Text 11"/>
          <p:cNvSpPr/>
          <p:nvPr/>
        </p:nvSpPr>
        <p:spPr>
          <a:xfrm>
            <a:off x="3653714" y="2862072"/>
            <a:ext cx="2099234" cy="585216"/>
          </a:xfrm>
          <a:prstGeom prst="rect">
            <a:avLst/>
          </a:prstGeom>
          <a:noFill/>
          <a:ln/>
        </p:spPr>
        <p:txBody>
          <a:bodyPr wrap="square" lIns="0" tIns="0" rIns="0" bIns="0" rtlCol="0" anchor="t"/>
          <a:lstStyle/>
          <a:p>
            <a:pPr indent="0" marL="0">
              <a:buNone/>
            </a:pPr>
            <a:r>
              <a:rPr lang="en-US" sz="1100" dirty="0">
                <a:solidFill>
                  <a:srgbClr val="5F6675"/>
                </a:solidFill>
                <a:latin typeface="Arial" pitchFamily="34" charset="0"/>
                <a:ea typeface="Arial" pitchFamily="34" charset="-122"/>
                <a:cs typeface="Arial" pitchFamily="34" charset="-120"/>
              </a:rPr>
              <a:t>In Slack, for 110+ employees. 94% without pulling in product or engineering.</a:t>
            </a:r>
            <a:endParaRPr lang="en-US" sz="1100" dirty="0"/>
          </a:p>
        </p:txBody>
      </p:sp>
      <p:sp>
        <p:nvSpPr>
          <p:cNvPr id="15" name="Shape 12"/>
          <p:cNvSpPr/>
          <p:nvPr/>
        </p:nvSpPr>
        <p:spPr>
          <a:xfrm>
            <a:off x="6210148" y="1691640"/>
            <a:ext cx="2556434" cy="1828800"/>
          </a:xfrm>
          <a:prstGeom prst="roundRect">
            <a:avLst>
              <a:gd name="adj" fmla="val 4000"/>
            </a:avLst>
          </a:prstGeom>
          <a:solidFill>
            <a:srgbClr val="F6F9FC"/>
          </a:solidFill>
          <a:ln w="9525">
            <a:solidFill>
              <a:srgbClr val="D9DFE8"/>
            </a:solidFill>
            <a:prstDash val="solid"/>
          </a:ln>
        </p:spPr>
      </p:sp>
      <p:sp>
        <p:nvSpPr>
          <p:cNvPr id="16" name="Text 13"/>
          <p:cNvSpPr/>
          <p:nvPr/>
        </p:nvSpPr>
        <p:spPr>
          <a:xfrm>
            <a:off x="6438748" y="1856232"/>
            <a:ext cx="2099234" cy="731520"/>
          </a:xfrm>
          <a:prstGeom prst="rect">
            <a:avLst/>
          </a:prstGeom>
          <a:noFill/>
          <a:ln/>
        </p:spPr>
        <p:txBody>
          <a:bodyPr wrap="square" lIns="0" tIns="0" rIns="0" bIns="0" rtlCol="0" anchor="ctr"/>
          <a:lstStyle/>
          <a:p>
            <a:pPr indent="0" marL="0">
              <a:buNone/>
            </a:pPr>
            <a:r>
              <a:rPr lang="en-US" sz="4000" dirty="0">
                <a:solidFill>
                  <a:srgbClr val="30313D"/>
                </a:solidFill>
                <a:latin typeface="Georgia" pitchFamily="34" charset="0"/>
                <a:ea typeface="Georgia" pitchFamily="34" charset="-122"/>
                <a:cs typeface="Georgia" pitchFamily="34" charset="-120"/>
              </a:rPr>
              <a:t>200+</a:t>
            </a:r>
            <a:endParaRPr lang="en-US" sz="4000" dirty="0"/>
          </a:p>
        </p:txBody>
      </p:sp>
      <p:sp>
        <p:nvSpPr>
          <p:cNvPr id="17" name="Text 14"/>
          <p:cNvSpPr/>
          <p:nvPr/>
        </p:nvSpPr>
        <p:spPr>
          <a:xfrm>
            <a:off x="6438748" y="2587752"/>
            <a:ext cx="2099234" cy="274320"/>
          </a:xfrm>
          <a:prstGeom prst="rect">
            <a:avLst/>
          </a:prstGeom>
          <a:noFill/>
          <a:ln/>
        </p:spPr>
        <p:txBody>
          <a:bodyPr wrap="square" lIns="0" tIns="0" rIns="0" bIns="0" rtlCol="0" anchor="ctr"/>
          <a:lstStyle/>
          <a:p>
            <a:pPr indent="0" marL="0">
              <a:buNone/>
            </a:pPr>
            <a:r>
              <a:rPr lang="en-US" sz="1300" b="1" dirty="0">
                <a:solidFill>
                  <a:srgbClr val="30313D"/>
                </a:solidFill>
                <a:latin typeface="Arial" pitchFamily="34" charset="0"/>
                <a:ea typeface="Arial" pitchFamily="34" charset="-122"/>
                <a:cs typeface="Arial" pitchFamily="34" charset="-120"/>
              </a:rPr>
              <a:t>Support emails a week</a:t>
            </a:r>
            <a:endParaRPr lang="en-US" sz="1300" dirty="0"/>
          </a:p>
        </p:txBody>
      </p:sp>
      <p:sp>
        <p:nvSpPr>
          <p:cNvPr id="18" name="Text 15"/>
          <p:cNvSpPr/>
          <p:nvPr/>
        </p:nvSpPr>
        <p:spPr>
          <a:xfrm>
            <a:off x="6438748" y="2862072"/>
            <a:ext cx="2099234" cy="585216"/>
          </a:xfrm>
          <a:prstGeom prst="rect">
            <a:avLst/>
          </a:prstGeom>
          <a:noFill/>
          <a:ln/>
        </p:spPr>
        <p:txBody>
          <a:bodyPr wrap="square" lIns="0" tIns="0" rIns="0" bIns="0" rtlCol="0" anchor="t"/>
          <a:lstStyle/>
          <a:p>
            <a:pPr indent="0" marL="0">
              <a:buNone/>
            </a:pPr>
            <a:r>
              <a:rPr lang="en-US" sz="1100" dirty="0">
                <a:solidFill>
                  <a:srgbClr val="5F6675"/>
                </a:solidFill>
                <a:latin typeface="Arial" pitchFamily="34" charset="0"/>
                <a:ea typeface="Arial" pitchFamily="34" charset="-122"/>
                <a:cs typeface="Arial" pitchFamily="34" charset="-120"/>
              </a:rPr>
              <a:t>Triaged by the email support agent.</a:t>
            </a:r>
            <a:endParaRPr lang="en-US" sz="1100" dirty="0"/>
          </a:p>
        </p:txBody>
      </p:sp>
      <p:sp>
        <p:nvSpPr>
          <p:cNvPr id="19" name="Shape 16"/>
          <p:cNvSpPr/>
          <p:nvPr/>
        </p:nvSpPr>
        <p:spPr>
          <a:xfrm>
            <a:off x="8995181" y="1691640"/>
            <a:ext cx="2556434" cy="1828800"/>
          </a:xfrm>
          <a:prstGeom prst="roundRect">
            <a:avLst>
              <a:gd name="adj" fmla="val 4000"/>
            </a:avLst>
          </a:prstGeom>
          <a:solidFill>
            <a:srgbClr val="F6F9FC"/>
          </a:solidFill>
          <a:ln w="9525">
            <a:solidFill>
              <a:srgbClr val="D9DFE8"/>
            </a:solidFill>
            <a:prstDash val="solid"/>
          </a:ln>
        </p:spPr>
      </p:sp>
      <p:sp>
        <p:nvSpPr>
          <p:cNvPr id="20" name="Text 17"/>
          <p:cNvSpPr/>
          <p:nvPr/>
        </p:nvSpPr>
        <p:spPr>
          <a:xfrm>
            <a:off x="9223781" y="1856232"/>
            <a:ext cx="2099234" cy="731520"/>
          </a:xfrm>
          <a:prstGeom prst="rect">
            <a:avLst/>
          </a:prstGeom>
          <a:noFill/>
          <a:ln/>
        </p:spPr>
        <p:txBody>
          <a:bodyPr wrap="square" lIns="0" tIns="0" rIns="0" bIns="0" rtlCol="0" anchor="ctr"/>
          <a:lstStyle/>
          <a:p>
            <a:pPr indent="0" marL="0">
              <a:buNone/>
            </a:pPr>
            <a:r>
              <a:rPr lang="en-US" sz="4000" dirty="0">
                <a:solidFill>
                  <a:srgbClr val="30313D"/>
                </a:solidFill>
                <a:latin typeface="Georgia" pitchFamily="34" charset="0"/>
                <a:ea typeface="Georgia" pitchFamily="34" charset="-122"/>
                <a:cs typeface="Georgia" pitchFamily="34" charset="-120"/>
              </a:rPr>
              <a:t>183</a:t>
            </a:r>
            <a:endParaRPr lang="en-US" sz="4000" dirty="0"/>
          </a:p>
        </p:txBody>
      </p:sp>
      <p:sp>
        <p:nvSpPr>
          <p:cNvPr id="21" name="Text 18"/>
          <p:cNvSpPr/>
          <p:nvPr/>
        </p:nvSpPr>
        <p:spPr>
          <a:xfrm>
            <a:off x="9223781" y="2587752"/>
            <a:ext cx="2099234" cy="274320"/>
          </a:xfrm>
          <a:prstGeom prst="rect">
            <a:avLst/>
          </a:prstGeom>
          <a:noFill/>
          <a:ln/>
        </p:spPr>
        <p:txBody>
          <a:bodyPr wrap="square" lIns="0" tIns="0" rIns="0" bIns="0" rtlCol="0" anchor="ctr"/>
          <a:lstStyle/>
          <a:p>
            <a:pPr indent="0" marL="0">
              <a:buNone/>
            </a:pPr>
            <a:r>
              <a:rPr lang="en-US" sz="1300" b="1" dirty="0">
                <a:solidFill>
                  <a:srgbClr val="30313D"/>
                </a:solidFill>
                <a:latin typeface="Arial" pitchFamily="34" charset="0"/>
                <a:ea typeface="Arial" pitchFamily="34" charset="-122"/>
                <a:cs typeface="Arial" pitchFamily="34" charset="-120"/>
              </a:rPr>
              <a:t>Customer accounts set up</a:t>
            </a:r>
            <a:endParaRPr lang="en-US" sz="1300" dirty="0"/>
          </a:p>
        </p:txBody>
      </p:sp>
      <p:sp>
        <p:nvSpPr>
          <p:cNvPr id="22" name="Text 19"/>
          <p:cNvSpPr/>
          <p:nvPr/>
        </p:nvSpPr>
        <p:spPr>
          <a:xfrm>
            <a:off x="9223781" y="2862072"/>
            <a:ext cx="2099234" cy="585216"/>
          </a:xfrm>
          <a:prstGeom prst="rect">
            <a:avLst/>
          </a:prstGeom>
          <a:noFill/>
          <a:ln/>
        </p:spPr>
        <p:txBody>
          <a:bodyPr wrap="square" lIns="0" tIns="0" rIns="0" bIns="0" rtlCol="0" anchor="t"/>
          <a:lstStyle/>
          <a:p>
            <a:pPr indent="0" marL="0">
              <a:buNone/>
            </a:pPr>
            <a:r>
              <a:rPr lang="en-US" sz="1100" dirty="0">
                <a:solidFill>
                  <a:srgbClr val="5F6675"/>
                </a:solidFill>
                <a:latin typeface="Arial" pitchFamily="34" charset="0"/>
                <a:ea typeface="Arial" pitchFamily="34" charset="-122"/>
                <a:cs typeface="Arial" pitchFamily="34" charset="-120"/>
              </a:rPr>
              <a:t>Through the onboarding app since June. Median nine minutes.</a:t>
            </a:r>
            <a:endParaRPr lang="en-US" sz="1100" dirty="0"/>
          </a:p>
        </p:txBody>
      </p:sp>
      <p:sp>
        <p:nvSpPr>
          <p:cNvPr id="23" name="Text 20"/>
          <p:cNvSpPr/>
          <p:nvPr/>
        </p:nvSpPr>
        <p:spPr>
          <a:xfrm>
            <a:off x="640080" y="3840480"/>
            <a:ext cx="10911535" cy="457200"/>
          </a:xfrm>
          <a:prstGeom prst="rect">
            <a:avLst/>
          </a:prstGeom>
          <a:noFill/>
          <a:ln/>
        </p:spPr>
        <p:txBody>
          <a:bodyPr wrap="square" lIns="0" tIns="0" rIns="0" bIns="0" rtlCol="0" anchor="ctr"/>
          <a:lstStyle/>
          <a:p>
            <a:pPr indent="0" marL="0">
              <a:buNone/>
            </a:pPr>
            <a:r>
              <a:rPr lang="en-US" sz="2400" dirty="0">
                <a:solidFill>
                  <a:srgbClr val="30313D"/>
                </a:solidFill>
                <a:latin typeface="Georgia" pitchFamily="34" charset="0"/>
                <a:ea typeface="Georgia" pitchFamily="34" charset="-122"/>
                <a:cs typeface="Georgia" pitchFamily="34" charset="-120"/>
              </a:rPr>
              <a:t>Each new team reuses the same knowledge and the same rules.</a:t>
            </a:r>
            <a:endParaRPr lang="en-US" sz="2400" dirty="0"/>
          </a:p>
        </p:txBody>
      </p:sp>
      <p:sp>
        <p:nvSpPr>
          <p:cNvPr id="24" name="Text 21"/>
          <p:cNvSpPr/>
          <p:nvPr/>
        </p:nvSpPr>
        <p:spPr>
          <a:xfrm>
            <a:off x="640080" y="4617720"/>
            <a:ext cx="10911535" cy="237744"/>
          </a:xfrm>
          <a:prstGeom prst="rect">
            <a:avLst/>
          </a:prstGeom>
          <a:noFill/>
          <a:ln/>
        </p:spPr>
        <p:txBody>
          <a:bodyPr wrap="square" lIns="0" tIns="0" rIns="0" bIns="0" rtlCol="0" anchor="ctr"/>
          <a:lstStyle/>
          <a:p>
            <a:pPr indent="0" marL="0">
              <a:buNone/>
            </a:pPr>
            <a:r>
              <a:rPr lang="en-US" sz="1000" b="1" spc="300" kern="0" dirty="0">
                <a:solidFill>
                  <a:srgbClr val="5F6675"/>
                </a:solidFill>
                <a:latin typeface="Courier New" pitchFamily="34" charset="0"/>
                <a:ea typeface="Courier New" pitchFamily="34" charset="-122"/>
                <a:cs typeface="Courier New" pitchFamily="34" charset="-120"/>
              </a:rPr>
              <a:t>HOW I WORK</a:t>
            </a:r>
            <a:endParaRPr lang="en-US" sz="1000" dirty="0"/>
          </a:p>
        </p:txBody>
      </p:sp>
      <p:sp>
        <p:nvSpPr>
          <p:cNvPr id="25" name="Shape 22"/>
          <p:cNvSpPr/>
          <p:nvPr/>
        </p:nvSpPr>
        <p:spPr>
          <a:xfrm>
            <a:off x="640080" y="4919472"/>
            <a:ext cx="2439848" cy="594360"/>
          </a:xfrm>
          <a:prstGeom prst="roundRect">
            <a:avLst>
              <a:gd name="adj" fmla="val 15385"/>
            </a:avLst>
          </a:prstGeom>
          <a:solidFill>
            <a:srgbClr val="F0F0FF"/>
          </a:solidFill>
          <a:ln w="12700">
            <a:solidFill>
              <a:srgbClr val="635BFF"/>
            </a:solidFill>
            <a:prstDash val="solid"/>
          </a:ln>
        </p:spPr>
      </p:sp>
      <p:sp>
        <p:nvSpPr>
          <p:cNvPr id="26" name="Text 23"/>
          <p:cNvSpPr/>
          <p:nvPr/>
        </p:nvSpPr>
        <p:spPr>
          <a:xfrm>
            <a:off x="640080" y="4919472"/>
            <a:ext cx="2439848" cy="594360"/>
          </a:xfrm>
          <a:prstGeom prst="rect">
            <a:avLst/>
          </a:prstGeom>
          <a:noFill/>
          <a:ln/>
        </p:spPr>
        <p:txBody>
          <a:bodyPr wrap="square" lIns="0" tIns="0" rIns="0" bIns="0" rtlCol="0" anchor="ctr"/>
          <a:lstStyle/>
          <a:p>
            <a:pPr algn="ctr" indent="0" marL="0">
              <a:buNone/>
            </a:pPr>
            <a:r>
              <a:rPr lang="en-US" sz="1400" b="1" dirty="0">
                <a:solidFill>
                  <a:srgbClr val="30313D"/>
                </a:solidFill>
                <a:latin typeface="Arial" pitchFamily="34" charset="0"/>
                <a:ea typeface="Arial" pitchFamily="34" charset="-122"/>
                <a:cs typeface="Arial" pitchFamily="34" charset="-120"/>
              </a:rPr>
              <a:t>Ship a small version</a:t>
            </a:r>
            <a:endParaRPr lang="en-US" sz="1400" dirty="0"/>
          </a:p>
        </p:txBody>
      </p:sp>
      <p:sp>
        <p:nvSpPr>
          <p:cNvPr id="27" name="Text 24"/>
          <p:cNvSpPr/>
          <p:nvPr/>
        </p:nvSpPr>
        <p:spPr>
          <a:xfrm>
            <a:off x="3079928" y="4919472"/>
            <a:ext cx="384048" cy="59436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28" name="Shape 25"/>
          <p:cNvSpPr/>
          <p:nvPr/>
        </p:nvSpPr>
        <p:spPr>
          <a:xfrm>
            <a:off x="3463976" y="4919472"/>
            <a:ext cx="2439848" cy="594360"/>
          </a:xfrm>
          <a:prstGeom prst="roundRect">
            <a:avLst>
              <a:gd name="adj" fmla="val 15385"/>
            </a:avLst>
          </a:prstGeom>
          <a:solidFill>
            <a:srgbClr val="F0F0FF"/>
          </a:solidFill>
          <a:ln w="12700">
            <a:solidFill>
              <a:srgbClr val="635BFF"/>
            </a:solidFill>
            <a:prstDash val="solid"/>
          </a:ln>
        </p:spPr>
      </p:sp>
      <p:sp>
        <p:nvSpPr>
          <p:cNvPr id="29" name="Text 26"/>
          <p:cNvSpPr/>
          <p:nvPr/>
        </p:nvSpPr>
        <p:spPr>
          <a:xfrm>
            <a:off x="3463976" y="4919472"/>
            <a:ext cx="2439848" cy="594360"/>
          </a:xfrm>
          <a:prstGeom prst="rect">
            <a:avLst/>
          </a:prstGeom>
          <a:noFill/>
          <a:ln/>
        </p:spPr>
        <p:txBody>
          <a:bodyPr wrap="square" lIns="0" tIns="0" rIns="0" bIns="0" rtlCol="0" anchor="ctr"/>
          <a:lstStyle/>
          <a:p>
            <a:pPr algn="ctr" indent="0" marL="0">
              <a:buNone/>
            </a:pPr>
            <a:r>
              <a:rPr lang="en-US" sz="1400" b="1" dirty="0">
                <a:solidFill>
                  <a:srgbClr val="30313D"/>
                </a:solidFill>
                <a:latin typeface="Arial" pitchFamily="34" charset="0"/>
                <a:ea typeface="Arial" pitchFamily="34" charset="-122"/>
                <a:cs typeface="Arial" pitchFamily="34" charset="-120"/>
              </a:rPr>
              <a:t>The team tests it</a:t>
            </a:r>
            <a:endParaRPr lang="en-US" sz="1400" dirty="0"/>
          </a:p>
        </p:txBody>
      </p:sp>
      <p:sp>
        <p:nvSpPr>
          <p:cNvPr id="30" name="Text 27"/>
          <p:cNvSpPr/>
          <p:nvPr/>
        </p:nvSpPr>
        <p:spPr>
          <a:xfrm>
            <a:off x="5903824" y="4919472"/>
            <a:ext cx="384048" cy="59436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31" name="Shape 28"/>
          <p:cNvSpPr/>
          <p:nvPr/>
        </p:nvSpPr>
        <p:spPr>
          <a:xfrm>
            <a:off x="6287872" y="4919472"/>
            <a:ext cx="2439848" cy="594360"/>
          </a:xfrm>
          <a:prstGeom prst="roundRect">
            <a:avLst>
              <a:gd name="adj" fmla="val 15385"/>
            </a:avLst>
          </a:prstGeom>
          <a:solidFill>
            <a:srgbClr val="F0F0FF"/>
          </a:solidFill>
          <a:ln w="12700">
            <a:solidFill>
              <a:srgbClr val="635BFF"/>
            </a:solidFill>
            <a:prstDash val="solid"/>
          </a:ln>
        </p:spPr>
      </p:sp>
      <p:sp>
        <p:nvSpPr>
          <p:cNvPr id="32" name="Text 29"/>
          <p:cNvSpPr/>
          <p:nvPr/>
        </p:nvSpPr>
        <p:spPr>
          <a:xfrm>
            <a:off x="6287872" y="4919472"/>
            <a:ext cx="2439848" cy="594360"/>
          </a:xfrm>
          <a:prstGeom prst="rect">
            <a:avLst/>
          </a:prstGeom>
          <a:noFill/>
          <a:ln/>
        </p:spPr>
        <p:txBody>
          <a:bodyPr wrap="square" lIns="0" tIns="0" rIns="0" bIns="0" rtlCol="0" anchor="ctr"/>
          <a:lstStyle/>
          <a:p>
            <a:pPr algn="ctr" indent="0" marL="0">
              <a:buNone/>
            </a:pPr>
            <a:r>
              <a:rPr lang="en-US" sz="1400" b="1" dirty="0">
                <a:solidFill>
                  <a:srgbClr val="30313D"/>
                </a:solidFill>
                <a:latin typeface="Arial" pitchFamily="34" charset="0"/>
                <a:ea typeface="Arial" pitchFamily="34" charset="-122"/>
                <a:cs typeface="Arial" pitchFamily="34" charset="-120"/>
              </a:rPr>
              <a:t>They tell me what broke</a:t>
            </a:r>
            <a:endParaRPr lang="en-US" sz="1400" dirty="0"/>
          </a:p>
        </p:txBody>
      </p:sp>
      <p:sp>
        <p:nvSpPr>
          <p:cNvPr id="33" name="Text 30"/>
          <p:cNvSpPr/>
          <p:nvPr/>
        </p:nvSpPr>
        <p:spPr>
          <a:xfrm>
            <a:off x="8727719" y="4919472"/>
            <a:ext cx="384048" cy="594360"/>
          </a:xfrm>
          <a:prstGeom prst="rect">
            <a:avLst/>
          </a:prstGeom>
          <a:noFill/>
          <a:ln/>
        </p:spPr>
        <p:txBody>
          <a:bodyPr wrap="square" lIns="0" tIns="0" rIns="0" bIns="0" rtlCol="0" anchor="ctr"/>
          <a:lstStyle/>
          <a:p>
            <a:pPr algn="ctr" indent="0" marL="0">
              <a:buNone/>
            </a:pPr>
            <a:r>
              <a:rPr lang="en-US" sz="1800" b="1" dirty="0">
                <a:solidFill>
                  <a:srgbClr val="635BFF"/>
                </a:solidFill>
                <a:latin typeface="Arial" pitchFamily="34" charset="0"/>
                <a:ea typeface="Arial" pitchFamily="34" charset="-122"/>
                <a:cs typeface="Arial" pitchFamily="34" charset="-120"/>
              </a:rPr>
              <a:t>→</a:t>
            </a:r>
            <a:endParaRPr lang="en-US" sz="1800" dirty="0"/>
          </a:p>
        </p:txBody>
      </p:sp>
      <p:sp>
        <p:nvSpPr>
          <p:cNvPr id="34" name="Shape 31"/>
          <p:cNvSpPr/>
          <p:nvPr/>
        </p:nvSpPr>
        <p:spPr>
          <a:xfrm>
            <a:off x="9111767" y="4919472"/>
            <a:ext cx="2439848" cy="594360"/>
          </a:xfrm>
          <a:prstGeom prst="roundRect">
            <a:avLst>
              <a:gd name="adj" fmla="val 15385"/>
            </a:avLst>
          </a:prstGeom>
          <a:solidFill>
            <a:srgbClr val="F0F0FF"/>
          </a:solidFill>
          <a:ln w="12700">
            <a:solidFill>
              <a:srgbClr val="635BFF"/>
            </a:solidFill>
            <a:prstDash val="solid"/>
          </a:ln>
        </p:spPr>
      </p:sp>
      <p:sp>
        <p:nvSpPr>
          <p:cNvPr id="35" name="Text 32"/>
          <p:cNvSpPr/>
          <p:nvPr/>
        </p:nvSpPr>
        <p:spPr>
          <a:xfrm>
            <a:off x="9111767" y="4919472"/>
            <a:ext cx="2439848" cy="594360"/>
          </a:xfrm>
          <a:prstGeom prst="rect">
            <a:avLst/>
          </a:prstGeom>
          <a:noFill/>
          <a:ln/>
        </p:spPr>
        <p:txBody>
          <a:bodyPr wrap="square" lIns="0" tIns="0" rIns="0" bIns="0" rtlCol="0" anchor="ctr"/>
          <a:lstStyle/>
          <a:p>
            <a:pPr algn="ctr" indent="0" marL="0">
              <a:buNone/>
            </a:pPr>
            <a:r>
              <a:rPr lang="en-US" sz="1400" b="1" dirty="0">
                <a:solidFill>
                  <a:srgbClr val="30313D"/>
                </a:solidFill>
                <a:latin typeface="Arial" pitchFamily="34" charset="0"/>
                <a:ea typeface="Arial" pitchFamily="34" charset="-122"/>
                <a:cs typeface="Arial" pitchFamily="34" charset="-120"/>
              </a:rPr>
              <a:t>I fix that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5BFF"/>
          </a:solidFill>
          <a:ln w="12700">
            <a:solidFill>
              <a:srgbClr val="635BFF"/>
            </a:solidFill>
            <a:prstDash val="solid"/>
          </a:ln>
        </p:spPr>
      </p:sp>
      <p:sp>
        <p:nvSpPr>
          <p:cNvPr id="3" name="Text 1"/>
          <p:cNvSpPr/>
          <p:nvPr/>
        </p:nvSpPr>
        <p:spPr>
          <a:xfrm>
            <a:off x="640080" y="411480"/>
            <a:ext cx="10911535"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DAY ONE INSIDE REALPAGE</a:t>
            </a:r>
            <a:endParaRPr lang="en-US" sz="1100" dirty="0"/>
          </a:p>
        </p:txBody>
      </p:sp>
      <p:sp>
        <p:nvSpPr>
          <p:cNvPr id="4" name="Text 2"/>
          <p:cNvSpPr/>
          <p:nvPr/>
        </p:nvSpPr>
        <p:spPr>
          <a:xfrm>
            <a:off x="640080" y="713232"/>
            <a:ext cx="10911535" cy="731520"/>
          </a:xfrm>
          <a:prstGeom prst="rect">
            <a:avLst/>
          </a:prstGeom>
          <a:noFill/>
          <a:ln/>
        </p:spPr>
        <p:txBody>
          <a:bodyPr wrap="square" lIns="0" tIns="0" rIns="0" bIns="0" rtlCol="0" anchor="t"/>
          <a:lstStyle/>
          <a:p>
            <a:pPr indent="0" marL="0">
              <a:buNone/>
            </a:pPr>
            <a:r>
              <a:rPr lang="en-US" sz="3200" dirty="0">
                <a:solidFill>
                  <a:srgbClr val="30313D"/>
                </a:solidFill>
                <a:latin typeface="Georgia" pitchFamily="34" charset="0"/>
                <a:ea typeface="Georgia" pitchFamily="34" charset="-122"/>
                <a:cs typeface="Georgia" pitchFamily="34" charset="-120"/>
              </a:rPr>
              <a:t>Swap the sources. Pick one team. Measure.</a:t>
            </a:r>
            <a:endParaRPr lang="en-US" sz="3200" dirty="0"/>
          </a:p>
        </p:txBody>
      </p:sp>
      <p:sp>
        <p:nvSpPr>
          <p:cNvPr id="5" name="Text 3"/>
          <p:cNvSpPr/>
          <p:nvPr/>
        </p:nvSpPr>
        <p:spPr>
          <a:xfrm>
            <a:off x="640080" y="6492240"/>
            <a:ext cx="10911535" cy="228600"/>
          </a:xfrm>
          <a:prstGeom prst="rect">
            <a:avLst/>
          </a:prstGeom>
          <a:noFill/>
          <a:ln/>
        </p:spPr>
        <p:txBody>
          <a:bodyPr wrap="square" lIns="0" tIns="0" rIns="0" bIns="0" rtlCol="0" anchor="ctr"/>
          <a:lstStyle/>
          <a:p>
            <a:pPr indent="0" marL="0">
              <a:buNone/>
            </a:pPr>
            <a:r>
              <a:rPr lang="en-US" sz="900" dirty="0">
                <a:solidFill>
                  <a:srgbClr val="9AA1AE"/>
                </a:solidFill>
                <a:latin typeface="Courier New" pitchFamily="34" charset="0"/>
                <a:ea typeface="Courier New" pitchFamily="34" charset="-122"/>
                <a:cs typeface="Courier New" pitchFamily="34" charset="-120"/>
              </a:rPr>
              <a:t>Hamza Saraswat  ·  Frontdoor  ·  9</a:t>
            </a:r>
            <a:endParaRPr lang="en-US" sz="900" dirty="0"/>
          </a:p>
        </p:txBody>
      </p:sp>
      <p:sp>
        <p:nvSpPr>
          <p:cNvPr id="7" name="Shape 4"/>
          <p:cNvSpPr/>
          <p:nvPr/>
        </p:nvSpPr>
        <p:spPr>
          <a:xfrm>
            <a:off x="640080" y="1828800"/>
            <a:ext cx="45720" cy="676656"/>
          </a:xfrm>
          <a:prstGeom prst="rect">
            <a:avLst/>
          </a:prstGeom>
          <a:solidFill>
            <a:srgbClr val="635BFF"/>
          </a:solidFill>
          <a:ln w="12700">
            <a:solidFill>
              <a:srgbClr val="635BFF"/>
            </a:solidFill>
            <a:prstDash val="solid"/>
          </a:ln>
        </p:spPr>
      </p:sp>
      <p:sp>
        <p:nvSpPr>
          <p:cNvPr id="8" name="Text 5"/>
          <p:cNvSpPr/>
          <p:nvPr/>
        </p:nvSpPr>
        <p:spPr>
          <a:xfrm>
            <a:off x="841248" y="1783080"/>
            <a:ext cx="6382512" cy="822960"/>
          </a:xfrm>
          <a:prstGeom prst="rect">
            <a:avLst/>
          </a:prstGeom>
          <a:noFill/>
          <a:ln/>
        </p:spPr>
        <p:txBody>
          <a:bodyPr wrap="square" lIns="0" tIns="0" rIns="0" bIns="0" rtlCol="0" anchor="t"/>
          <a:lstStyle/>
          <a:p>
            <a:pPr indent="0" marL="0">
              <a:lnSpc>
                <a:spcPct val="112000"/>
              </a:lnSpc>
              <a:buNone/>
            </a:pPr>
            <a:r>
              <a:rPr lang="en-US" sz="1600" b="1" dirty="0">
                <a:solidFill>
                  <a:srgbClr val="30313D"/>
                </a:solidFill>
                <a:latin typeface="Arial" pitchFamily="34" charset="0"/>
                <a:ea typeface="Arial" pitchFamily="34" charset="-122"/>
                <a:cs typeface="Arial" pitchFamily="34" charset="-120"/>
              </a:rPr>
              <a:t>Swap the sources.  </a:t>
            </a:r>
            <a:pPr indent="0" marL="0">
              <a:lnSpc>
                <a:spcPct val="112000"/>
              </a:lnSpc>
              <a:buNone/>
            </a:pPr>
            <a:r>
              <a:rPr lang="en-US" sz="1600" dirty="0">
                <a:solidFill>
                  <a:srgbClr val="5F6675"/>
                </a:solidFill>
                <a:latin typeface="Arial" pitchFamily="34" charset="0"/>
                <a:ea typeface="Arial" pitchFamily="34" charset="-122"/>
                <a:cs typeface="Arial" pitchFamily="34" charset="-120"/>
              </a:rPr>
              <a:t>Replace public pages with internal ones. Everything else stays as it is.</a:t>
            </a:r>
            <a:endParaRPr lang="en-US" sz="1600" dirty="0"/>
          </a:p>
        </p:txBody>
      </p:sp>
      <p:sp>
        <p:nvSpPr>
          <p:cNvPr id="9" name="Shape 6"/>
          <p:cNvSpPr/>
          <p:nvPr/>
        </p:nvSpPr>
        <p:spPr>
          <a:xfrm>
            <a:off x="640080" y="2743200"/>
            <a:ext cx="45720" cy="676656"/>
          </a:xfrm>
          <a:prstGeom prst="rect">
            <a:avLst/>
          </a:prstGeom>
          <a:solidFill>
            <a:srgbClr val="635BFF"/>
          </a:solidFill>
          <a:ln w="12700">
            <a:solidFill>
              <a:srgbClr val="635BFF"/>
            </a:solidFill>
            <a:prstDash val="solid"/>
          </a:ln>
        </p:spPr>
      </p:sp>
      <p:sp>
        <p:nvSpPr>
          <p:cNvPr id="10" name="Text 7"/>
          <p:cNvSpPr/>
          <p:nvPr/>
        </p:nvSpPr>
        <p:spPr>
          <a:xfrm>
            <a:off x="841248" y="2697480"/>
            <a:ext cx="6382512" cy="822960"/>
          </a:xfrm>
          <a:prstGeom prst="rect">
            <a:avLst/>
          </a:prstGeom>
          <a:noFill/>
          <a:ln/>
        </p:spPr>
        <p:txBody>
          <a:bodyPr wrap="square" lIns="0" tIns="0" rIns="0" bIns="0" rtlCol="0" anchor="t"/>
          <a:lstStyle/>
          <a:p>
            <a:pPr indent="0" marL="0">
              <a:lnSpc>
                <a:spcPct val="112000"/>
              </a:lnSpc>
              <a:buNone/>
            </a:pPr>
            <a:r>
              <a:rPr lang="en-US" sz="1600" b="1" dirty="0">
                <a:solidFill>
                  <a:srgbClr val="30313D"/>
                </a:solidFill>
                <a:latin typeface="Arial" pitchFamily="34" charset="0"/>
                <a:ea typeface="Arial" pitchFamily="34" charset="-122"/>
                <a:cs typeface="Arial" pitchFamily="34" charset="-120"/>
              </a:rPr>
              <a:t>Pick one team.  </a:t>
            </a:r>
            <a:pPr indent="0" marL="0">
              <a:lnSpc>
                <a:spcPct val="112000"/>
              </a:lnSpc>
              <a:buNone/>
            </a:pPr>
            <a:r>
              <a:rPr lang="en-US" sz="1600" dirty="0">
                <a:solidFill>
                  <a:srgbClr val="5F6675"/>
                </a:solidFill>
                <a:latin typeface="Arial" pitchFamily="34" charset="0"/>
                <a:ea typeface="Arial" pitchFamily="34" charset="-122"/>
                <a:cs typeface="Arial" pitchFamily="34" charset="-120"/>
              </a:rPr>
              <a:t>Ship them a first version that week, and let them break it.</a:t>
            </a:r>
            <a:endParaRPr lang="en-US" sz="1600" dirty="0"/>
          </a:p>
        </p:txBody>
      </p:sp>
      <p:sp>
        <p:nvSpPr>
          <p:cNvPr id="11" name="Shape 8"/>
          <p:cNvSpPr/>
          <p:nvPr/>
        </p:nvSpPr>
        <p:spPr>
          <a:xfrm>
            <a:off x="640080" y="3657600"/>
            <a:ext cx="45720" cy="676656"/>
          </a:xfrm>
          <a:prstGeom prst="rect">
            <a:avLst/>
          </a:prstGeom>
          <a:solidFill>
            <a:srgbClr val="635BFF"/>
          </a:solidFill>
          <a:ln w="12700">
            <a:solidFill>
              <a:srgbClr val="635BFF"/>
            </a:solidFill>
            <a:prstDash val="solid"/>
          </a:ln>
        </p:spPr>
      </p:sp>
      <p:sp>
        <p:nvSpPr>
          <p:cNvPr id="12" name="Text 9"/>
          <p:cNvSpPr/>
          <p:nvPr/>
        </p:nvSpPr>
        <p:spPr>
          <a:xfrm>
            <a:off x="841248" y="3611880"/>
            <a:ext cx="6382512" cy="822960"/>
          </a:xfrm>
          <a:prstGeom prst="rect">
            <a:avLst/>
          </a:prstGeom>
          <a:noFill/>
          <a:ln/>
        </p:spPr>
        <p:txBody>
          <a:bodyPr wrap="square" lIns="0" tIns="0" rIns="0" bIns="0" rtlCol="0" anchor="t"/>
          <a:lstStyle/>
          <a:p>
            <a:pPr indent="0" marL="0">
              <a:lnSpc>
                <a:spcPct val="112000"/>
              </a:lnSpc>
              <a:buNone/>
            </a:pPr>
            <a:r>
              <a:rPr lang="en-US" sz="1600" b="1" dirty="0">
                <a:solidFill>
                  <a:srgbClr val="30313D"/>
                </a:solidFill>
                <a:latin typeface="Arial" pitchFamily="34" charset="0"/>
                <a:ea typeface="Arial" pitchFamily="34" charset="-122"/>
                <a:cs typeface="Arial" pitchFamily="34" charset="-120"/>
              </a:rPr>
              <a:t>Measure with their questions.  </a:t>
            </a:r>
            <a:pPr indent="0" marL="0">
              <a:lnSpc>
                <a:spcPct val="112000"/>
              </a:lnSpc>
              <a:buNone/>
            </a:pPr>
            <a:r>
              <a:rPr lang="en-US" sz="1600" dirty="0">
                <a:solidFill>
                  <a:srgbClr val="5F6675"/>
                </a:solidFill>
                <a:latin typeface="Arial" pitchFamily="34" charset="0"/>
                <a:ea typeface="Arial" pitchFamily="34" charset="-122"/>
                <a:cs typeface="Arial" pitchFamily="34" charset="-120"/>
              </a:rPr>
              <a:t>A test set written by the people who field them.</a:t>
            </a:r>
            <a:endParaRPr lang="en-US" sz="1600" dirty="0"/>
          </a:p>
        </p:txBody>
      </p:sp>
      <p:sp>
        <p:nvSpPr>
          <p:cNvPr id="13" name="Shape 10"/>
          <p:cNvSpPr/>
          <p:nvPr/>
        </p:nvSpPr>
        <p:spPr>
          <a:xfrm>
            <a:off x="640080" y="4572000"/>
            <a:ext cx="45720" cy="676656"/>
          </a:xfrm>
          <a:prstGeom prst="rect">
            <a:avLst/>
          </a:prstGeom>
          <a:solidFill>
            <a:srgbClr val="635BFF"/>
          </a:solidFill>
          <a:ln w="12700">
            <a:solidFill>
              <a:srgbClr val="635BFF"/>
            </a:solidFill>
            <a:prstDash val="solid"/>
          </a:ln>
        </p:spPr>
      </p:sp>
      <p:sp>
        <p:nvSpPr>
          <p:cNvPr id="14" name="Text 11"/>
          <p:cNvSpPr/>
          <p:nvPr/>
        </p:nvSpPr>
        <p:spPr>
          <a:xfrm>
            <a:off x="841248" y="4526280"/>
            <a:ext cx="6382512" cy="822960"/>
          </a:xfrm>
          <a:prstGeom prst="rect">
            <a:avLst/>
          </a:prstGeom>
          <a:noFill/>
          <a:ln/>
        </p:spPr>
        <p:txBody>
          <a:bodyPr wrap="square" lIns="0" tIns="0" rIns="0" bIns="0" rtlCol="0" anchor="t"/>
          <a:lstStyle/>
          <a:p>
            <a:pPr indent="0" marL="0">
              <a:lnSpc>
                <a:spcPct val="112000"/>
              </a:lnSpc>
              <a:buNone/>
            </a:pPr>
            <a:r>
              <a:rPr lang="en-US" sz="1600" b="1" dirty="0">
                <a:solidFill>
                  <a:srgbClr val="30313D"/>
                </a:solidFill>
                <a:latin typeface="Arial" pitchFamily="34" charset="0"/>
                <a:ea typeface="Arial" pitchFamily="34" charset="-122"/>
                <a:cs typeface="Arial" pitchFamily="34" charset="-120"/>
              </a:rPr>
              <a:t>Then document workflows.  </a:t>
            </a:r>
            <a:pPr indent="0" marL="0">
              <a:lnSpc>
                <a:spcPct val="112000"/>
              </a:lnSpc>
              <a:buNone/>
            </a:pPr>
            <a:r>
              <a:rPr lang="en-US" sz="1600" dirty="0">
                <a:solidFill>
                  <a:srgbClr val="5F6675"/>
                </a:solidFill>
                <a:latin typeface="Arial" pitchFamily="34" charset="0"/>
                <a:ea typeface="Arial" pitchFamily="34" charset="-122"/>
                <a:cs typeface="Arial" pitchFamily="34" charset="-120"/>
              </a:rPr>
              <a:t>Read, check against requirements, explain every gap at once, send unclear ones to a person.</a:t>
            </a:r>
            <a:endParaRPr lang="en-US" sz="1600" dirty="0"/>
          </a:p>
        </p:txBody>
      </p:sp>
      <p:sp>
        <p:nvSpPr>
          <p:cNvPr id="15" name="Shape 12"/>
          <p:cNvSpPr/>
          <p:nvPr/>
        </p:nvSpPr>
        <p:spPr>
          <a:xfrm>
            <a:off x="7772400" y="1783080"/>
            <a:ext cx="3779215" cy="3520440"/>
          </a:xfrm>
          <a:prstGeom prst="roundRect">
            <a:avLst>
              <a:gd name="adj" fmla="val 1558"/>
            </a:avLst>
          </a:prstGeom>
          <a:solidFill>
            <a:srgbClr val="F0F0FF"/>
          </a:solidFill>
          <a:ln w="15875">
            <a:solidFill>
              <a:srgbClr val="635BFF"/>
            </a:solidFill>
            <a:prstDash val="solid"/>
          </a:ln>
        </p:spPr>
      </p:sp>
      <p:sp>
        <p:nvSpPr>
          <p:cNvPr id="16" name="Text 13"/>
          <p:cNvSpPr/>
          <p:nvPr/>
        </p:nvSpPr>
        <p:spPr>
          <a:xfrm>
            <a:off x="8046720" y="2011680"/>
            <a:ext cx="3291840" cy="274320"/>
          </a:xfrm>
          <a:prstGeom prst="rect">
            <a:avLst/>
          </a:prstGeom>
          <a:noFill/>
          <a:ln/>
        </p:spPr>
        <p:txBody>
          <a:bodyPr wrap="square" lIns="0" tIns="0" rIns="0" bIns="0" rtlCol="0" anchor="ctr"/>
          <a:lstStyle/>
          <a:p>
            <a:pPr indent="0" marL="0">
              <a:buNone/>
            </a:pPr>
            <a:r>
              <a:rPr lang="en-US" sz="1100" b="1" spc="300" kern="0" dirty="0">
                <a:solidFill>
                  <a:srgbClr val="635BFF"/>
                </a:solidFill>
                <a:latin typeface="Courier New" pitchFamily="34" charset="0"/>
                <a:ea typeface="Courier New" pitchFamily="34" charset="-122"/>
                <a:cs typeface="Courier New" pitchFamily="34" charset="-120"/>
              </a:rPr>
              <a:t>HAMZA SARASWAT</a:t>
            </a:r>
            <a:endParaRPr lang="en-US" sz="1100" dirty="0"/>
          </a:p>
        </p:txBody>
      </p:sp>
      <p:sp>
        <p:nvSpPr>
          <p:cNvPr id="17" name="Text 14"/>
          <p:cNvSpPr/>
          <p:nvPr/>
        </p:nvSpPr>
        <p:spPr>
          <a:xfrm>
            <a:off x="8046720" y="2286000"/>
            <a:ext cx="3291840" cy="457200"/>
          </a:xfrm>
          <a:prstGeom prst="rect">
            <a:avLst/>
          </a:prstGeom>
          <a:noFill/>
          <a:ln/>
        </p:spPr>
        <p:txBody>
          <a:bodyPr wrap="square" lIns="0" tIns="0" rIns="0" bIns="0" rtlCol="0" anchor="ctr"/>
          <a:lstStyle/>
          <a:p>
            <a:pPr indent="0" marL="0">
              <a:buNone/>
            </a:pPr>
            <a:r>
              <a:rPr lang="en-US" sz="2600" dirty="0">
                <a:solidFill>
                  <a:srgbClr val="30313D"/>
                </a:solidFill>
                <a:latin typeface="Georgia" pitchFamily="34" charset="0"/>
                <a:ea typeface="Georgia" pitchFamily="34" charset="-122"/>
                <a:cs typeface="Georgia" pitchFamily="34" charset="-120"/>
              </a:rPr>
              <a:t>AI Engineer</a:t>
            </a:r>
            <a:endParaRPr lang="en-US" sz="2600" dirty="0"/>
          </a:p>
        </p:txBody>
      </p:sp>
      <p:sp>
        <p:nvSpPr>
          <p:cNvPr id="18" name="Text 15"/>
          <p:cNvSpPr/>
          <p:nvPr/>
        </p:nvSpPr>
        <p:spPr>
          <a:xfrm>
            <a:off x="8046720" y="2926080"/>
            <a:ext cx="3383280" cy="1097280"/>
          </a:xfrm>
          <a:prstGeom prst="rect">
            <a:avLst/>
          </a:prstGeom>
          <a:noFill/>
          <a:ln/>
        </p:spPr>
        <p:txBody>
          <a:bodyPr wrap="square" lIns="0" tIns="0" rIns="0" bIns="0" rtlCol="0" anchor="t"/>
          <a:lstStyle/>
          <a:p>
            <a:pPr indent="0" marL="0">
              <a:spcAft>
                <a:spcPts val="600"/>
              </a:spcAft>
              <a:buNone/>
            </a:pPr>
            <a:r>
              <a:rPr lang="en-US" sz="1100" dirty="0">
                <a:solidFill>
                  <a:srgbClr val="5F6675"/>
                </a:solidFill>
                <a:latin typeface="Courier New" pitchFamily="34" charset="0"/>
                <a:ea typeface="Courier New" pitchFamily="34" charset="-122"/>
                <a:cs typeface="Courier New" pitchFamily="34" charset="-120"/>
              </a:rPr>
              <a:t>hamza-saraswat.com</a:t>
            </a:r>
            <a:endParaRPr lang="en-US" sz="1100" dirty="0"/>
          </a:p>
          <a:p>
            <a:pPr indent="0" marL="0">
              <a:spcAft>
                <a:spcPts val="600"/>
              </a:spcAft>
              <a:buNone/>
            </a:pPr>
            <a:r>
              <a:rPr lang="en-US" sz="1100" dirty="0">
                <a:solidFill>
                  <a:srgbClr val="5F6675"/>
                </a:solidFill>
                <a:latin typeface="Courier New" pitchFamily="34" charset="0"/>
                <a:ea typeface="Courier New" pitchFamily="34" charset="-122"/>
                <a:cs typeface="Courier New" pitchFamily="34" charset="-120"/>
              </a:rPr>
              <a:t>github.com/Hamza-Saraswat/RP_Demo</a:t>
            </a:r>
            <a:endParaRPr lang="en-US" sz="1100" dirty="0"/>
          </a:p>
          <a:p>
            <a:pPr indent="0" marL="0">
              <a:spcAft>
                <a:spcPts val="600"/>
              </a:spcAft>
              <a:buNone/>
            </a:pPr>
            <a:r>
              <a:rPr lang="en-US" sz="1100" dirty="0">
                <a:solidFill>
                  <a:srgbClr val="5F6675"/>
                </a:solidFill>
                <a:latin typeface="Courier New" pitchFamily="34" charset="0"/>
                <a:ea typeface="Courier New" pitchFamily="34" charset="-122"/>
                <a:cs typeface="Courier New" pitchFamily="34" charset="-120"/>
              </a:rPr>
              <a:t>hamza.saraswat@gmail.com</a:t>
            </a:r>
            <a:endParaRPr lang="en-US" sz="1100" dirty="0"/>
          </a:p>
        </p:txBody>
      </p:sp>
      <p:sp>
        <p:nvSpPr>
          <p:cNvPr id="19" name="Text 16"/>
          <p:cNvSpPr/>
          <p:nvPr/>
        </p:nvSpPr>
        <p:spPr>
          <a:xfrm>
            <a:off x="8046720" y="4206240"/>
            <a:ext cx="3291840" cy="822960"/>
          </a:xfrm>
          <a:prstGeom prst="rect">
            <a:avLst/>
          </a:prstGeom>
          <a:noFill/>
          <a:ln/>
        </p:spPr>
        <p:txBody>
          <a:bodyPr wrap="square" lIns="0" tIns="0" rIns="0" bIns="0" rtlCol="0" anchor="t"/>
          <a:lstStyle/>
          <a:p>
            <a:pPr indent="0" marL="0">
              <a:buNone/>
            </a:pPr>
            <a:r>
              <a:rPr lang="en-US" sz="1300" dirty="0">
                <a:solidFill>
                  <a:srgbClr val="30313D"/>
                </a:solidFill>
                <a:latin typeface="Arial" pitchFamily="34" charset="0"/>
                <a:ea typeface="Arial" pitchFamily="34" charset="-122"/>
                <a:cs typeface="Arial" pitchFamily="34" charset="-120"/>
              </a:rPr>
              <a:t>The code and every test are in the repo.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Frontdoor</dc:title>
  <dc:subject>PptxGenJS Presentation</dc:subject>
  <dc:creator>Hamza Saraswat</dc:creator>
  <cp:lastModifiedBy>Hamza Saraswat</cp:lastModifiedBy>
  <cp:revision>1</cp:revision>
  <dcterms:created xsi:type="dcterms:W3CDTF">2026-10-01T02:00:33Z</dcterms:created>
  <dcterms:modified xsi:type="dcterms:W3CDTF">2026-10-01T02:00:33Z</dcterms:modified>
</cp:coreProperties>
</file>